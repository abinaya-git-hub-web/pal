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Neoneon" charset="1" panose="02000503000000000000"/>
      <p:regular r:id="rId10"/>
    </p:embeddedFont>
    <p:embeddedFont>
      <p:font typeface="Garet" charset="1" panose="00000000000000000000"/>
      <p:regular r:id="rId11"/>
    </p:embeddedFont>
    <p:embeddedFont>
      <p:font typeface="Canva Sans" charset="1" panose="020B0503030501040103"/>
      <p:regular r:id="rId12"/>
    </p:embeddedFont>
    <p:embeddedFont>
      <p:font typeface="Canva Sans Bold" charset="1" panose="020B08030305010401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Relationship Id="rId6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304750" cy="11474236"/>
          </a:xfrm>
          <a:custGeom>
            <a:avLst/>
            <a:gdLst/>
            <a:ahLst/>
            <a:cxnLst/>
            <a:rect r="r" b="b" t="t" l="l"/>
            <a:pathLst>
              <a:path h="11474236" w="19304750">
                <a:moveTo>
                  <a:pt x="0" y="0"/>
                </a:moveTo>
                <a:lnTo>
                  <a:pt x="19304750" y="0"/>
                </a:lnTo>
                <a:lnTo>
                  <a:pt x="19304750" y="11474236"/>
                </a:lnTo>
                <a:lnTo>
                  <a:pt x="0" y="11474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7" t="0" r="-31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280350"/>
            <a:ext cx="3007241" cy="2006650"/>
          </a:xfrm>
          <a:custGeom>
            <a:avLst/>
            <a:gdLst/>
            <a:ahLst/>
            <a:cxnLst/>
            <a:rect r="r" b="b" t="t" l="l"/>
            <a:pathLst>
              <a:path h="2006650" w="3007241">
                <a:moveTo>
                  <a:pt x="0" y="0"/>
                </a:moveTo>
                <a:lnTo>
                  <a:pt x="3007241" y="0"/>
                </a:lnTo>
                <a:lnTo>
                  <a:pt x="3007241" y="2006650"/>
                </a:lnTo>
                <a:lnTo>
                  <a:pt x="0" y="200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02083" y="111499"/>
            <a:ext cx="3585917" cy="2389117"/>
          </a:xfrm>
          <a:custGeom>
            <a:avLst/>
            <a:gdLst/>
            <a:ahLst/>
            <a:cxnLst/>
            <a:rect r="r" b="b" t="t" l="l"/>
            <a:pathLst>
              <a:path h="2389117" w="3585917">
                <a:moveTo>
                  <a:pt x="0" y="0"/>
                </a:moveTo>
                <a:lnTo>
                  <a:pt x="3585917" y="0"/>
                </a:lnTo>
                <a:lnTo>
                  <a:pt x="3585917" y="2389117"/>
                </a:lnTo>
                <a:lnTo>
                  <a:pt x="0" y="2389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653" y="3622033"/>
            <a:ext cx="17810695" cy="284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FF00FF"/>
                </a:solidFill>
                <a:latin typeface="Neoneon"/>
                <a:ea typeface="Neoneon"/>
                <a:cs typeface="Neoneon"/>
                <a:sym typeface="Neoneon"/>
              </a:rPr>
              <a:t>INVERSE OF A NON-SINGULAR</a:t>
            </a:r>
          </a:p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FF00FF"/>
                </a:solidFill>
                <a:latin typeface="Neoneon"/>
                <a:ea typeface="Neoneon"/>
                <a:cs typeface="Neoneon"/>
                <a:sym typeface="Neoneon"/>
              </a:rPr>
              <a:t> SQUARE MATRIX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53856" y="5603768"/>
            <a:ext cx="5180287" cy="204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B6FF"/>
                </a:solidFill>
                <a:latin typeface="Garet"/>
                <a:ea typeface="Garet"/>
                <a:cs typeface="Garet"/>
                <a:sym typeface="Garet"/>
              </a:rPr>
              <a:t>Exercise 1.1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4299225" y="-326564"/>
            <a:ext cx="5991271" cy="32652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389" y="-559997"/>
            <a:ext cx="19905325" cy="11470460"/>
          </a:xfrm>
          <a:custGeom>
            <a:avLst/>
            <a:gdLst/>
            <a:ahLst/>
            <a:cxnLst/>
            <a:rect r="r" b="b" t="t" l="l"/>
            <a:pathLst>
              <a:path h="11470460" w="19905325">
                <a:moveTo>
                  <a:pt x="0" y="0"/>
                </a:moveTo>
                <a:lnTo>
                  <a:pt x="19905325" y="0"/>
                </a:lnTo>
                <a:lnTo>
                  <a:pt x="19905325" y="11470460"/>
                </a:lnTo>
                <a:lnTo>
                  <a:pt x="0" y="1147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76" t="-8715" r="-8876" b="-546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76793" y="6265504"/>
            <a:ext cx="422788" cy="1788716"/>
          </a:xfrm>
          <a:custGeom>
            <a:avLst/>
            <a:gdLst/>
            <a:ahLst/>
            <a:cxnLst/>
            <a:rect r="r" b="b" t="t" l="l"/>
            <a:pathLst>
              <a:path h="1788716" w="422788">
                <a:moveTo>
                  <a:pt x="0" y="0"/>
                </a:moveTo>
                <a:lnTo>
                  <a:pt x="422787" y="0"/>
                </a:lnTo>
                <a:lnTo>
                  <a:pt x="422787" y="1788717"/>
                </a:lnTo>
                <a:lnTo>
                  <a:pt x="0" y="178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94742" y="7100689"/>
            <a:ext cx="11285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2480" y="6365253"/>
            <a:ext cx="1924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6912614" y="6231451"/>
            <a:ext cx="430836" cy="1822769"/>
          </a:xfrm>
          <a:custGeom>
            <a:avLst/>
            <a:gdLst/>
            <a:ahLst/>
            <a:cxnLst/>
            <a:rect r="r" b="b" t="t" l="l"/>
            <a:pathLst>
              <a:path h="1822769" w="430836">
                <a:moveTo>
                  <a:pt x="0" y="0"/>
                </a:moveTo>
                <a:lnTo>
                  <a:pt x="430836" y="0"/>
                </a:lnTo>
                <a:lnTo>
                  <a:pt x="430836" y="1822770"/>
                </a:lnTo>
                <a:lnTo>
                  <a:pt x="0" y="1822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14359" y="4049395"/>
            <a:ext cx="65404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89993" y="4004627"/>
            <a:ext cx="2774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1525" y="4819967"/>
            <a:ext cx="2397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9794" y="4870767"/>
            <a:ext cx="27761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3913644" y="3923981"/>
            <a:ext cx="430836" cy="1822769"/>
          </a:xfrm>
          <a:custGeom>
            <a:avLst/>
            <a:gdLst/>
            <a:ahLst/>
            <a:cxnLst/>
            <a:rect r="r" b="b" t="t" l="l"/>
            <a:pathLst>
              <a:path h="1822769" w="430836">
                <a:moveTo>
                  <a:pt x="0" y="0"/>
                </a:moveTo>
                <a:lnTo>
                  <a:pt x="430837" y="0"/>
                </a:lnTo>
                <a:lnTo>
                  <a:pt x="430837" y="1822769"/>
                </a:lnTo>
                <a:lnTo>
                  <a:pt x="0" y="18227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63508" y="3943031"/>
            <a:ext cx="422788" cy="1788716"/>
          </a:xfrm>
          <a:custGeom>
            <a:avLst/>
            <a:gdLst/>
            <a:ahLst/>
            <a:cxnLst/>
            <a:rect r="r" b="b" t="t" l="l"/>
            <a:pathLst>
              <a:path h="1788716" w="422788">
                <a:moveTo>
                  <a:pt x="0" y="0"/>
                </a:moveTo>
                <a:lnTo>
                  <a:pt x="422787" y="0"/>
                </a:lnTo>
                <a:lnTo>
                  <a:pt x="422787" y="1788716"/>
                </a:lnTo>
                <a:lnTo>
                  <a:pt x="0" y="178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266090" y="5076825"/>
            <a:ext cx="2406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59987" y="5028896"/>
            <a:ext cx="2774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14149" y="4124020"/>
            <a:ext cx="2397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50512" y="4124020"/>
            <a:ext cx="27761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666580" y="4105355"/>
            <a:ext cx="422788" cy="1788716"/>
          </a:xfrm>
          <a:custGeom>
            <a:avLst/>
            <a:gdLst/>
            <a:ahLst/>
            <a:cxnLst/>
            <a:rect r="r" b="b" t="t" l="l"/>
            <a:pathLst>
              <a:path h="1788716" w="422788">
                <a:moveTo>
                  <a:pt x="0" y="0"/>
                </a:moveTo>
                <a:lnTo>
                  <a:pt x="422788" y="0"/>
                </a:lnTo>
                <a:lnTo>
                  <a:pt x="422788" y="1788717"/>
                </a:lnTo>
                <a:lnTo>
                  <a:pt x="0" y="178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9652063" y="4071302"/>
            <a:ext cx="430836" cy="1822769"/>
          </a:xfrm>
          <a:custGeom>
            <a:avLst/>
            <a:gdLst/>
            <a:ahLst/>
            <a:cxnLst/>
            <a:rect r="r" b="b" t="t" l="l"/>
            <a:pathLst>
              <a:path h="1822769" w="430836">
                <a:moveTo>
                  <a:pt x="0" y="0"/>
                </a:moveTo>
                <a:lnTo>
                  <a:pt x="430836" y="0"/>
                </a:lnTo>
                <a:lnTo>
                  <a:pt x="430836" y="1822770"/>
                </a:lnTo>
                <a:lnTo>
                  <a:pt x="0" y="1822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46784" y="6099710"/>
            <a:ext cx="636115" cy="2691258"/>
          </a:xfrm>
          <a:custGeom>
            <a:avLst/>
            <a:gdLst/>
            <a:ahLst/>
            <a:cxnLst/>
            <a:rect r="r" b="b" t="t" l="l"/>
            <a:pathLst>
              <a:path h="2691258" w="636115">
                <a:moveTo>
                  <a:pt x="0" y="0"/>
                </a:moveTo>
                <a:lnTo>
                  <a:pt x="636115" y="0"/>
                </a:lnTo>
                <a:lnTo>
                  <a:pt x="636115" y="2691258"/>
                </a:lnTo>
                <a:lnTo>
                  <a:pt x="0" y="269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12551759" y="6099710"/>
            <a:ext cx="640040" cy="2707860"/>
          </a:xfrm>
          <a:custGeom>
            <a:avLst/>
            <a:gdLst/>
            <a:ahLst/>
            <a:cxnLst/>
            <a:rect r="r" b="b" t="t" l="l"/>
            <a:pathLst>
              <a:path h="2707860" w="640040">
                <a:moveTo>
                  <a:pt x="0" y="0"/>
                </a:moveTo>
                <a:lnTo>
                  <a:pt x="640039" y="0"/>
                </a:lnTo>
                <a:lnTo>
                  <a:pt x="640039" y="2707860"/>
                </a:lnTo>
                <a:lnTo>
                  <a:pt x="0" y="2707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3155" y="8695242"/>
            <a:ext cx="5905945" cy="1563879"/>
          </a:xfrm>
          <a:custGeom>
            <a:avLst/>
            <a:gdLst/>
            <a:ahLst/>
            <a:cxnLst/>
            <a:rect r="r" b="b" t="t" l="l"/>
            <a:pathLst>
              <a:path h="1563879" w="5905945">
                <a:moveTo>
                  <a:pt x="0" y="0"/>
                </a:moveTo>
                <a:lnTo>
                  <a:pt x="5905945" y="0"/>
                </a:lnTo>
                <a:lnTo>
                  <a:pt x="5905945" y="1563880"/>
                </a:lnTo>
                <a:lnTo>
                  <a:pt x="0" y="1563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20146" y="-47693"/>
            <a:ext cx="2160006" cy="2305816"/>
          </a:xfrm>
          <a:prstGeom prst="rect">
            <a:avLst/>
          </a:prstGeom>
        </p:spPr>
      </p:pic>
      <p:sp>
        <p:nvSpPr>
          <p:cNvPr name="Freeform 23" id="23"/>
          <p:cNvSpPr/>
          <p:nvPr/>
        </p:nvSpPr>
        <p:spPr>
          <a:xfrm flipH="false" flipV="false" rot="0">
            <a:off x="17262894" y="7635876"/>
            <a:ext cx="1231335" cy="1362644"/>
          </a:xfrm>
          <a:custGeom>
            <a:avLst/>
            <a:gdLst/>
            <a:ahLst/>
            <a:cxnLst/>
            <a:rect r="r" b="b" t="t" l="l"/>
            <a:pathLst>
              <a:path h="1362644" w="1231335">
                <a:moveTo>
                  <a:pt x="0" y="0"/>
                </a:moveTo>
                <a:lnTo>
                  <a:pt x="1231335" y="0"/>
                </a:lnTo>
                <a:lnTo>
                  <a:pt x="1231335" y="1362644"/>
                </a:lnTo>
                <a:lnTo>
                  <a:pt x="0" y="13626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9449" y="0"/>
            <a:ext cx="1042762" cy="1505300"/>
          </a:xfrm>
          <a:custGeom>
            <a:avLst/>
            <a:gdLst/>
            <a:ahLst/>
            <a:cxnLst/>
            <a:rect r="r" b="b" t="t" l="l"/>
            <a:pathLst>
              <a:path h="1505300" w="1042762">
                <a:moveTo>
                  <a:pt x="0" y="0"/>
                </a:moveTo>
                <a:lnTo>
                  <a:pt x="1042762" y="0"/>
                </a:lnTo>
                <a:lnTo>
                  <a:pt x="1042762" y="1505300"/>
                </a:lnTo>
                <a:lnTo>
                  <a:pt x="0" y="1505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183641" y="7913813"/>
            <a:ext cx="48757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2x2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88220" y="274586"/>
            <a:ext cx="894707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Finding adjoint of the Matrix: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92138" y="1512251"/>
            <a:ext cx="12010088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Adj of matrix=[cofactor of matrix]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70747" y="1033411"/>
            <a:ext cx="436851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47230" y="6365253"/>
            <a:ext cx="2649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78141" y="7117716"/>
            <a:ext cx="1924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3313" y="2562541"/>
            <a:ext cx="1417210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 get cofactor of the matrix by eliminating each rows and columns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9384" y="4419323"/>
            <a:ext cx="476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92138" y="4511833"/>
            <a:ext cx="2361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=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44506" y="4470413"/>
            <a:ext cx="31526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E2A9F1"/>
                </a:solidFill>
                <a:latin typeface="Canva Sans"/>
                <a:ea typeface="Canva Sans"/>
                <a:cs typeface="Canva Sans"/>
                <a:sym typeface="Canva Sans"/>
              </a:rPr>
              <a:t>cofactor of A =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3081" y="6613525"/>
            <a:ext cx="34106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C1FF72"/>
                </a:solidFill>
                <a:latin typeface="Canva Sans"/>
                <a:ea typeface="Canva Sans"/>
                <a:cs typeface="Canva Sans"/>
                <a:sym typeface="Canva Sans"/>
              </a:rPr>
              <a:t>Sign conversion: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25522" y="6267700"/>
            <a:ext cx="26489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71102" y="6301753"/>
            <a:ext cx="1924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86863" y="6267700"/>
            <a:ext cx="26489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61728" y="6956425"/>
            <a:ext cx="1924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98672" y="6956425"/>
            <a:ext cx="2649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50009" y="6905003"/>
            <a:ext cx="1924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36043" y="7875713"/>
            <a:ext cx="2649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98672" y="7875712"/>
            <a:ext cx="1924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77579" y="7875713"/>
            <a:ext cx="2649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83990" y="8657142"/>
            <a:ext cx="50662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3x3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11575" y="3248341"/>
            <a:ext cx="1039504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Transpose T -interchanging the rows and columns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03313" y="1579510"/>
            <a:ext cx="359767" cy="100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*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5426" y="9102464"/>
            <a:ext cx="359767" cy="100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*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547132" y="9388488"/>
            <a:ext cx="27747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 used when </a:t>
            </a:r>
          </a:p>
        </p:txBody>
      </p:sp>
      <p:sp>
        <p:nvSpPr>
          <p:cNvPr name="TextBox 50" id="50"/>
          <p:cNvSpPr txBox="true"/>
          <p:nvPr/>
        </p:nvSpPr>
        <p:spPr>
          <a:xfrm rot="-10800000">
            <a:off x="10198128" y="9455163"/>
            <a:ext cx="113300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114421" y="9388488"/>
            <a:ext cx="27747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 given in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34097" y="9388488"/>
            <a:ext cx="212119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matrix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304750" cy="11474236"/>
          </a:xfrm>
          <a:custGeom>
            <a:avLst/>
            <a:gdLst/>
            <a:ahLst/>
            <a:cxnLst/>
            <a:rect r="r" b="b" t="t" l="l"/>
            <a:pathLst>
              <a:path h="11474236" w="19304750">
                <a:moveTo>
                  <a:pt x="0" y="0"/>
                </a:moveTo>
                <a:lnTo>
                  <a:pt x="19304750" y="0"/>
                </a:lnTo>
                <a:lnTo>
                  <a:pt x="19304750" y="11474236"/>
                </a:lnTo>
                <a:lnTo>
                  <a:pt x="0" y="11474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7" t="0" r="-31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08375" y="291232"/>
            <a:ext cx="19304750" cy="11474236"/>
          </a:xfrm>
          <a:custGeom>
            <a:avLst/>
            <a:gdLst/>
            <a:ahLst/>
            <a:cxnLst/>
            <a:rect r="r" b="b" t="t" l="l"/>
            <a:pathLst>
              <a:path h="11474236" w="19304750">
                <a:moveTo>
                  <a:pt x="0" y="0"/>
                </a:moveTo>
                <a:lnTo>
                  <a:pt x="19304750" y="0"/>
                </a:lnTo>
                <a:lnTo>
                  <a:pt x="19304750" y="11474237"/>
                </a:lnTo>
                <a:lnTo>
                  <a:pt x="0" y="11474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7" t="0" r="-318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2572" y="3158483"/>
            <a:ext cx="5161463" cy="1748446"/>
          </a:xfrm>
          <a:custGeom>
            <a:avLst/>
            <a:gdLst/>
            <a:ahLst/>
            <a:cxnLst/>
            <a:rect r="r" b="b" t="t" l="l"/>
            <a:pathLst>
              <a:path h="1748446" w="5161463">
                <a:moveTo>
                  <a:pt x="0" y="0"/>
                </a:moveTo>
                <a:lnTo>
                  <a:pt x="5161463" y="0"/>
                </a:lnTo>
                <a:lnTo>
                  <a:pt x="5161463" y="1748446"/>
                </a:lnTo>
                <a:lnTo>
                  <a:pt x="0" y="174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65385" y="42311"/>
            <a:ext cx="2422615" cy="1528266"/>
          </a:xfrm>
          <a:custGeom>
            <a:avLst/>
            <a:gdLst/>
            <a:ahLst/>
            <a:cxnLst/>
            <a:rect r="r" b="b" t="t" l="l"/>
            <a:pathLst>
              <a:path h="1528266" w="2422615">
                <a:moveTo>
                  <a:pt x="0" y="0"/>
                </a:moveTo>
                <a:lnTo>
                  <a:pt x="2422615" y="0"/>
                </a:lnTo>
                <a:lnTo>
                  <a:pt x="2422615" y="1528266"/>
                </a:lnTo>
                <a:lnTo>
                  <a:pt x="0" y="1528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9696" y="322257"/>
            <a:ext cx="917221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Finding the inverse of matrix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3094" y="1910536"/>
            <a:ext cx="410311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step 1: check |A| =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52331" y="1893247"/>
            <a:ext cx="36703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/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87460" y="1893247"/>
            <a:ext cx="36703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9833" y="1893247"/>
            <a:ext cx="3315855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then A    exists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47881" y="1608132"/>
            <a:ext cx="403225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8123" y="3671391"/>
            <a:ext cx="621564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step 2 : apply the formula -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81469" y="4983452"/>
            <a:ext cx="890183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verifying Orthogonal matrix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3927" y="7498376"/>
            <a:ext cx="306733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A  = A  A = 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50000" y="6249760"/>
            <a:ext cx="319188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A   = A  A = 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43048" y="7184051"/>
            <a:ext cx="29614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23520" y="7139554"/>
            <a:ext cx="29614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13384" y="5964804"/>
            <a:ext cx="170922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19002" y="5952151"/>
            <a:ext cx="167856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84650" y="8668385"/>
            <a:ext cx="145746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  = 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44775" y="8421052"/>
            <a:ext cx="10270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97562" y="8411527"/>
            <a:ext cx="29614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31656" y="-1121249"/>
            <a:ext cx="26847470" cy="15004285"/>
          </a:xfrm>
          <a:custGeom>
            <a:avLst/>
            <a:gdLst/>
            <a:ahLst/>
            <a:cxnLst/>
            <a:rect r="r" b="b" t="t" l="l"/>
            <a:pathLst>
              <a:path h="15004285" w="26847470">
                <a:moveTo>
                  <a:pt x="0" y="0"/>
                </a:moveTo>
                <a:lnTo>
                  <a:pt x="26847470" y="0"/>
                </a:lnTo>
                <a:lnTo>
                  <a:pt x="26847470" y="15004285"/>
                </a:lnTo>
                <a:lnTo>
                  <a:pt x="0" y="15004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44" t="0" r="-14732" b="-182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99665" y="2412438"/>
            <a:ext cx="8088670" cy="2208798"/>
          </a:xfrm>
          <a:custGeom>
            <a:avLst/>
            <a:gdLst/>
            <a:ahLst/>
            <a:cxnLst/>
            <a:rect r="r" b="b" t="t" l="l"/>
            <a:pathLst>
              <a:path h="2208798" w="8088670">
                <a:moveTo>
                  <a:pt x="0" y="0"/>
                </a:moveTo>
                <a:lnTo>
                  <a:pt x="8088670" y="0"/>
                </a:lnTo>
                <a:lnTo>
                  <a:pt x="8088670" y="2208798"/>
                </a:lnTo>
                <a:lnTo>
                  <a:pt x="0" y="2208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99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28686" y="6890472"/>
            <a:ext cx="8059649" cy="2518640"/>
          </a:xfrm>
          <a:custGeom>
            <a:avLst/>
            <a:gdLst/>
            <a:ahLst/>
            <a:cxnLst/>
            <a:rect r="r" b="b" t="t" l="l"/>
            <a:pathLst>
              <a:path h="2518640" w="8059649">
                <a:moveTo>
                  <a:pt x="0" y="0"/>
                </a:moveTo>
                <a:lnTo>
                  <a:pt x="8059649" y="0"/>
                </a:lnTo>
                <a:lnTo>
                  <a:pt x="8059649" y="2518640"/>
                </a:lnTo>
                <a:lnTo>
                  <a:pt x="0" y="25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11683" y="8149792"/>
            <a:ext cx="2476317" cy="2089941"/>
          </a:xfrm>
          <a:custGeom>
            <a:avLst/>
            <a:gdLst/>
            <a:ahLst/>
            <a:cxnLst/>
            <a:rect r="r" b="b" t="t" l="l"/>
            <a:pathLst>
              <a:path h="2089941" w="2476317">
                <a:moveTo>
                  <a:pt x="0" y="0"/>
                </a:moveTo>
                <a:lnTo>
                  <a:pt x="2476317" y="0"/>
                </a:lnTo>
                <a:lnTo>
                  <a:pt x="2476317" y="2089941"/>
                </a:lnTo>
                <a:lnTo>
                  <a:pt x="0" y="2089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79573"/>
            <a:ext cx="2396727" cy="2021820"/>
          </a:xfrm>
          <a:custGeom>
            <a:avLst/>
            <a:gdLst/>
            <a:ahLst/>
            <a:cxnLst/>
            <a:rect r="r" b="b" t="t" l="l"/>
            <a:pathLst>
              <a:path h="2021820" w="2396727">
                <a:moveTo>
                  <a:pt x="0" y="0"/>
                </a:moveTo>
                <a:lnTo>
                  <a:pt x="2396727" y="0"/>
                </a:lnTo>
                <a:lnTo>
                  <a:pt x="2396727" y="2021820"/>
                </a:lnTo>
                <a:lnTo>
                  <a:pt x="0" y="2021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03953" y="5618894"/>
            <a:ext cx="835094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Finding A inverse from adj(A)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03953" y="755137"/>
            <a:ext cx="5625307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b="true" sz="4100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Finding A from adj(A)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DAHFO-hG0dg</dc:identifier>
  <dcterms:modified xsi:type="dcterms:W3CDTF">2011-08-01T06:04:30Z</dcterms:modified>
  <cp:revision>1</cp:revision>
  <dc:title>Chapter 1_Ex 1.1(crisp content ) </dc:title>
</cp:coreProperties>
</file>