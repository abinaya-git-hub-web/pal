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 Bold Italics" panose="020B0604020202020204" charset="0"/>
      <p:regular r:id="rId15"/>
    </p:embeddedFont>
    <p:embeddedFont>
      <p:font typeface="Canva Sans Italics" panose="020B0604020202020204" charset="0"/>
      <p:regular r:id="rId16"/>
    </p:embeddedFont>
    <p:embeddedFont>
      <p:font typeface="Oswald" panose="00000500000000000000" pitchFamily="2" charset="0"/>
      <p:regular r:id="rId17"/>
    </p:embeddedFont>
    <p:embeddedFont>
      <p:font typeface="Poppins Bold" panose="020B0604020202020204" charset="0"/>
      <p:regular r:id="rId18"/>
    </p:embeddedFont>
    <p:embeddedFont>
      <p:font typeface="Poppins Bold Italics" panose="020B0604020202020204" charset="0"/>
      <p:regular r:id="rId19"/>
    </p:embeddedFont>
    <p:embeddedFont>
      <p:font typeface="Poppin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98992" y="6202394"/>
            <a:ext cx="4922196" cy="4922196"/>
          </a:xfrm>
          <a:custGeom>
            <a:avLst/>
            <a:gdLst/>
            <a:ahLst/>
            <a:cxnLst/>
            <a:rect l="l" t="t" r="r" b="b"/>
            <a:pathLst>
              <a:path w="4922196" h="4922196">
                <a:moveTo>
                  <a:pt x="0" y="0"/>
                </a:moveTo>
                <a:lnTo>
                  <a:pt x="4922197" y="0"/>
                </a:lnTo>
                <a:lnTo>
                  <a:pt x="4922197" y="4922196"/>
                </a:lnTo>
                <a:lnTo>
                  <a:pt x="0" y="4922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62107" y="3104321"/>
            <a:ext cx="15363777" cy="238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9"/>
              </a:lnSpc>
            </a:pPr>
            <a:r>
              <a:rPr lang="en-US" sz="13999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3.9 Descartes Rule</a:t>
            </a:r>
          </a:p>
        </p:txBody>
      </p:sp>
      <p:sp>
        <p:nvSpPr>
          <p:cNvPr id="4" name="Freeform 4"/>
          <p:cNvSpPr/>
          <p:nvPr/>
        </p:nvSpPr>
        <p:spPr>
          <a:xfrm>
            <a:off x="15068330" y="8233996"/>
            <a:ext cx="2755192" cy="2048608"/>
          </a:xfrm>
          <a:custGeom>
            <a:avLst/>
            <a:gdLst/>
            <a:ahLst/>
            <a:cxnLst/>
            <a:rect l="l" t="t" r="r" b="b"/>
            <a:pathLst>
              <a:path w="2755192" h="2048608">
                <a:moveTo>
                  <a:pt x="0" y="0"/>
                </a:moveTo>
                <a:lnTo>
                  <a:pt x="2755192" y="0"/>
                </a:lnTo>
                <a:lnTo>
                  <a:pt x="2755192" y="2048608"/>
                </a:lnTo>
                <a:lnTo>
                  <a:pt x="0" y="2048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8758" y="-848142"/>
            <a:ext cx="4922196" cy="4922196"/>
          </a:xfrm>
          <a:custGeom>
            <a:avLst/>
            <a:gdLst/>
            <a:ahLst/>
            <a:cxnLst/>
            <a:rect l="l" t="t" r="r" b="b"/>
            <a:pathLst>
              <a:path w="4922196" h="4922196">
                <a:moveTo>
                  <a:pt x="0" y="0"/>
                </a:moveTo>
                <a:lnTo>
                  <a:pt x="4922196" y="0"/>
                </a:lnTo>
                <a:lnTo>
                  <a:pt x="4922196" y="4922196"/>
                </a:lnTo>
                <a:lnTo>
                  <a:pt x="0" y="4922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56079" y="5576614"/>
            <a:ext cx="15363777" cy="112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Exercise sums of Ex 3.6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26776"/>
            <a:ext cx="18022685" cy="13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Q1) Discuss the maximum Possible number of positive and Negative roots of the Polynomial equation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18873" y="1796021"/>
            <a:ext cx="12584938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9x  - 4x  + 4x  - 3x  + 2x  +x  + 7x  + 7x  + 2  = 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87104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7054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68432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9811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51190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02044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43423" y="1556944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2540134"/>
            <a:ext cx="3111812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</a:t>
            </a: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196" y="3539442"/>
            <a:ext cx="12584938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Let P(x) = 9x  - 4x  + 4x  - 3x  + 2x  +x  + 7x  + 7x  + 2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6715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66665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08044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49423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90801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1655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83034" y="330036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34918" y="4995664"/>
            <a:ext cx="12229008" cy="85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</a:pPr>
            <a:r>
              <a:rPr lang="en-US" sz="4715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- , + , - , + , + , + , + , +</a:t>
            </a:r>
          </a:p>
        </p:txBody>
      </p:sp>
      <p:sp>
        <p:nvSpPr>
          <p:cNvPr id="21" name="Freeform 21"/>
          <p:cNvSpPr/>
          <p:nvPr/>
        </p:nvSpPr>
        <p:spPr>
          <a:xfrm>
            <a:off x="7376709" y="4862499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9" y="0"/>
                </a:lnTo>
                <a:lnTo>
                  <a:pt x="782189" y="446759"/>
                </a:lnTo>
                <a:lnTo>
                  <a:pt x="0" y="446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526425" y="4696740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229154" y="4696740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176617" y="4862499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59"/>
                </a:lnTo>
                <a:lnTo>
                  <a:pt x="0" y="446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5223321" y="6122391"/>
            <a:ext cx="6652204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58571" y="7610695"/>
            <a:ext cx="9200654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Positive Roots &lt; 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52898" y="7668948"/>
            <a:ext cx="966896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2676" y="8013190"/>
            <a:ext cx="12659102" cy="818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3"/>
              </a:lnSpc>
            </a:pPr>
            <a:r>
              <a:rPr lang="en-US" sz="4537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Positive roots &lt; 4  , Negative roots &lt; 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29438" y="141385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61292" y="1390977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93146" y="141385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9124" y="1390977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845" y="1413855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19248" y="1390977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84171" y="1390977"/>
            <a:ext cx="85085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2395" y="1627412"/>
            <a:ext cx="14032963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Let P(- x) = - 9x  - 4x  - 4x  - 3x  - 2x  - x  + 7x  - 7x  + 2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8196" y="3157920"/>
            <a:ext cx="12229008" cy="85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</a:pPr>
            <a:r>
              <a:rPr lang="en-US" sz="4715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- , - , - , - , - , - , + , - , +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50561" y="2854035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201983" y="2928331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226272" y="2928331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17898" y="4753526"/>
            <a:ext cx="6652204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1001" y="6356943"/>
            <a:ext cx="9200654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Negative Roots &lt;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16950" y="8156097"/>
            <a:ext cx="966896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36948" y="8098931"/>
            <a:ext cx="966896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62227" y="6356943"/>
            <a:ext cx="966896" cy="67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26776"/>
            <a:ext cx="18022685" cy="13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Q2) Discuss the maximum Possible number of positive and Negative roots of the Polynomial equation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824279"/>
            <a:ext cx="8606798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x  - 5x  + 6   and   x  - 5x + 16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20731" y="3422845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8903" y="1595453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2175" y="1824279"/>
            <a:ext cx="11230510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.Also Draw rough Sketch of the graphs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852162"/>
            <a:ext cx="3503186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i) x  - 5x + 6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622870"/>
            <a:ext cx="3111812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</a:t>
            </a: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03737" y="3600775"/>
            <a:ext cx="5048651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P(x) =  x   - 5x  + 6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03186" y="4641410"/>
            <a:ext cx="7191938" cy="8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</a:pPr>
            <a:r>
              <a:rPr lang="en-US" sz="4715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- , +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40512" y="6426640"/>
            <a:ext cx="6652204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2550" y="7740273"/>
            <a:ext cx="9084880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Positive Roots = 2 or 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6965" y="1595453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7308" y="2623562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8768" y="1777943"/>
            <a:ext cx="6296747" cy="3836818"/>
          </a:xfrm>
          <a:custGeom>
            <a:avLst/>
            <a:gdLst/>
            <a:ahLst/>
            <a:cxnLst/>
            <a:rect l="l" t="t" r="r" b="b"/>
            <a:pathLst>
              <a:path w="6296747" h="3836818">
                <a:moveTo>
                  <a:pt x="0" y="0"/>
                </a:moveTo>
                <a:lnTo>
                  <a:pt x="6296747" y="0"/>
                </a:lnTo>
                <a:lnTo>
                  <a:pt x="6296747" y="3836818"/>
                </a:lnTo>
                <a:lnTo>
                  <a:pt x="0" y="3836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21869" y="4809899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28593" y="409757"/>
            <a:ext cx="593276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6186" y="638583"/>
            <a:ext cx="5048651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P(-x) =  x   + 5x  + 6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59074" y="1836678"/>
            <a:ext cx="7191938" cy="8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</a:pPr>
            <a:r>
              <a:rPr lang="en-US" sz="4715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+ , +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5768" y="3020894"/>
            <a:ext cx="6652204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6186" y="4020202"/>
            <a:ext cx="9084880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Negative Roots =  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4665" y="5038725"/>
            <a:ext cx="10887922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Factorising :  x  - 5x + 6 = (x - 2)(x - 3)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90947" y="6085703"/>
            <a:ext cx="7081499" cy="200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Answer : Positive roots =2</a:t>
            </a:r>
          </a:p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Negative roots =0</a:t>
            </a:r>
          </a:p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Roots are 2,3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94984" y="666841"/>
            <a:ext cx="5364316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Rough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3186" y="4641410"/>
            <a:ext cx="7191938" cy="8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</a:pPr>
            <a:r>
              <a:rPr lang="en-US" sz="4715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- , + </a:t>
            </a:r>
          </a:p>
        </p:txBody>
      </p:sp>
      <p:sp>
        <p:nvSpPr>
          <p:cNvPr id="3" name="Freeform 3"/>
          <p:cNvSpPr/>
          <p:nvPr/>
        </p:nvSpPr>
        <p:spPr>
          <a:xfrm>
            <a:off x="7629501" y="4433636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26776"/>
            <a:ext cx="18022685" cy="13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Q2) Discuss the maximum Possible number of positive and Negative roots of the Polynomial equation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824279"/>
            <a:ext cx="8606798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x  - 5x  + 6   and   x  - 5x + 16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0731" y="3422845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8903" y="1595453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2175" y="1824279"/>
            <a:ext cx="11230510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.Also Draw rough Sketch of the graphs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521" y="2852162"/>
            <a:ext cx="3503186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ii) x  - 5x + 16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22870"/>
            <a:ext cx="3111812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</a:t>
            </a: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3737" y="3600775"/>
            <a:ext cx="5048651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P(x) =  x   - 5x  + 16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42920" y="6283765"/>
            <a:ext cx="6652204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22550" y="7740273"/>
            <a:ext cx="9084880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Positive Roots = 2 or 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345" y="1567195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594987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6" name="Freeform 16"/>
          <p:cNvSpPr/>
          <p:nvPr/>
        </p:nvSpPr>
        <p:spPr>
          <a:xfrm>
            <a:off x="8411689" y="4433636"/>
            <a:ext cx="782188" cy="446760"/>
          </a:xfrm>
          <a:custGeom>
            <a:avLst/>
            <a:gdLst/>
            <a:ahLst/>
            <a:cxnLst/>
            <a:rect l="l" t="t" r="r" b="b"/>
            <a:pathLst>
              <a:path w="782188" h="446760">
                <a:moveTo>
                  <a:pt x="0" y="0"/>
                </a:moveTo>
                <a:lnTo>
                  <a:pt x="782188" y="0"/>
                </a:lnTo>
                <a:lnTo>
                  <a:pt x="782188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49145" y="1836537"/>
            <a:ext cx="5810155" cy="3719629"/>
          </a:xfrm>
          <a:custGeom>
            <a:avLst/>
            <a:gdLst/>
            <a:ahLst/>
            <a:cxnLst/>
            <a:rect l="l" t="t" r="r" b="b"/>
            <a:pathLst>
              <a:path w="5810155" h="3719629">
                <a:moveTo>
                  <a:pt x="0" y="0"/>
                </a:moveTo>
                <a:lnTo>
                  <a:pt x="5810155" y="0"/>
                </a:lnTo>
                <a:lnTo>
                  <a:pt x="5810155" y="3719629"/>
                </a:lnTo>
                <a:lnTo>
                  <a:pt x="0" y="371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58404" y="6247796"/>
            <a:ext cx="1308769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28593" y="409757"/>
            <a:ext cx="593276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6186" y="638583"/>
            <a:ext cx="5048651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P(-x) =  x   + 5x  + 16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59074" y="1836678"/>
            <a:ext cx="7191938" cy="8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</a:pPr>
            <a:r>
              <a:rPr lang="en-US" sz="4715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+ , +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5768" y="3020894"/>
            <a:ext cx="6652204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6186" y="4020202"/>
            <a:ext cx="9084880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Negative Roots =  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41617" y="8865733"/>
            <a:ext cx="12404767" cy="134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Answer : Positive roots =2, Negative roots =0</a:t>
            </a:r>
          </a:p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No real roots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94984" y="666841"/>
            <a:ext cx="5364316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Rough Graph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9129" y="5752692"/>
            <a:ext cx="6652204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Discriminant :  D = b - 4ac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61766" y="5495608"/>
            <a:ext cx="593276" cy="61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5"/>
              </a:lnSpc>
            </a:pPr>
            <a:r>
              <a:rPr lang="en-US" sz="33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4536" y="6642462"/>
            <a:ext cx="6652204" cy="200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= (-5) - 4(1)(16)</a:t>
            </a:r>
          </a:p>
          <a:p>
            <a:pPr algn="l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=25 - 64</a:t>
            </a:r>
          </a:p>
          <a:p>
            <a:pPr algn="l">
              <a:lnSpc>
                <a:spcPts val="5295"/>
              </a:lnSpc>
            </a:pPr>
            <a:r>
              <a:rPr lang="en-US" sz="37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= -39 &lt; 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29304" y="5848076"/>
            <a:ext cx="5364316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(The graph does not cut the x-axis)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761564" y="516915"/>
            <a:ext cx="19049564" cy="143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3"/>
              </a:lnSpc>
            </a:pPr>
            <a:r>
              <a:rPr lang="en-US" sz="4138" b="1" i="1">
                <a:solidFill>
                  <a:srgbClr val="FDF4F4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Q3 ) Show that      x  - 5x   + 4x  + 2x  + 1 = 0  has atleast Six imaginary Solutions.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56033" y="209096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39569" y="209096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3624" y="269797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75423" y="269797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099" y="2429091"/>
            <a:ext cx="3111812" cy="6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sz="378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</a:t>
            </a:r>
            <a:r>
              <a:rPr lang="en-US" sz="37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70911" y="3075057"/>
            <a:ext cx="8545046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P(x) =  x   - 5x  + 4x  + 2x  +1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70811" y="2885089"/>
            <a:ext cx="653956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22735" y="2790756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81055" y="2790756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39375" y="2719217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4395" y="4555332"/>
            <a:ext cx="7758471" cy="9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1"/>
              </a:lnSpc>
            </a:pPr>
            <a:r>
              <a:rPr lang="en-US" sz="5015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- , + , + , 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57372" y="5911309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2</a:t>
            </a:r>
          </a:p>
        </p:txBody>
      </p:sp>
      <p:sp>
        <p:nvSpPr>
          <p:cNvPr id="15" name="Freeform 15"/>
          <p:cNvSpPr/>
          <p:nvPr/>
        </p:nvSpPr>
        <p:spPr>
          <a:xfrm>
            <a:off x="7914230" y="4260057"/>
            <a:ext cx="847529" cy="484080"/>
          </a:xfrm>
          <a:custGeom>
            <a:avLst/>
            <a:gdLst/>
            <a:ahLst/>
            <a:cxnLst/>
            <a:rect l="l" t="t" r="r" b="b"/>
            <a:pathLst>
              <a:path w="847529" h="484080">
                <a:moveTo>
                  <a:pt x="0" y="0"/>
                </a:moveTo>
                <a:lnTo>
                  <a:pt x="847529" y="0"/>
                </a:lnTo>
                <a:lnTo>
                  <a:pt x="847529" y="484080"/>
                </a:lnTo>
                <a:lnTo>
                  <a:pt x="0" y="484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837536" y="4260057"/>
            <a:ext cx="992214" cy="566720"/>
          </a:xfrm>
          <a:custGeom>
            <a:avLst/>
            <a:gdLst/>
            <a:ahLst/>
            <a:cxnLst/>
            <a:rect l="l" t="t" r="r" b="b"/>
            <a:pathLst>
              <a:path w="992214" h="566720">
                <a:moveTo>
                  <a:pt x="0" y="0"/>
                </a:moveTo>
                <a:lnTo>
                  <a:pt x="992214" y="0"/>
                </a:lnTo>
                <a:lnTo>
                  <a:pt x="992214" y="566720"/>
                </a:lnTo>
                <a:lnTo>
                  <a:pt x="0" y="566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046777" y="7763374"/>
            <a:ext cx="920065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Positive Roots &lt;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71485" y="7812904"/>
            <a:ext cx="738091" cy="718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9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27709"/>
            <a:ext cx="8545046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P(- x) =  -x   + 5x  + 4x  + 2x  +1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29908" y="502952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2499" y="437741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8883" y="458264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8426" y="458264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FDF4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91892" y="1953132"/>
            <a:ext cx="7758471" cy="9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1"/>
              </a:lnSpc>
            </a:pPr>
            <a:r>
              <a:rPr lang="en-US" sz="5015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- , + , + , + , +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8708" y="3033758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1</a:t>
            </a:r>
          </a:p>
        </p:txBody>
      </p:sp>
      <p:sp>
        <p:nvSpPr>
          <p:cNvPr id="9" name="Freeform 9"/>
          <p:cNvSpPr/>
          <p:nvPr/>
        </p:nvSpPr>
        <p:spPr>
          <a:xfrm>
            <a:off x="7516212" y="1538812"/>
            <a:ext cx="992214" cy="566720"/>
          </a:xfrm>
          <a:custGeom>
            <a:avLst/>
            <a:gdLst/>
            <a:ahLst/>
            <a:cxnLst/>
            <a:rect l="l" t="t" r="r" b="b"/>
            <a:pathLst>
              <a:path w="992214" h="566720">
                <a:moveTo>
                  <a:pt x="0" y="0"/>
                </a:moveTo>
                <a:lnTo>
                  <a:pt x="992214" y="0"/>
                </a:lnTo>
                <a:lnTo>
                  <a:pt x="992214" y="566720"/>
                </a:lnTo>
                <a:lnTo>
                  <a:pt x="0" y="566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58359" y="4049709"/>
            <a:ext cx="920065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Negative Roots  &lt; 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78634" y="4235715"/>
            <a:ext cx="738091" cy="718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9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07553" y="4937979"/>
            <a:ext cx="6652204" cy="152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Real roots  =  2 + 1 </a:t>
            </a:r>
          </a:p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     = 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91667" y="6315793"/>
            <a:ext cx="8194432" cy="152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Imaginary roots  =  9 - 3 </a:t>
            </a:r>
          </a:p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               =  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53315" y="7950102"/>
            <a:ext cx="9118008" cy="164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4"/>
              </a:lnSpc>
            </a:pPr>
            <a:r>
              <a:rPr lang="en-US" sz="4646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At least 6 imaginary roots</a:t>
            </a:r>
          </a:p>
          <a:p>
            <a:pPr algn="ctr">
              <a:lnSpc>
                <a:spcPts val="6504"/>
              </a:lnSpc>
            </a:pPr>
            <a:r>
              <a:rPr lang="en-US" sz="4646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Hence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74923"/>
            <a:ext cx="18288000" cy="156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9"/>
              </a:lnSpc>
            </a:pPr>
            <a:r>
              <a:rPr lang="en-US" sz="4363" b="1">
                <a:solidFill>
                  <a:srgbClr val="6E7658"/>
                </a:solidFill>
                <a:latin typeface="Poppins Bold"/>
                <a:ea typeface="Poppins Bold"/>
                <a:cs typeface="Poppins Bold"/>
                <a:sym typeface="Poppins Bold"/>
              </a:rPr>
              <a:t>Q4) Determine the number of positive and negative roots of the                                         equation   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87307" y="1276793"/>
            <a:ext cx="4784646" cy="79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9"/>
              </a:lnSpc>
            </a:pPr>
            <a:r>
              <a:rPr lang="en-US" sz="4363" b="1">
                <a:solidFill>
                  <a:srgbClr val="6E7658"/>
                </a:solidFill>
                <a:latin typeface="Poppins Bold"/>
                <a:ea typeface="Poppins Bold"/>
                <a:cs typeface="Poppins Bold"/>
                <a:sym typeface="Poppins Bold"/>
              </a:rPr>
              <a:t>x   - 5x   – 14x  = 0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43056" y="1096350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21410" y="1170052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7513" y="1170052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245" y="2315619"/>
            <a:ext cx="3111812" cy="76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4182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</a:t>
            </a:r>
            <a:r>
              <a:rPr lang="en-US" sz="41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72167" y="3263990"/>
            <a:ext cx="5995647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P(x) =  x   - 5x  - 14x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07803" y="3011297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62790" y="3074022"/>
            <a:ext cx="1224753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3011297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87307" y="4607469"/>
            <a:ext cx="7758471" cy="9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1"/>
              </a:lnSpc>
            </a:pPr>
            <a:r>
              <a:rPr lang="en-US" sz="5015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- , -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51403" y="4275789"/>
            <a:ext cx="847529" cy="484080"/>
          </a:xfrm>
          <a:custGeom>
            <a:avLst/>
            <a:gdLst/>
            <a:ahLst/>
            <a:cxnLst/>
            <a:rect l="l" t="t" r="r" b="b"/>
            <a:pathLst>
              <a:path w="847529" h="484080">
                <a:moveTo>
                  <a:pt x="0" y="0"/>
                </a:moveTo>
                <a:lnTo>
                  <a:pt x="847529" y="0"/>
                </a:lnTo>
                <a:lnTo>
                  <a:pt x="847529" y="484080"/>
                </a:lnTo>
                <a:lnTo>
                  <a:pt x="0" y="484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801277" y="6023129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94984" y="7417159"/>
            <a:ext cx="9200654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Positive Roots &lt;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22725" y="7455259"/>
            <a:ext cx="847065" cy="77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3"/>
              </a:lnSpc>
            </a:pPr>
            <a:r>
              <a:rPr lang="en-US" sz="45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3723" y="588696"/>
            <a:ext cx="7411980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P(- x) = - x   - 5x  + 14x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52426" y="524847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84246" y="398728"/>
            <a:ext cx="1224753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85780" y="398728"/>
            <a:ext cx="658220" cy="57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</a:pPr>
            <a:r>
              <a:rPr lang="en-US" sz="34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3404" y="2152493"/>
            <a:ext cx="7758471" cy="9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1"/>
              </a:lnSpc>
            </a:pPr>
            <a:r>
              <a:rPr lang="en-US" sz="5015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- , - , +</a:t>
            </a:r>
          </a:p>
        </p:txBody>
      </p:sp>
      <p:sp>
        <p:nvSpPr>
          <p:cNvPr id="7" name="Freeform 7"/>
          <p:cNvSpPr/>
          <p:nvPr/>
        </p:nvSpPr>
        <p:spPr>
          <a:xfrm>
            <a:off x="7608999" y="1820812"/>
            <a:ext cx="847529" cy="484080"/>
          </a:xfrm>
          <a:custGeom>
            <a:avLst/>
            <a:gdLst/>
            <a:ahLst/>
            <a:cxnLst/>
            <a:rect l="l" t="t" r="r" b="b"/>
            <a:pathLst>
              <a:path w="847529" h="484080">
                <a:moveTo>
                  <a:pt x="0" y="0"/>
                </a:moveTo>
                <a:lnTo>
                  <a:pt x="847529" y="0"/>
                </a:lnTo>
                <a:lnTo>
                  <a:pt x="847529" y="484081"/>
                </a:lnTo>
                <a:lnTo>
                  <a:pt x="0" y="48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70521" y="3368128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8D967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08673" y="4460749"/>
            <a:ext cx="9200654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8D967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Negative Roots &lt;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3361" y="4490206"/>
            <a:ext cx="847065" cy="77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3"/>
              </a:lnSpc>
            </a:pPr>
            <a:r>
              <a:rPr lang="en-US" sz="4516" i="1">
                <a:solidFill>
                  <a:srgbClr val="6E76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_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184" y="6635858"/>
            <a:ext cx="16649435" cy="892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4"/>
              </a:lnSpc>
            </a:pPr>
            <a:r>
              <a:rPr lang="en-US" sz="4989" b="1" i="1">
                <a:solidFill>
                  <a:srgbClr val="8D9677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Therefore,   Positive roots = 1   Negative roots =1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501" y="142591"/>
            <a:ext cx="17906998" cy="163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7"/>
              </a:lnSpc>
            </a:pPr>
            <a:r>
              <a:rPr lang="en-US" sz="456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Q5) Find the exact number of real zeros and imaginary zeros of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49670" y="1299081"/>
            <a:ext cx="8055618" cy="82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7"/>
              </a:lnSpc>
            </a:pPr>
            <a:r>
              <a:rPr lang="en-US" sz="456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x   + 9x  +  7x  + 5x   + 3x   = 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85336" y="1070326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2595" y="1020796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57282" y="914400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91969" y="1020796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245" y="2315619"/>
            <a:ext cx="3111812" cy="76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418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</a:t>
            </a:r>
            <a:r>
              <a:rPr lang="en-US" sz="41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:-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49670" y="3257142"/>
            <a:ext cx="9188684" cy="82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7"/>
              </a:lnSpc>
            </a:pPr>
            <a:r>
              <a:rPr lang="en-US" sz="45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P(x) =  x   + 9x  +  7x  + 5x   + 3x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9413" y="3028387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67194" y="2961867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45606" y="2961867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7918" y="2961867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62155" y="4611882"/>
            <a:ext cx="7758471" cy="9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1"/>
              </a:lnSpc>
            </a:pPr>
            <a:r>
              <a:rPr lang="en-US" sz="5015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+ , + , + , + , 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2533" y="5847808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94984" y="7417159"/>
            <a:ext cx="9200654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Positive Roots =0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933" y="895350"/>
            <a:ext cx="10919757" cy="82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7"/>
              </a:lnSpc>
            </a:pPr>
            <a:r>
              <a:rPr lang="en-US" sz="45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 - x) =  - x   - 9x  -  7x  - 5x   - 3x  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15451" y="5587490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0838" y="666595"/>
            <a:ext cx="375948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8635" y="666595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84772" y="617065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99400" y="1914493"/>
            <a:ext cx="7758471" cy="91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1"/>
              </a:lnSpc>
            </a:pPr>
            <a:r>
              <a:rPr lang="en-US" sz="5015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 - , - , - , - , 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52533" y="3044403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9088" y="4342946"/>
            <a:ext cx="9200654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Therefore, Negative Roots =0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326" y="5834270"/>
            <a:ext cx="9200654" cy="80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sz="44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x( x   + 9x   + 7x   + 5x   +3)  =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99400" y="5546460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07201" y="5546460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2596" y="5546460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54701" y="666595"/>
            <a:ext cx="753637" cy="70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7"/>
              </a:lnSpc>
            </a:pPr>
            <a:r>
              <a:rPr lang="en-US" sz="396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38409" y="5809751"/>
            <a:ext cx="665220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thus , x = 0 is a real root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90594" y="7099586"/>
            <a:ext cx="3473324" cy="76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Degree = 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60838" y="7099586"/>
            <a:ext cx="6652204" cy="152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Imaginary roots = 9-1</a:t>
            </a:r>
          </a:p>
          <a:p>
            <a:pPr algn="ctr">
              <a:lnSpc>
                <a:spcPts val="5995"/>
              </a:lnSpc>
            </a:pPr>
            <a:r>
              <a:rPr lang="en-US" sz="428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                  = 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68326" y="8744248"/>
            <a:ext cx="12191637" cy="817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4"/>
              </a:lnSpc>
            </a:pPr>
            <a:r>
              <a:rPr lang="en-US" sz="4582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Real root = 1  &amp; Imaginary roots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Custom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Poppins Italics</vt:lpstr>
      <vt:lpstr>Arial</vt:lpstr>
      <vt:lpstr>Poppins Bold</vt:lpstr>
      <vt:lpstr>Canva Sans Bold Italics</vt:lpstr>
      <vt:lpstr>Canva Sans Italics</vt:lpstr>
      <vt:lpstr>Calibri</vt:lpstr>
      <vt:lpstr>Oswald</vt:lpstr>
      <vt:lpstr>Poppins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3.6 .pptx</dc:title>
  <cp:lastModifiedBy>Kaleeswari K</cp:lastModifiedBy>
  <cp:revision>2</cp:revision>
  <dcterms:created xsi:type="dcterms:W3CDTF">2006-08-16T00:00:00Z</dcterms:created>
  <dcterms:modified xsi:type="dcterms:W3CDTF">2026-06-12T19:26:18Z</dcterms:modified>
  <dc:identifier>DAHMXrVjQ8U</dc:identifier>
</cp:coreProperties>
</file>