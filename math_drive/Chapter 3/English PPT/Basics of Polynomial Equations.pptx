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9" r:id="rId3"/>
    <p:sldId id="260" r:id="rId4"/>
    <p:sldId id="263" r:id="rId5"/>
    <p:sldId id="262" r:id="rId6"/>
    <p:sldId id="264" r:id="rId7"/>
    <p:sldId id="261" r:id="rId8"/>
    <p:sldId id="265" r:id="rId9"/>
    <p:sldId id="267" r:id="rId10"/>
    <p:sldId id="266" r:id="rId11"/>
    <p:sldId id="269" r:id="rId12"/>
    <p:sldId id="270" r:id="rId13"/>
    <p:sldId id="272" r:id="rId14"/>
    <p:sldId id="271" r:id="rId15"/>
    <p:sldId id="268" r:id="rId16"/>
  </p:sldIdLst>
  <p:sldSz cx="18288000" cy="10287000"/>
  <p:notesSz cx="6858000" cy="9144000"/>
  <p:embeddedFontLst>
    <p:embeddedFont>
      <p:font typeface="Roboto" panose="02000000000000000000" pitchFamily="2" charset="0"/>
      <p:regular r:id="rId17"/>
      <p:bold r:id="rId18"/>
      <p:italic r:id="rId19"/>
      <p:boldItalic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72" y="37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font" Target="fonts/font2.fntdata" /><Relationship Id="rId3" Type="http://schemas.openxmlformats.org/officeDocument/2006/relationships/slide" Target="slides/slide2.xml" /><Relationship Id="rId21" Type="http://schemas.openxmlformats.org/officeDocument/2006/relationships/presProps" Target="presProps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font" Target="fonts/font1.fntdata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font" Target="fonts/font4.fntdata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tableStyles" Target="tableStyles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theme" Target="theme/theme1.xml" /><Relationship Id="rId10" Type="http://schemas.openxmlformats.org/officeDocument/2006/relationships/slide" Target="slides/slide9.xml" /><Relationship Id="rId19" Type="http://schemas.openxmlformats.org/officeDocument/2006/relationships/font" Target="fonts/font3.fntdata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 /><Relationship Id="rId2" Type="http://schemas.openxmlformats.org/officeDocument/2006/relationships/image" Target="../media/image1.svg" /><Relationship Id="rId1" Type="http://schemas.openxmlformats.org/officeDocument/2006/relationships/slideLayout" Target="../slideLayouts/slideLayout7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83607" y="5364806"/>
            <a:ext cx="4922194" cy="4922194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D967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0" y="6202391"/>
            <a:ext cx="4739803" cy="4739803"/>
          </a:xfrm>
          <a:custGeom>
            <a:avLst/>
            <a:gdLst/>
            <a:ahLst/>
            <a:cxnLst/>
            <a:rect l="l" t="t" r="r" b="b"/>
            <a:pathLst>
              <a:path w="4739803" h="4739803">
                <a:moveTo>
                  <a:pt x="0" y="0"/>
                </a:moveTo>
                <a:lnTo>
                  <a:pt x="4739803" y="0"/>
                </a:lnTo>
                <a:lnTo>
                  <a:pt x="4739803" y="4739803"/>
                </a:lnTo>
                <a:lnTo>
                  <a:pt x="0" y="473980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6" name="Group 6"/>
          <p:cNvGrpSpPr/>
          <p:nvPr/>
        </p:nvGrpSpPr>
        <p:grpSpPr>
          <a:xfrm>
            <a:off x="14173200" y="-1551210"/>
            <a:ext cx="3086100" cy="3798277"/>
            <a:chOff x="0" y="0"/>
            <a:chExt cx="6604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60400" cy="812800"/>
            </a:xfrm>
            <a:custGeom>
              <a:avLst/>
              <a:gdLst/>
              <a:ahLst/>
              <a:cxnLst/>
              <a:rect l="l" t="t" r="r" b="b"/>
              <a:pathLst>
                <a:path w="660400" h="812800">
                  <a:moveTo>
                    <a:pt x="220252" y="793731"/>
                  </a:moveTo>
                  <a:cubicBezTo>
                    <a:pt x="254109" y="805245"/>
                    <a:pt x="292600" y="812800"/>
                    <a:pt x="330378" y="812800"/>
                  </a:cubicBezTo>
                  <a:cubicBezTo>
                    <a:pt x="368157" y="812800"/>
                    <a:pt x="404509" y="806323"/>
                    <a:pt x="438009" y="794809"/>
                  </a:cubicBezTo>
                  <a:cubicBezTo>
                    <a:pt x="438723" y="794450"/>
                    <a:pt x="439435" y="794450"/>
                    <a:pt x="440148" y="794090"/>
                  </a:cubicBezTo>
                  <a:cubicBezTo>
                    <a:pt x="565955" y="748035"/>
                    <a:pt x="658618" y="626421"/>
                    <a:pt x="660400" y="484298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483939"/>
                  </a:lnTo>
                  <a:cubicBezTo>
                    <a:pt x="1782" y="627140"/>
                    <a:pt x="93019" y="748755"/>
                    <a:pt x="220252" y="793731"/>
                  </a:cubicBezTo>
                  <a:close/>
                </a:path>
              </a:pathLst>
            </a:custGeom>
            <a:solidFill>
              <a:srgbClr val="6E765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660400" cy="723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462111" y="3361492"/>
            <a:ext cx="15363778" cy="23876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599"/>
              </a:lnSpc>
              <a:spcBef>
                <a:spcPct val="0"/>
              </a:spcBef>
            </a:pPr>
            <a:r>
              <a:rPr lang="en-US" sz="13999" dirty="0">
                <a:solidFill>
                  <a:srgbClr val="000000"/>
                </a:solidFill>
                <a:latin typeface="Times New Roman" panose="02020603050405020304" pitchFamily="18" charset="0"/>
                <a:ea typeface="Oswald"/>
                <a:cs typeface="Times New Roman" panose="02020603050405020304" pitchFamily="18" charset="0"/>
                <a:sym typeface="Oswald"/>
              </a:rPr>
              <a:t>Theory of Equations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200400" y="5505830"/>
            <a:ext cx="13258800" cy="20774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8400"/>
              </a:lnSpc>
              <a:spcBef>
                <a:spcPct val="0"/>
              </a:spcBef>
            </a:pPr>
            <a:r>
              <a:rPr lang="en-US" sz="60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Grade 12</a:t>
            </a:r>
          </a:p>
          <a:p>
            <a:pPr marL="0" lvl="0" indent="0" algn="r">
              <a:lnSpc>
                <a:spcPts val="8400"/>
              </a:lnSpc>
              <a:spcBef>
                <a:spcPct val="0"/>
              </a:spcBef>
            </a:pPr>
            <a:r>
              <a:rPr lang="en-US" sz="60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Example Sums</a:t>
            </a:r>
          </a:p>
        </p:txBody>
      </p:sp>
      <p:sp>
        <p:nvSpPr>
          <p:cNvPr id="11" name="Freeform 11"/>
          <p:cNvSpPr/>
          <p:nvPr/>
        </p:nvSpPr>
        <p:spPr>
          <a:xfrm>
            <a:off x="11690252" y="7626342"/>
            <a:ext cx="4427302" cy="4427302"/>
          </a:xfrm>
          <a:custGeom>
            <a:avLst/>
            <a:gdLst/>
            <a:ahLst/>
            <a:cxnLst/>
            <a:rect l="l" t="t" r="r" b="b"/>
            <a:pathLst>
              <a:path w="4427302" h="4427302">
                <a:moveTo>
                  <a:pt x="0" y="0"/>
                </a:moveTo>
                <a:lnTo>
                  <a:pt x="4427302" y="0"/>
                </a:lnTo>
                <a:lnTo>
                  <a:pt x="4427302" y="4427302"/>
                </a:lnTo>
                <a:lnTo>
                  <a:pt x="0" y="44273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2" name="Group 12"/>
          <p:cNvGrpSpPr/>
          <p:nvPr/>
        </p:nvGrpSpPr>
        <p:grpSpPr>
          <a:xfrm>
            <a:off x="14867996" y="7791384"/>
            <a:ext cx="2755192" cy="2048609"/>
            <a:chOff x="0" y="0"/>
            <a:chExt cx="1093142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93142" cy="812800"/>
            </a:xfrm>
            <a:custGeom>
              <a:avLst/>
              <a:gdLst/>
              <a:ahLst/>
              <a:cxnLst/>
              <a:rect l="l" t="t" r="r" b="b"/>
              <a:pathLst>
                <a:path w="1093142" h="812800">
                  <a:moveTo>
                    <a:pt x="1093142" y="406400"/>
                  </a:moveTo>
                  <a:lnTo>
                    <a:pt x="686742" y="0"/>
                  </a:lnTo>
                  <a:lnTo>
                    <a:pt x="686742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686742" y="609600"/>
                  </a:lnTo>
                  <a:lnTo>
                    <a:pt x="686742" y="812800"/>
                  </a:lnTo>
                  <a:lnTo>
                    <a:pt x="1093142" y="406400"/>
                  </a:lnTo>
                  <a:close/>
                </a:path>
              </a:pathLst>
            </a:custGeom>
            <a:solidFill>
              <a:srgbClr val="6E765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165100"/>
              <a:ext cx="991542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2324936" y="-2180235"/>
            <a:ext cx="4427302" cy="4427302"/>
          </a:xfrm>
          <a:custGeom>
            <a:avLst/>
            <a:gdLst/>
            <a:ahLst/>
            <a:cxnLst/>
            <a:rect l="l" t="t" r="r" b="b"/>
            <a:pathLst>
              <a:path w="4427302" h="4427302">
                <a:moveTo>
                  <a:pt x="0" y="0"/>
                </a:moveTo>
                <a:lnTo>
                  <a:pt x="4427302" y="0"/>
                </a:lnTo>
                <a:lnTo>
                  <a:pt x="4427302" y="4427302"/>
                </a:lnTo>
                <a:lnTo>
                  <a:pt x="0" y="44273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E76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9C265C2-1C51-BF27-12FD-8CCC1767C929}"/>
              </a:ext>
            </a:extLst>
          </p:cNvPr>
          <p:cNvSpPr txBox="1"/>
          <p:nvPr/>
        </p:nvSpPr>
        <p:spPr>
          <a:xfrm>
            <a:off x="342900" y="419100"/>
            <a:ext cx="17602200" cy="10041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0"/>
              </a:spcAft>
              <a:buNone/>
            </a:pPr>
            <a:r>
              <a:rPr lang="en-IN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1.If α and β are the roots of the quadratic equation 17</a:t>
            </a:r>
            <a:r>
              <a:rPr lang="en-IN" sz="32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x</a:t>
            </a:r>
            <a:r>
              <a:rPr lang="en-IN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² + 43</a:t>
            </a:r>
            <a:r>
              <a:rPr lang="en-IN" sz="32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x</a:t>
            </a:r>
            <a:r>
              <a:rPr lang="en-IN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− 73 = 0, construct a quadratic equation whose roots are α + 2 and β + 2.</a:t>
            </a:r>
          </a:p>
          <a:p>
            <a:pPr algn="l">
              <a:spcAft>
                <a:spcPts val="300"/>
              </a:spcAft>
              <a:buNone/>
            </a:pPr>
            <a:endParaRPr lang="en-IN" sz="3200" b="1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n-IN" sz="32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Step 1: Find the sum and product of the original roots (α and β)</a:t>
            </a:r>
          </a:p>
          <a:p>
            <a:pPr algn="l">
              <a:spcAft>
                <a:spcPts val="300"/>
              </a:spcAft>
              <a:buNone/>
            </a:pPr>
            <a:r>
              <a:rPr lang="en-IN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For any quadratic equation </a:t>
            </a:r>
            <a:r>
              <a:rPr lang="en-IN" sz="32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ax</a:t>
            </a:r>
            <a:r>
              <a:rPr lang="en-IN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² + </a:t>
            </a:r>
            <a:r>
              <a:rPr lang="en-IN" sz="3200" b="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bx</a:t>
            </a:r>
            <a:r>
              <a:rPr lang="en-IN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+ </a:t>
            </a:r>
            <a:r>
              <a:rPr lang="en-IN" sz="32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c</a:t>
            </a:r>
            <a:r>
              <a:rPr lang="en-IN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= 0, the sum of the roots is given by −</a:t>
            </a:r>
            <a:r>
              <a:rPr lang="en-IN" sz="32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b</a:t>
            </a:r>
            <a:r>
              <a:rPr lang="en-IN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/</a:t>
            </a:r>
            <a:r>
              <a:rPr lang="en-IN" sz="32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</a:t>
            </a:r>
            <a:r>
              <a:rPr lang="en-IN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and the product of the roots is </a:t>
            </a:r>
            <a:r>
              <a:rPr lang="en-IN" sz="32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c</a:t>
            </a:r>
            <a:r>
              <a:rPr lang="en-IN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/</a:t>
            </a:r>
            <a:r>
              <a:rPr lang="en-IN" sz="32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</a:t>
            </a:r>
            <a:r>
              <a:rPr lang="en-IN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.</a:t>
            </a:r>
          </a:p>
          <a:p>
            <a:pPr algn="l">
              <a:spcAft>
                <a:spcPts val="900"/>
              </a:spcAft>
              <a:buNone/>
            </a:pPr>
            <a:r>
              <a:rPr lang="en-IN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Given the equation 17</a:t>
            </a:r>
            <a:r>
              <a:rPr lang="en-IN" sz="32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x</a:t>
            </a:r>
            <a:r>
              <a:rPr lang="en-IN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² + 43</a:t>
            </a:r>
            <a:r>
              <a:rPr lang="en-IN" sz="32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x</a:t>
            </a:r>
            <a:r>
              <a:rPr lang="en-IN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− 73 = 0:</a:t>
            </a:r>
          </a:p>
          <a:p>
            <a:pPr algn="l">
              <a:spcAft>
                <a:spcPts val="300"/>
              </a:spcAft>
              <a:buNone/>
            </a:pPr>
            <a:r>
              <a:rPr lang="en-IN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•  </a:t>
            </a:r>
            <a:r>
              <a:rPr lang="en-IN" sz="32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Sum of roots (α + β):</a:t>
            </a:r>
            <a:endParaRPr lang="en-IN" sz="3200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algn="ctr">
              <a:spcAft>
                <a:spcPts val="1200"/>
              </a:spcAft>
              <a:buNone/>
            </a:pPr>
            <a:r>
              <a:rPr lang="en-IN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α + β = −43//17</a:t>
            </a:r>
          </a:p>
          <a:p>
            <a:pPr algn="l">
              <a:spcAft>
                <a:spcPts val="300"/>
              </a:spcAft>
              <a:buNone/>
            </a:pPr>
            <a:r>
              <a:rPr lang="en-IN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•  </a:t>
            </a:r>
            <a:r>
              <a:rPr lang="en-IN" sz="32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Product of roots (αβ):</a:t>
            </a:r>
            <a:endParaRPr lang="en-IN" sz="3200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algn="ctr">
              <a:spcAft>
                <a:spcPts val="1650"/>
              </a:spcAft>
              <a:buNone/>
            </a:pPr>
            <a:r>
              <a:rPr lang="en-IN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αβ = −7317</a:t>
            </a:r>
          </a:p>
          <a:p>
            <a:pPr algn="ctr">
              <a:spcAft>
                <a:spcPts val="1650"/>
              </a:spcAft>
              <a:buNone/>
            </a:pPr>
            <a:endParaRPr lang="en-IN" sz="3200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r>
              <a:rPr lang="en-IN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Step 2: Find the sum of the new roots (α + 2 and β + 2)</a:t>
            </a:r>
          </a:p>
          <a:p>
            <a:pPr algn="ctr">
              <a:spcAft>
                <a:spcPts val="900"/>
              </a:spcAft>
              <a:buNone/>
            </a:pPr>
            <a:r>
              <a:rPr lang="en-IN" sz="3200" dirty="0">
                <a:solidFill>
                  <a:srgbClr val="000000"/>
                </a:solidFill>
                <a:latin typeface="Times New Roman" panose="02020603050405020304" pitchFamily="18" charset="0"/>
              </a:rPr>
              <a:t>Sum = (α + 2) + (β + 2) = α + β + 4</a:t>
            </a:r>
          </a:p>
          <a:p>
            <a:pPr>
              <a:spcAft>
                <a:spcPts val="600"/>
              </a:spcAft>
            </a:pPr>
            <a:r>
              <a:rPr lang="en-IN" sz="3200" dirty="0">
                <a:solidFill>
                  <a:srgbClr val="000000"/>
                </a:solidFill>
                <a:latin typeface="Times New Roman" panose="02020603050405020304" pitchFamily="18" charset="0"/>
              </a:rPr>
              <a:t>Substitute the value of α + β:</a:t>
            </a:r>
          </a:p>
          <a:p>
            <a:pPr algn="ctr">
              <a:spcAft>
                <a:spcPts val="1650"/>
              </a:spcAft>
              <a:buNone/>
            </a:pPr>
            <a:r>
              <a:rPr lang="en-IN" sz="3200" dirty="0">
                <a:solidFill>
                  <a:srgbClr val="000000"/>
                </a:solidFill>
                <a:latin typeface="Times New Roman" panose="02020603050405020304" pitchFamily="18" charset="0"/>
              </a:rPr>
              <a:t>Sum = −43/17 + 4 = (−43 + 68)/17 = 25/17</a:t>
            </a:r>
          </a:p>
          <a:p>
            <a:pPr algn="ctr">
              <a:spcAft>
                <a:spcPts val="1650"/>
              </a:spcAft>
              <a:buNone/>
            </a:pPr>
            <a:endParaRPr lang="en-IN" sz="3200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E765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085755-A688-0D6F-9247-CB816801F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44F05ED-4C44-D8D7-3F94-F5CCA213243A}"/>
              </a:ext>
            </a:extLst>
          </p:cNvPr>
          <p:cNvSpPr txBox="1"/>
          <p:nvPr/>
        </p:nvSpPr>
        <p:spPr>
          <a:xfrm>
            <a:off x="609600" y="800100"/>
            <a:ext cx="17678400" cy="3988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IN" sz="32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Step 3: Find the product of the new roots</a:t>
            </a:r>
          </a:p>
          <a:p>
            <a:pPr algn="l">
              <a:spcAft>
                <a:spcPts val="600"/>
              </a:spcAft>
              <a:buNone/>
            </a:pPr>
            <a:r>
              <a:rPr lang="en-IN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Product = (α + 2)(β + 2) = αβ + 2α + 2β + 4 = αβ + 2(α + β) + 4</a:t>
            </a:r>
          </a:p>
          <a:p>
            <a:pPr algn="l">
              <a:spcAft>
                <a:spcPts val="600"/>
              </a:spcAft>
              <a:buNone/>
            </a:pPr>
            <a:r>
              <a:rPr lang="en-IN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Substitute the values of αβ and α + β:</a:t>
            </a:r>
          </a:p>
          <a:p>
            <a:pPr algn="ctr">
              <a:spcAft>
                <a:spcPts val="1050"/>
              </a:spcAft>
              <a:buNone/>
            </a:pPr>
            <a:r>
              <a:rPr lang="en-IN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Product = −73/17 + 2 ( −43/17 ) + 4</a:t>
            </a:r>
          </a:p>
          <a:p>
            <a:pPr algn="ctr">
              <a:spcAft>
                <a:spcPts val="300"/>
              </a:spcAft>
              <a:buNone/>
            </a:pPr>
            <a:r>
              <a:rPr lang="en-IN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Product = (−73 − 86)/17 + 4 = −159/17 + 68/17 = −91/17</a:t>
            </a:r>
          </a:p>
          <a:p>
            <a:pPr algn="ctr">
              <a:spcAft>
                <a:spcPts val="300"/>
              </a:spcAft>
              <a:buNone/>
            </a:pPr>
            <a:endParaRPr lang="en-IN" sz="3200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endParaRPr lang="en-IN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870B17-0AF3-38BA-935F-6A33F32507A6}"/>
              </a:ext>
            </a:extLst>
          </p:cNvPr>
          <p:cNvSpPr txBox="1"/>
          <p:nvPr/>
        </p:nvSpPr>
        <p:spPr>
          <a:xfrm>
            <a:off x="381000" y="4125964"/>
            <a:ext cx="1684020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4: Form the new quadratic equation</a:t>
            </a:r>
          </a:p>
          <a:p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formula for a quadratic equation with a known sum and product of roots is:</a:t>
            </a:r>
          </a:p>
          <a:p>
            <a:r>
              <a:rPr lang="en-IN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² − (Sum of roots)</a:t>
            </a:r>
            <a:r>
              <a:rPr lang="en-IN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+ (Product of roots) = 0</a:t>
            </a:r>
          </a:p>
          <a:p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Substitute the new sum and product:</a:t>
            </a:r>
          </a:p>
          <a:p>
            <a:r>
              <a:rPr lang="en-IN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² − 25/17 </a:t>
            </a:r>
            <a:r>
              <a:rPr lang="en-IN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− 91/17 = 0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Multiply the entire equation by 17 to clear the fractions</a:t>
            </a:r>
          </a:p>
          <a:p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17</a:t>
            </a:r>
            <a:r>
              <a:rPr lang="en-IN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² − 25</a:t>
            </a:r>
            <a:r>
              <a:rPr lang="en-IN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− 91 = 0 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quadratic equation with roots</a:t>
            </a:r>
            <a:r>
              <a:rPr lang="en-IN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(α + 2),(β + 2)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84709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E765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D94AC8-CB43-288E-FBC3-E48FC73D6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4CBDCF9-5F65-1543-163F-6D4D40087B5D}"/>
              </a:ext>
            </a:extLst>
          </p:cNvPr>
          <p:cNvSpPr txBox="1"/>
          <p:nvPr/>
        </p:nvSpPr>
        <p:spPr>
          <a:xfrm>
            <a:off x="838200" y="342900"/>
            <a:ext cx="17145000" cy="8204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buNone/>
            </a:pPr>
            <a:r>
              <a:rPr lang="en-IN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2.If α and β are the roots of the quadratic equation 2</a:t>
            </a:r>
            <a:r>
              <a:rPr lang="en-IN" sz="32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x</a:t>
            </a:r>
            <a:r>
              <a:rPr lang="en-IN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² − 7</a:t>
            </a:r>
            <a:r>
              <a:rPr lang="en-IN" sz="32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x</a:t>
            </a:r>
            <a:r>
              <a:rPr lang="en-IN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+ 13 = 0, construct a quadratic equation whose roots are α² and β².</a:t>
            </a:r>
          </a:p>
          <a:p>
            <a:pPr algn="l">
              <a:spcAft>
                <a:spcPts val="300"/>
              </a:spcAft>
              <a:buNone/>
            </a:pPr>
            <a:endParaRPr lang="en-IN" sz="3200" b="1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n-IN" sz="32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Step 1: Find the sum and product of the original roots (α and β)</a:t>
            </a:r>
          </a:p>
          <a:p>
            <a:pPr algn="l">
              <a:spcAft>
                <a:spcPts val="750"/>
              </a:spcAft>
              <a:buNone/>
            </a:pPr>
            <a:r>
              <a:rPr lang="en-IN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Given the equation 2</a:t>
            </a:r>
            <a:r>
              <a:rPr lang="en-IN" sz="32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x</a:t>
            </a:r>
            <a:r>
              <a:rPr lang="en-IN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² − 7</a:t>
            </a:r>
            <a:r>
              <a:rPr lang="en-IN" sz="32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x</a:t>
            </a:r>
            <a:r>
              <a:rPr lang="en-IN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+ 13 = 0:</a:t>
            </a:r>
          </a:p>
          <a:p>
            <a:pPr algn="l">
              <a:spcAft>
                <a:spcPts val="300"/>
              </a:spcAft>
              <a:buNone/>
            </a:pPr>
            <a:r>
              <a:rPr lang="en-IN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•  </a:t>
            </a:r>
            <a:r>
              <a:rPr lang="en-IN" sz="32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Sum of roots (α + β):</a:t>
            </a:r>
            <a:endParaRPr lang="en-IN" sz="3200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algn="ctr">
              <a:spcAft>
                <a:spcPts val="1050"/>
              </a:spcAft>
              <a:buNone/>
            </a:pPr>
            <a:r>
              <a:rPr lang="en-IN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α + β = − (−7/2 )= 7/2</a:t>
            </a:r>
          </a:p>
          <a:p>
            <a:pPr algn="l">
              <a:spcAft>
                <a:spcPts val="300"/>
              </a:spcAft>
              <a:buNone/>
            </a:pPr>
            <a:r>
              <a:rPr lang="en-IN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•  </a:t>
            </a:r>
            <a:r>
              <a:rPr lang="en-IN" sz="32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Product of roots (αβ):</a:t>
            </a:r>
            <a:endParaRPr lang="en-IN" sz="3200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algn="ctr">
              <a:spcAft>
                <a:spcPts val="1500"/>
              </a:spcAft>
              <a:buNone/>
            </a:pPr>
            <a:r>
              <a:rPr lang="en-IN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αβ = 13/2</a:t>
            </a:r>
          </a:p>
          <a:p>
            <a:pPr algn="ctr">
              <a:spcAft>
                <a:spcPts val="1500"/>
              </a:spcAft>
              <a:buNone/>
            </a:pPr>
            <a:endParaRPr lang="en-IN" sz="3200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n-IN" sz="32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Step 2: Find the sum of the </a:t>
            </a:r>
            <a:r>
              <a:rPr lang="en-IN" sz="3200" b="1" i="0" dirty="0">
                <a:effectLst/>
                <a:latin typeface="Times New Roman" panose="02020603050405020304" pitchFamily="18" charset="0"/>
              </a:rPr>
              <a:t>new roots (α² and β²)</a:t>
            </a:r>
          </a:p>
          <a:p>
            <a:pPr algn="l">
              <a:spcAft>
                <a:spcPts val="750"/>
              </a:spcAft>
              <a:buNone/>
            </a:pPr>
            <a:r>
              <a:rPr lang="en-IN" sz="3200" b="0" i="0" dirty="0">
                <a:effectLst/>
                <a:latin typeface="Times New Roman" panose="02020603050405020304" pitchFamily="18" charset="0"/>
              </a:rPr>
              <a:t>Using the algebraic identity α² + β² = (α + β</a:t>
            </a:r>
            <a:r>
              <a:rPr lang="en-IN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)² − 2αβ:</a:t>
            </a:r>
          </a:p>
          <a:p>
            <a:pPr algn="ctr">
              <a:spcAft>
                <a:spcPts val="1050"/>
              </a:spcAft>
              <a:buNone/>
            </a:pPr>
            <a:r>
              <a:rPr lang="en-IN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Sum = ( 7/2 )² − 2 ( 13/2 )</a:t>
            </a:r>
          </a:p>
          <a:p>
            <a:pPr algn="ctr">
              <a:spcAft>
                <a:spcPts val="300"/>
              </a:spcAft>
              <a:buNone/>
            </a:pPr>
            <a:r>
              <a:rPr lang="en-IN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Sum = 49/4 − 13 = (49 − 52)/4 = −3/4</a:t>
            </a:r>
          </a:p>
        </p:txBody>
      </p:sp>
    </p:spTree>
    <p:extLst>
      <p:ext uri="{BB962C8B-B14F-4D97-AF65-F5344CB8AC3E}">
        <p14:creationId xmlns:p14="http://schemas.microsoft.com/office/powerpoint/2010/main" val="16564859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E765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37D526-AF47-B272-3AE5-3D4F28779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382615C-F6ED-3218-788B-415BBADC336F}"/>
              </a:ext>
            </a:extLst>
          </p:cNvPr>
          <p:cNvSpPr txBox="1"/>
          <p:nvPr/>
        </p:nvSpPr>
        <p:spPr>
          <a:xfrm>
            <a:off x="609600" y="495300"/>
            <a:ext cx="17526000" cy="7540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buNone/>
            </a:pPr>
            <a:r>
              <a:rPr lang="en-IN" sz="32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 3: Find the product of the new roots</a:t>
            </a:r>
          </a:p>
          <a:p>
            <a:pPr algn="ctr">
              <a:spcAft>
                <a:spcPts val="1200"/>
              </a:spcAft>
              <a:buNone/>
            </a:pPr>
            <a:r>
              <a:rPr lang="en-IN" sz="32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Product = α²β² = (αβ)²</a:t>
            </a:r>
            <a:endParaRPr lang="en-IN" sz="320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Aft>
                <a:spcPts val="900"/>
              </a:spcAft>
              <a:buNone/>
            </a:pPr>
            <a:r>
              <a:rPr lang="en-IN" sz="32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Substitute the value of αβ:</a:t>
            </a:r>
          </a:p>
          <a:p>
            <a:pPr algn="ctr">
              <a:spcAft>
                <a:spcPts val="1950"/>
              </a:spcAft>
              <a:buNone/>
            </a:pPr>
            <a:r>
              <a:rPr lang="en-IN" sz="32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Product = (13/2)² = 169/4</a:t>
            </a:r>
            <a:endParaRPr lang="en-IN" sz="320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Aft>
                <a:spcPts val="450"/>
              </a:spcAft>
              <a:buNone/>
            </a:pPr>
            <a:r>
              <a:rPr lang="en-IN" sz="32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 4: Form the new quadratic equation</a:t>
            </a:r>
          </a:p>
          <a:p>
            <a:pPr algn="l">
              <a:spcAft>
                <a:spcPts val="900"/>
              </a:spcAft>
              <a:buNone/>
            </a:pPr>
            <a:r>
              <a:rPr lang="en-IN" sz="32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Using the standard equation form:</a:t>
            </a:r>
          </a:p>
          <a:p>
            <a:pPr algn="ctr">
              <a:spcAft>
                <a:spcPts val="1200"/>
              </a:spcAft>
              <a:buNone/>
            </a:pPr>
            <a:r>
              <a:rPr lang="en-IN" sz="32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x² − (Sum of roots)x + (Product of roots) = 0</a:t>
            </a:r>
            <a:endParaRPr lang="en-IN" sz="320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Aft>
                <a:spcPts val="900"/>
              </a:spcAft>
              <a:buNone/>
            </a:pPr>
            <a:r>
              <a:rPr lang="en-IN" sz="32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Substitute the new sum and product values:</a:t>
            </a:r>
          </a:p>
          <a:p>
            <a:pPr algn="ctr">
              <a:spcAft>
                <a:spcPts val="900"/>
              </a:spcAft>
              <a:buNone/>
            </a:pPr>
            <a:r>
              <a:rPr lang="en-IN" sz="32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x² − (−3/4)x + 169/4 = 0</a:t>
            </a:r>
            <a:endParaRPr lang="en-IN" sz="320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Aft>
                <a:spcPts val="1500"/>
              </a:spcAft>
              <a:buNone/>
            </a:pPr>
            <a:r>
              <a:rPr lang="en-IN" sz="32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x² + (3/4)x + 169/4 = 0</a:t>
            </a:r>
            <a:endParaRPr lang="en-IN" sz="320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Aft>
                <a:spcPts val="1050"/>
              </a:spcAft>
              <a:buNone/>
            </a:pPr>
            <a:r>
              <a:rPr lang="en-IN" sz="32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Multiply the entire equation by 4 to clear the fractions</a:t>
            </a:r>
            <a:endParaRPr lang="en-IN" sz="3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1050"/>
              </a:spcAft>
            </a:pPr>
            <a:r>
              <a:rPr lang="en-IN" sz="3200" b="1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4x² + 3x + 169 = 0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is a quadratic equation with roots</a:t>
            </a:r>
            <a:r>
              <a:rPr lang="en-IN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α² , β²</a:t>
            </a:r>
            <a:endParaRPr lang="en-IN" sz="320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9572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E765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8706ED-2A80-64FE-1DFB-E53EFE091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887EE41-B74B-BE5E-5510-5F357101EA84}"/>
              </a:ext>
            </a:extLst>
          </p:cNvPr>
          <p:cNvSpPr txBox="1"/>
          <p:nvPr/>
        </p:nvSpPr>
        <p:spPr>
          <a:xfrm>
            <a:off x="533400" y="135719"/>
            <a:ext cx="17449800" cy="952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350"/>
              </a:spcAft>
              <a:buNone/>
            </a:pPr>
            <a:r>
              <a:rPr lang="en-IN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3.If α, β, and γ are the roots of the cubic equation x³ + px² + </a:t>
            </a:r>
            <a:r>
              <a:rPr lang="en-IN" sz="32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qx</a:t>
            </a:r>
            <a:r>
              <a:rPr lang="en-IN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+ r = 0, find the value of Σ 1/βγ in terms of the coefficients p, q, and r.</a:t>
            </a:r>
          </a:p>
          <a:p>
            <a:pPr algn="l">
              <a:spcAft>
                <a:spcPts val="450"/>
              </a:spcAft>
              <a:buNone/>
            </a:pPr>
            <a:endParaRPr lang="en-IN" sz="3200" b="1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algn="l">
              <a:spcAft>
                <a:spcPts val="450"/>
              </a:spcAft>
              <a:buNone/>
            </a:pPr>
            <a:r>
              <a:rPr lang="en-IN" sz="32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Step 1: Understand Vieta's Formulas for a Cubic Equation</a:t>
            </a:r>
          </a:p>
          <a:p>
            <a:pPr algn="l">
              <a:spcAft>
                <a:spcPts val="900"/>
              </a:spcAft>
              <a:buNone/>
            </a:pPr>
            <a:r>
              <a:rPr lang="en-IN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For any standard cubic equation x³ + px² + </a:t>
            </a:r>
            <a:r>
              <a:rPr lang="en-IN" sz="32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qx</a:t>
            </a:r>
            <a:r>
              <a:rPr lang="en-IN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+ r = 0 with roots α, β, and γ, Vieta's formulas state that:</a:t>
            </a:r>
          </a:p>
          <a:p>
            <a:pPr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Sum of the roots taken one at a time (Σ₁):</a:t>
            </a:r>
          </a:p>
          <a:p>
            <a:pPr algn="ctr">
              <a:spcAft>
                <a:spcPts val="1650"/>
              </a:spcAft>
              <a:buFont typeface="Arial" panose="020B0604020202020204" pitchFamily="34" charset="0"/>
              <a:buChar char="•"/>
            </a:pPr>
            <a:r>
              <a:rPr lang="en-IN" sz="32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Σ₁ = α + β + γ = −p</a:t>
            </a:r>
            <a:endParaRPr lang="en-IN" sz="3200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Sum of the product of roots taken two at a time (Σ₂):</a:t>
            </a:r>
          </a:p>
          <a:p>
            <a:pPr algn="ctr">
              <a:spcAft>
                <a:spcPts val="1650"/>
              </a:spcAft>
              <a:buFont typeface="Arial" panose="020B0604020202020204" pitchFamily="34" charset="0"/>
              <a:buChar char="•"/>
            </a:pPr>
            <a:r>
              <a:rPr lang="en-IN" sz="32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Σ₂ = αβ + βγ + γα = q</a:t>
            </a:r>
            <a:endParaRPr lang="en-IN" sz="3200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Product of all three roots (Σ₃):</a:t>
            </a:r>
          </a:p>
          <a:p>
            <a:pPr algn="ctr">
              <a:spcAft>
                <a:spcPts val="1650"/>
              </a:spcAft>
              <a:buFont typeface="Arial" panose="020B0604020202020204" pitchFamily="34" charset="0"/>
              <a:buChar char="•"/>
            </a:pPr>
            <a:r>
              <a:rPr lang="en-IN" sz="32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Σ₃ = αβγ = −r</a:t>
            </a:r>
            <a:endParaRPr lang="en-IN" sz="3200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algn="l">
              <a:spcAft>
                <a:spcPts val="450"/>
              </a:spcAft>
              <a:buNone/>
            </a:pPr>
            <a:r>
              <a:rPr lang="en-IN" sz="32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Step 2: Expand the Required Sigma (Σ) Notation</a:t>
            </a:r>
          </a:p>
          <a:p>
            <a:pPr algn="l">
              <a:spcAft>
                <a:spcPts val="300"/>
              </a:spcAft>
              <a:buNone/>
            </a:pPr>
            <a:r>
              <a:rPr lang="en-IN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The question asks for the value of Σ 1/βγ.</a:t>
            </a:r>
          </a:p>
          <a:p>
            <a:pPr algn="l">
              <a:spcAft>
                <a:spcPts val="1050"/>
              </a:spcAft>
              <a:buNone/>
            </a:pPr>
            <a:r>
              <a:rPr lang="en-IN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The summation symbol (Σ) implies a symmetric sum over all possible combinations of the roots. For three roots (α, β, γ), this expands to:</a:t>
            </a:r>
          </a:p>
          <a:p>
            <a:pPr algn="ctr">
              <a:buNone/>
            </a:pPr>
            <a:r>
              <a:rPr lang="en-IN" sz="32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Σ 1/βγ = 1/βγ + 1/γα + 1/αβ</a:t>
            </a:r>
            <a:endParaRPr lang="en-IN" sz="3200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57455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E765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7522AF-FFB5-072E-4097-F0359D75B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6192946-82E9-2CCF-9E62-3F206E7A4BBD}"/>
              </a:ext>
            </a:extLst>
          </p:cNvPr>
          <p:cNvSpPr txBox="1"/>
          <p:nvPr/>
        </p:nvSpPr>
        <p:spPr>
          <a:xfrm>
            <a:off x="457200" y="266700"/>
            <a:ext cx="17373600" cy="9517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50"/>
              </a:spcAft>
              <a:buNone/>
            </a:pPr>
            <a:r>
              <a:rPr lang="en-IN" sz="32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Step 3: Simplify the Fractional Expression</a:t>
            </a:r>
          </a:p>
          <a:p>
            <a:pPr algn="l">
              <a:spcAft>
                <a:spcPts val="900"/>
              </a:spcAft>
              <a:buNone/>
            </a:pPr>
            <a:r>
              <a:rPr lang="en-IN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To add these fractions together, find a common denominator, which is the product of all three roots, αβγ: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Multiply the first term (1/βγ) by α/α to get α/αβγ.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Multiply the second term (1/γα) by β/β to get β/αβγ.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Multiply the third term (1/αβ) by γ/γ to get γ/αβγ.</a:t>
            </a:r>
          </a:p>
          <a:p>
            <a:pPr algn="l">
              <a:spcAft>
                <a:spcPts val="900"/>
              </a:spcAft>
              <a:buNone/>
            </a:pPr>
            <a:r>
              <a:rPr lang="en-IN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Combining them over the common denominator gives:</a:t>
            </a:r>
          </a:p>
          <a:p>
            <a:pPr algn="ctr">
              <a:spcAft>
                <a:spcPts val="1950"/>
              </a:spcAft>
              <a:buNone/>
            </a:pPr>
            <a:r>
              <a:rPr lang="en-IN" sz="32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Σ 1/βγ = (α + β + γ) / αβγ</a:t>
            </a:r>
          </a:p>
          <a:p>
            <a:pPr algn="ctr">
              <a:spcAft>
                <a:spcPts val="1950"/>
              </a:spcAft>
              <a:buNone/>
            </a:pPr>
            <a:endParaRPr lang="en-IN" sz="3200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algn="l">
              <a:spcAft>
                <a:spcPts val="450"/>
              </a:spcAft>
              <a:buNone/>
            </a:pPr>
            <a:r>
              <a:rPr lang="en-IN" sz="32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Step 4: Substitute the Known Coefficients</a:t>
            </a:r>
          </a:p>
          <a:p>
            <a:pPr algn="l">
              <a:spcAft>
                <a:spcPts val="750"/>
              </a:spcAft>
              <a:buNone/>
            </a:pPr>
            <a:r>
              <a:rPr lang="en-IN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Now, substitute the expressions found in Step 1: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Substitute α + β + γ = −p into the numerator.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Substitute αβγ = −r into the denominator.</a:t>
            </a:r>
          </a:p>
          <a:p>
            <a:pPr algn="ctr">
              <a:spcAft>
                <a:spcPts val="1200"/>
              </a:spcAft>
              <a:buNone/>
            </a:pPr>
            <a:r>
              <a:rPr lang="en-IN" sz="32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Σ 1/βγ = −p / −r</a:t>
            </a:r>
            <a:endParaRPr lang="en-IN" sz="3200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algn="l">
              <a:spcAft>
                <a:spcPts val="1050"/>
              </a:spcAft>
              <a:buNone/>
            </a:pPr>
            <a:r>
              <a:rPr lang="en-IN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Since the negative signs cancel out, the final simplified answer is:</a:t>
            </a:r>
          </a:p>
          <a:p>
            <a:pPr algn="ctr">
              <a:buNone/>
            </a:pPr>
            <a:r>
              <a:rPr lang="en-IN" sz="3200" b="1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Σ 1/βγ = p/r</a:t>
            </a:r>
            <a:endParaRPr lang="en-IN" sz="3200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7719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E765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57CF72-EA00-6CB4-1F27-71B9806FE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F133915-A419-703E-DFB2-4C25273A2E00}"/>
              </a:ext>
            </a:extLst>
          </p:cNvPr>
          <p:cNvSpPr txBox="1"/>
          <p:nvPr/>
        </p:nvSpPr>
        <p:spPr>
          <a:xfrm>
            <a:off x="419100" y="285760"/>
            <a:ext cx="17449800" cy="791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350"/>
              </a:spcAft>
              <a:buNone/>
            </a:pPr>
            <a:r>
              <a:rPr lang="en-IN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4.Find the sum of the squares of the roots of </a:t>
            </a:r>
            <a:r>
              <a:rPr lang="en-IN" sz="32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ax</a:t>
            </a:r>
            <a:r>
              <a:rPr lang="en-IN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⁴ + bx³ + cx² + dx + e = 0, a ≠ 0.</a:t>
            </a:r>
          </a:p>
          <a:p>
            <a:pPr algn="l">
              <a:spcAft>
                <a:spcPts val="750"/>
              </a:spcAft>
              <a:buNone/>
            </a:pPr>
            <a:endParaRPr lang="en-IN" sz="3200" b="1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algn="l">
              <a:spcAft>
                <a:spcPts val="450"/>
              </a:spcAft>
              <a:buNone/>
            </a:pPr>
            <a:r>
              <a:rPr lang="en-IN" sz="32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Step 1: Identify Vieta's Formulas for a Quartic Equation</a:t>
            </a:r>
          </a:p>
          <a:p>
            <a:pPr algn="l">
              <a:spcAft>
                <a:spcPts val="900"/>
              </a:spcAft>
              <a:buNone/>
            </a:pPr>
            <a:r>
              <a:rPr lang="en-IN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Let the four roots of the given quartic equation be α, β, γ, and δ. According to Vieta's formulas, the relations between the roots and coefficients are:</a:t>
            </a:r>
          </a:p>
          <a:p>
            <a:pPr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Sum of roots taken one at a time (Σ₁):</a:t>
            </a:r>
          </a:p>
          <a:p>
            <a:pPr algn="ctr">
              <a:spcAft>
                <a:spcPts val="1650"/>
              </a:spcAft>
              <a:buFont typeface="Arial" panose="020B0604020202020204" pitchFamily="34" charset="0"/>
              <a:buChar char="•"/>
            </a:pPr>
            <a:r>
              <a:rPr lang="en-IN" sz="32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Σ₁ = α + β + γ + δ = −b/a</a:t>
            </a:r>
            <a:endParaRPr lang="en-IN" sz="3200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Sum of products taken two at a time (Σ₂):</a:t>
            </a:r>
          </a:p>
          <a:p>
            <a:pPr algn="ctr">
              <a:spcAft>
                <a:spcPts val="1650"/>
              </a:spcAft>
              <a:buFont typeface="Arial" panose="020B0604020202020204" pitchFamily="34" charset="0"/>
              <a:buChar char="•"/>
            </a:pPr>
            <a:r>
              <a:rPr lang="en-IN" sz="32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Σ₂ = αβ + αγ + αδ + βγ + βδ + </a:t>
            </a:r>
            <a:r>
              <a:rPr lang="en-IN" sz="3200" b="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γδ</a:t>
            </a:r>
            <a:r>
              <a:rPr lang="en-IN" sz="32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= c/a</a:t>
            </a:r>
            <a:endParaRPr lang="en-IN" sz="3200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Sum of products taken three at a time (Σ₃):</a:t>
            </a:r>
          </a:p>
          <a:p>
            <a:pPr algn="ctr">
              <a:spcAft>
                <a:spcPts val="1650"/>
              </a:spcAft>
              <a:buFont typeface="Arial" panose="020B0604020202020204" pitchFamily="34" charset="0"/>
              <a:buChar char="•"/>
            </a:pPr>
            <a:r>
              <a:rPr lang="en-IN" sz="32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Σ₃ = αβγ + αβδ + α</a:t>
            </a:r>
            <a:r>
              <a:rPr lang="en-IN" sz="3200" b="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γδ</a:t>
            </a:r>
            <a:r>
              <a:rPr lang="en-IN" sz="32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+ β</a:t>
            </a:r>
            <a:r>
              <a:rPr lang="en-IN" sz="3200" b="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γδ</a:t>
            </a:r>
            <a:r>
              <a:rPr lang="en-IN" sz="32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= −d/a</a:t>
            </a:r>
            <a:endParaRPr lang="en-IN" sz="3200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Product of all four roots (Σ₄):</a:t>
            </a:r>
          </a:p>
          <a:p>
            <a:pPr algn="ctr">
              <a:spcAft>
                <a:spcPts val="1650"/>
              </a:spcAft>
              <a:buFont typeface="Arial" panose="020B0604020202020204" pitchFamily="34" charset="0"/>
              <a:buChar char="•"/>
            </a:pPr>
            <a:r>
              <a:rPr lang="en-IN" sz="32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Σ₄ = αβ</a:t>
            </a:r>
            <a:r>
              <a:rPr lang="en-IN" sz="3200" b="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γδ</a:t>
            </a:r>
            <a:r>
              <a:rPr lang="en-IN" sz="32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= e/a</a:t>
            </a:r>
            <a:endParaRPr lang="en-IN" sz="3200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99173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E765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539637-D969-3655-5E97-B84E5D43C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8453B66-F140-E092-2147-DB06C10E67A7}"/>
              </a:ext>
            </a:extLst>
          </p:cNvPr>
          <p:cNvSpPr txBox="1"/>
          <p:nvPr/>
        </p:nvSpPr>
        <p:spPr>
          <a:xfrm>
            <a:off x="762000" y="342900"/>
            <a:ext cx="13716000" cy="91845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50"/>
              </a:spcAft>
            </a:pPr>
            <a:r>
              <a:rPr lang="en-IN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Step 2: Choose the Relevant Algebraic Identity</a:t>
            </a:r>
          </a:p>
          <a:p>
            <a:pPr>
              <a:spcAft>
                <a:spcPts val="300"/>
              </a:spcAft>
            </a:pPr>
            <a:r>
              <a:rPr lang="en-IN" sz="3200" dirty="0">
                <a:solidFill>
                  <a:srgbClr val="000000"/>
                </a:solidFill>
                <a:latin typeface="Times New Roman" panose="02020603050405020304" pitchFamily="18" charset="0"/>
              </a:rPr>
              <a:t>We need to find the sum of the squares of the roots: α² + β² + γ² + δ².</a:t>
            </a:r>
          </a:p>
          <a:p>
            <a:r>
              <a:rPr lang="en-IN" sz="3200" dirty="0">
                <a:solidFill>
                  <a:srgbClr val="000000"/>
                </a:solidFill>
                <a:latin typeface="Times New Roman" panose="02020603050405020304" pitchFamily="18" charset="0"/>
              </a:rPr>
              <a:t>Using the standard algebraic identity for the square of a polynomial with four terms:</a:t>
            </a:r>
            <a:endParaRPr lang="en-IN" sz="3200" b="0" i="1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algn="ctr">
              <a:spcAft>
                <a:spcPts val="1200"/>
              </a:spcAft>
              <a:buNone/>
            </a:pPr>
            <a:r>
              <a:rPr lang="en-IN" sz="32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(a + b + c + d)² ≡ a² + b² + c² + d² + 2(ab + ac + ad + </a:t>
            </a:r>
            <a:r>
              <a:rPr lang="en-IN" sz="3200" b="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bc</a:t>
            </a:r>
            <a:r>
              <a:rPr lang="en-IN" sz="32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+ bd + cd)</a:t>
            </a:r>
            <a:endParaRPr lang="en-IN" sz="3200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algn="l">
              <a:spcAft>
                <a:spcPts val="900"/>
              </a:spcAft>
              <a:buNone/>
            </a:pPr>
            <a:r>
              <a:rPr lang="en-IN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Rearranging this identity to isolate the sum of the squares gives:</a:t>
            </a:r>
          </a:p>
          <a:p>
            <a:pPr algn="ctr">
              <a:spcAft>
                <a:spcPts val="1800"/>
              </a:spcAft>
              <a:buNone/>
            </a:pPr>
            <a:r>
              <a:rPr lang="en-IN" sz="32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α² + β² + γ² + δ² = (α + β + γ + δ)² − 2(αβ + αγ + αδ + βγ + βδ + </a:t>
            </a:r>
            <a:r>
              <a:rPr lang="en-IN" sz="3200" b="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γδ</a:t>
            </a:r>
            <a:r>
              <a:rPr lang="en-IN" sz="32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)</a:t>
            </a:r>
          </a:p>
          <a:p>
            <a:pPr algn="ctr">
              <a:spcAft>
                <a:spcPts val="1800"/>
              </a:spcAft>
              <a:buNone/>
            </a:pPr>
            <a:endParaRPr lang="en-IN" sz="3200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algn="l">
              <a:spcAft>
                <a:spcPts val="450"/>
              </a:spcAft>
              <a:buNone/>
            </a:pPr>
            <a:r>
              <a:rPr lang="en-IN" sz="32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Step 3: Substitute the Coefficients</a:t>
            </a:r>
          </a:p>
          <a:p>
            <a:pPr algn="l">
              <a:spcAft>
                <a:spcPts val="1050"/>
              </a:spcAft>
              <a:buNone/>
            </a:pPr>
            <a:r>
              <a:rPr lang="en-IN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Now, substitute the expressions from Vieta's formulas into our rewritten identity:</a:t>
            </a:r>
          </a:p>
          <a:p>
            <a:pPr algn="ctr">
              <a:spcAft>
                <a:spcPts val="1800"/>
              </a:spcAft>
              <a:buNone/>
            </a:pPr>
            <a:r>
              <a:rPr lang="en-IN" sz="32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α² + β² + γ² + δ² = (−b/a)² − 2(c/a)</a:t>
            </a:r>
            <a:endParaRPr lang="en-IN" sz="3200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algn="l">
              <a:spcAft>
                <a:spcPts val="1050"/>
              </a:spcAft>
              <a:buNone/>
            </a:pPr>
            <a:r>
              <a:rPr lang="en-IN" sz="32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Step 4: Simplify the Final Expression</a:t>
            </a:r>
          </a:p>
          <a:p>
            <a:pPr algn="ctr">
              <a:spcAft>
                <a:spcPts val="1200"/>
              </a:spcAft>
              <a:buNone/>
            </a:pPr>
            <a:r>
              <a:rPr lang="en-IN" sz="32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α² + β² + γ² + δ² = b²/a² − 2c/a</a:t>
            </a:r>
            <a:endParaRPr lang="en-IN" sz="3200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algn="l">
              <a:spcAft>
                <a:spcPts val="1050"/>
              </a:spcAft>
              <a:buNone/>
            </a:pPr>
            <a:r>
              <a:rPr lang="en-IN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To combine these into a single fraction, find a common denominator (a²):</a:t>
            </a:r>
          </a:p>
          <a:p>
            <a:pPr algn="ctr">
              <a:buNone/>
            </a:pPr>
            <a:r>
              <a:rPr lang="en-IN" sz="3200" b="1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α² + β² + γ² + δ² = (b² − 2ac) / a²</a:t>
            </a:r>
            <a:endParaRPr lang="en-IN" sz="3200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75281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E765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FDB227-9300-7C59-4C56-44D77F27E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69FA765-566D-1543-74DD-EE9FA570A023}"/>
              </a:ext>
            </a:extLst>
          </p:cNvPr>
          <p:cNvSpPr txBox="1"/>
          <p:nvPr/>
        </p:nvSpPr>
        <p:spPr>
          <a:xfrm>
            <a:off x="381000" y="190500"/>
            <a:ext cx="17526000" cy="8979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350"/>
              </a:spcAft>
              <a:buNone/>
            </a:pPr>
            <a:r>
              <a:rPr lang="en-IN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5.Find the condition that the roots of the cubic equation x³ + ax² + </a:t>
            </a:r>
            <a:r>
              <a:rPr lang="en-IN" sz="32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bx</a:t>
            </a:r>
            <a:r>
              <a:rPr lang="en-IN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+ c = 0 are in the ratio p : q : r.</a:t>
            </a:r>
          </a:p>
          <a:p>
            <a:pPr algn="l">
              <a:spcAft>
                <a:spcPts val="300"/>
              </a:spcAft>
              <a:buNone/>
            </a:pPr>
            <a:endParaRPr lang="en-IN" sz="3200" b="1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n-IN" sz="32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Step 1: Set Up the Roots</a:t>
            </a:r>
          </a:p>
          <a:p>
            <a:pPr algn="l">
              <a:spcAft>
                <a:spcPts val="300"/>
              </a:spcAft>
              <a:buNone/>
            </a:pPr>
            <a:r>
              <a:rPr lang="en-IN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Since the roots are given in the ratio p : q : r, we can define the actual roots by using a common multiplier constant, λ.</a:t>
            </a:r>
          </a:p>
          <a:p>
            <a:pPr algn="l">
              <a:spcAft>
                <a:spcPts val="1350"/>
              </a:spcAft>
              <a:buNone/>
            </a:pPr>
            <a:r>
              <a:rPr lang="en-IN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Let the roots be </a:t>
            </a:r>
            <a:r>
              <a:rPr lang="en-IN" sz="32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pλ</a:t>
            </a:r>
            <a:r>
              <a:rPr lang="en-IN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, </a:t>
            </a:r>
            <a:r>
              <a:rPr lang="en-IN" sz="32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qλ</a:t>
            </a:r>
            <a:r>
              <a:rPr lang="en-IN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, and </a:t>
            </a:r>
            <a:r>
              <a:rPr lang="en-IN" sz="32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rλ</a:t>
            </a:r>
            <a:r>
              <a:rPr lang="en-IN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.</a:t>
            </a:r>
          </a:p>
          <a:p>
            <a:pPr algn="l">
              <a:spcAft>
                <a:spcPts val="1350"/>
              </a:spcAft>
              <a:buNone/>
            </a:pPr>
            <a:endParaRPr lang="en-IN" sz="3200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n-IN" sz="32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Step 2: Apply Vieta's Formulas</a:t>
            </a:r>
          </a:p>
          <a:p>
            <a:pPr algn="l">
              <a:spcAft>
                <a:spcPts val="1050"/>
              </a:spcAft>
              <a:buNone/>
            </a:pPr>
            <a:r>
              <a:rPr lang="en-IN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For the cubic equation x³ + ax² + </a:t>
            </a:r>
            <a:r>
              <a:rPr lang="en-IN" sz="32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bx</a:t>
            </a:r>
            <a:r>
              <a:rPr lang="en-IN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+ c = 0, Vieta's formulas give us:</a:t>
            </a:r>
          </a:p>
          <a:p>
            <a:pPr algn="l">
              <a:spcAft>
                <a:spcPts val="600"/>
              </a:spcAft>
              <a:buNone/>
            </a:pPr>
            <a:r>
              <a:rPr lang="en-IN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Sum of roots (Σ₁):</a:t>
            </a:r>
          </a:p>
          <a:p>
            <a:pPr algn="ctr">
              <a:spcAft>
                <a:spcPts val="1650"/>
              </a:spcAft>
              <a:buNone/>
            </a:pPr>
            <a:r>
              <a:rPr lang="en-IN" sz="3200" b="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pλ</a:t>
            </a:r>
            <a:r>
              <a:rPr lang="en-IN" sz="32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+ </a:t>
            </a:r>
            <a:r>
              <a:rPr lang="en-IN" sz="3200" b="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qλ</a:t>
            </a:r>
            <a:r>
              <a:rPr lang="en-IN" sz="32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+ </a:t>
            </a:r>
            <a:r>
              <a:rPr lang="en-IN" sz="3200" b="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rλ</a:t>
            </a:r>
            <a:r>
              <a:rPr lang="en-IN" sz="32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= −a   → Equation (1)</a:t>
            </a:r>
            <a:endParaRPr lang="en-IN" sz="3200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algn="l">
              <a:spcAft>
                <a:spcPts val="600"/>
              </a:spcAft>
              <a:buNone/>
            </a:pPr>
            <a:r>
              <a:rPr lang="en-IN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Sum of product of roots taken two at a time (Σ₂):</a:t>
            </a:r>
          </a:p>
          <a:p>
            <a:pPr algn="ctr">
              <a:spcAft>
                <a:spcPts val="1650"/>
              </a:spcAft>
              <a:buNone/>
            </a:pPr>
            <a:r>
              <a:rPr lang="en-IN" sz="32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(</a:t>
            </a:r>
            <a:r>
              <a:rPr lang="en-IN" sz="3200" b="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pλ</a:t>
            </a:r>
            <a:r>
              <a:rPr lang="en-IN" sz="32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)(</a:t>
            </a:r>
            <a:r>
              <a:rPr lang="en-IN" sz="3200" b="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qλ</a:t>
            </a:r>
            <a:r>
              <a:rPr lang="en-IN" sz="32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) + (</a:t>
            </a:r>
            <a:r>
              <a:rPr lang="en-IN" sz="3200" b="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qλ</a:t>
            </a:r>
            <a:r>
              <a:rPr lang="en-IN" sz="32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)(</a:t>
            </a:r>
            <a:r>
              <a:rPr lang="en-IN" sz="3200" b="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rλ</a:t>
            </a:r>
            <a:r>
              <a:rPr lang="en-IN" sz="32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) + (</a:t>
            </a:r>
            <a:r>
              <a:rPr lang="en-IN" sz="3200" b="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rλ</a:t>
            </a:r>
            <a:r>
              <a:rPr lang="en-IN" sz="32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)(</a:t>
            </a:r>
            <a:r>
              <a:rPr lang="en-IN" sz="3200" b="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pλ</a:t>
            </a:r>
            <a:r>
              <a:rPr lang="en-IN" sz="32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) = b   → Equation (2)</a:t>
            </a:r>
            <a:endParaRPr lang="en-IN" sz="3200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algn="l">
              <a:spcAft>
                <a:spcPts val="600"/>
              </a:spcAft>
              <a:buNone/>
            </a:pPr>
            <a:r>
              <a:rPr lang="en-IN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Product of roots (Σ₃):</a:t>
            </a:r>
          </a:p>
          <a:p>
            <a:pPr algn="ctr">
              <a:spcAft>
                <a:spcPts val="1650"/>
              </a:spcAft>
              <a:buNone/>
            </a:pPr>
            <a:r>
              <a:rPr lang="en-IN" sz="32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(</a:t>
            </a:r>
            <a:r>
              <a:rPr lang="en-IN" sz="3200" b="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pλ</a:t>
            </a:r>
            <a:r>
              <a:rPr lang="en-IN" sz="32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)(</a:t>
            </a:r>
            <a:r>
              <a:rPr lang="en-IN" sz="3200" b="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qλ</a:t>
            </a:r>
            <a:r>
              <a:rPr lang="en-IN" sz="32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)(</a:t>
            </a:r>
            <a:r>
              <a:rPr lang="en-IN" sz="3200" b="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rλ</a:t>
            </a:r>
            <a:r>
              <a:rPr lang="en-IN" sz="32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) = −c   → Equation (3)</a:t>
            </a:r>
            <a:endParaRPr lang="en-IN" sz="3200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61301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E765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A33BF9-384C-47E3-0CC1-B754698AE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D9A6ED4-134C-A4B5-ECE3-65F5CB8C88E7}"/>
              </a:ext>
            </a:extLst>
          </p:cNvPr>
          <p:cNvSpPr txBox="1"/>
          <p:nvPr/>
        </p:nvSpPr>
        <p:spPr>
          <a:xfrm>
            <a:off x="533400" y="-22860"/>
            <a:ext cx="17449800" cy="2382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n-IN" sz="32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Step 3: Express λ in Terms of Coefficients</a:t>
            </a:r>
          </a:p>
          <a:p>
            <a:pPr algn="l">
              <a:spcAft>
                <a:spcPts val="1050"/>
              </a:spcAft>
              <a:buNone/>
            </a:pPr>
            <a:r>
              <a:rPr lang="en-IN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From </a:t>
            </a:r>
            <a:r>
              <a:rPr lang="en-IN" sz="32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Equation (1)</a:t>
            </a:r>
            <a:r>
              <a:rPr lang="en-IN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, factor out λ:</a:t>
            </a:r>
          </a:p>
          <a:p>
            <a:pPr algn="ctr">
              <a:spcAft>
                <a:spcPts val="1050"/>
              </a:spcAft>
              <a:buNone/>
            </a:pPr>
            <a:r>
              <a:rPr lang="en-IN" sz="32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λ(p + q + r) = −a</a:t>
            </a:r>
            <a:endParaRPr lang="en-IN" sz="3200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algn="ctr">
              <a:buNone/>
            </a:pPr>
            <a:r>
              <a:rPr lang="en-IN" sz="32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λ = −a / (p + q + r)   → Equation (4)</a:t>
            </a:r>
            <a:endParaRPr lang="en-IN" sz="3200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BF7AE3-3D3A-88E8-186D-5A57B963655A}"/>
              </a:ext>
            </a:extLst>
          </p:cNvPr>
          <p:cNvSpPr txBox="1"/>
          <p:nvPr/>
        </p:nvSpPr>
        <p:spPr>
          <a:xfrm>
            <a:off x="533400" y="2292504"/>
            <a:ext cx="16535400" cy="7994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buNone/>
            </a:pPr>
            <a:r>
              <a:rPr lang="en-IN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From </a:t>
            </a:r>
            <a:r>
              <a:rPr lang="en-IN" sz="32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Equation (3)</a:t>
            </a:r>
            <a:r>
              <a:rPr lang="en-IN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, multiply the terms together:</a:t>
            </a:r>
          </a:p>
          <a:p>
            <a:pPr algn="ctr">
              <a:spcAft>
                <a:spcPts val="900"/>
              </a:spcAft>
              <a:buNone/>
            </a:pPr>
            <a:r>
              <a:rPr lang="en-IN" sz="32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pqrλ³ = −c</a:t>
            </a:r>
            <a:endParaRPr lang="en-IN" sz="3200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algn="ctr">
              <a:spcAft>
                <a:spcPts val="1950"/>
              </a:spcAft>
              <a:buNone/>
            </a:pPr>
            <a:r>
              <a:rPr lang="en-IN" sz="32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λ³ = −c / </a:t>
            </a:r>
            <a:r>
              <a:rPr lang="en-IN" sz="3200" b="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pqr</a:t>
            </a:r>
            <a:r>
              <a:rPr lang="en-IN" sz="32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  → Equation (5)</a:t>
            </a:r>
            <a:endParaRPr lang="en-IN" sz="3200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n-IN" sz="32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Step 4: Substitute λ to Find the Condition</a:t>
            </a:r>
          </a:p>
          <a:p>
            <a:pPr algn="l">
              <a:spcAft>
                <a:spcPts val="1050"/>
              </a:spcAft>
              <a:buNone/>
            </a:pPr>
            <a:r>
              <a:rPr lang="en-IN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To eliminate the constant λ and establish the final condition, substitute the value of λ from </a:t>
            </a:r>
            <a:r>
              <a:rPr lang="en-IN" sz="32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Equation (4)</a:t>
            </a:r>
            <a:r>
              <a:rPr lang="en-IN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into </a:t>
            </a:r>
            <a:r>
              <a:rPr lang="en-IN" sz="32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Equation (5)</a:t>
            </a:r>
            <a:r>
              <a:rPr lang="en-IN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:</a:t>
            </a:r>
          </a:p>
          <a:p>
            <a:pPr algn="ctr">
              <a:spcAft>
                <a:spcPts val="1200"/>
              </a:spcAft>
              <a:buNone/>
            </a:pPr>
            <a:r>
              <a:rPr lang="en-IN" sz="32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(−a / (p + q + r))³ = −c / </a:t>
            </a:r>
            <a:r>
              <a:rPr lang="en-IN" sz="3200" b="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pqr</a:t>
            </a:r>
            <a:endParaRPr lang="en-IN" sz="3200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algn="l">
              <a:spcAft>
                <a:spcPts val="900"/>
              </a:spcAft>
              <a:buNone/>
            </a:pPr>
            <a:r>
              <a:rPr lang="en-IN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Simplify the cubed term on the left side:</a:t>
            </a:r>
          </a:p>
          <a:p>
            <a:pPr algn="ctr">
              <a:spcAft>
                <a:spcPts val="1200"/>
              </a:spcAft>
              <a:buNone/>
            </a:pPr>
            <a:r>
              <a:rPr lang="en-IN" sz="32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−a³ / (p + q + r)³ = −c / </a:t>
            </a:r>
            <a:r>
              <a:rPr lang="en-IN" sz="3200" b="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pqr</a:t>
            </a:r>
            <a:endParaRPr lang="en-IN" sz="3200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algn="l">
              <a:spcAft>
                <a:spcPts val="900"/>
              </a:spcAft>
              <a:buNone/>
            </a:pPr>
            <a:r>
              <a:rPr lang="en-IN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Cancel out the negative signs on both sides:</a:t>
            </a:r>
          </a:p>
          <a:p>
            <a:pPr algn="ctr">
              <a:spcAft>
                <a:spcPts val="1200"/>
              </a:spcAft>
              <a:buNone/>
            </a:pPr>
            <a:r>
              <a:rPr lang="en-IN" sz="32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a³ / (p + q + r)³ = c / </a:t>
            </a:r>
            <a:r>
              <a:rPr lang="en-IN" sz="3200" b="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pqr</a:t>
            </a:r>
            <a:endParaRPr lang="en-IN" sz="3200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algn="l">
              <a:spcAft>
                <a:spcPts val="1050"/>
              </a:spcAft>
              <a:buNone/>
            </a:pPr>
            <a:r>
              <a:rPr lang="en-IN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Cross-multiply to get the final required condition:</a:t>
            </a:r>
          </a:p>
          <a:p>
            <a:pPr algn="ctr">
              <a:buNone/>
            </a:pPr>
            <a:r>
              <a:rPr lang="en-IN" sz="3200" b="1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pqra³ = c(p + q + r)³</a:t>
            </a:r>
            <a:endParaRPr lang="en-IN" sz="3200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20834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E765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1A6338-C9A7-8682-F6F3-325E86E03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9A3D54D-FD83-89F4-E961-617A8374202A}"/>
              </a:ext>
            </a:extLst>
          </p:cNvPr>
          <p:cNvSpPr txBox="1"/>
          <p:nvPr/>
        </p:nvSpPr>
        <p:spPr>
          <a:xfrm>
            <a:off x="228600" y="190500"/>
            <a:ext cx="17830800" cy="9651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350"/>
              </a:spcAft>
              <a:buNone/>
            </a:pPr>
            <a:r>
              <a:rPr lang="en-IN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6.Form the equation whose roots are the squares of the roots of the cubic equation x³ + ax² + </a:t>
            </a:r>
            <a:r>
              <a:rPr lang="en-IN" sz="32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bx</a:t>
            </a:r>
            <a:r>
              <a:rPr lang="en-IN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+ c = 0.</a:t>
            </a:r>
          </a:p>
          <a:p>
            <a:pPr algn="l">
              <a:spcAft>
                <a:spcPts val="1350"/>
              </a:spcAft>
              <a:buNone/>
            </a:pPr>
            <a:endParaRPr lang="en-IN" sz="3200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n-IN" sz="32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Step 1: Write Vieta's formulas for the original cubic equation</a:t>
            </a:r>
          </a:p>
          <a:p>
            <a:pPr algn="l">
              <a:spcAft>
                <a:spcPts val="900"/>
              </a:spcAft>
              <a:buNone/>
            </a:pPr>
            <a:r>
              <a:rPr lang="en-IN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Let α, β, and γ be the roots of the given cubic equation x³ + ax² + </a:t>
            </a:r>
            <a:r>
              <a:rPr lang="en-IN" sz="32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bx</a:t>
            </a:r>
            <a:r>
              <a:rPr lang="en-IN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+ c = 0. Using Vieta's formulas, we establish relationships between these roots and the given coefficients:</a:t>
            </a:r>
          </a:p>
          <a:p>
            <a:pPr algn="l">
              <a:spcAft>
                <a:spcPts val="525"/>
              </a:spcAft>
              <a:buFont typeface="Arial" panose="020B0604020202020204" pitchFamily="34" charset="0"/>
              <a:buChar char="•"/>
            </a:pPr>
            <a:r>
              <a:rPr lang="en-IN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Sum of the roots (Σ₁):</a:t>
            </a:r>
          </a:p>
          <a:p>
            <a:pPr algn="ctr">
              <a:spcAft>
                <a:spcPts val="1650"/>
              </a:spcAft>
              <a:buFont typeface="Arial" panose="020B0604020202020204" pitchFamily="34" charset="0"/>
              <a:buChar char="•"/>
            </a:pPr>
            <a:r>
              <a:rPr lang="en-IN" sz="32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Σ₁ = α + β + γ = −a   → (1)</a:t>
            </a:r>
            <a:endParaRPr lang="en-IN" sz="3200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algn="l">
              <a:spcAft>
                <a:spcPts val="525"/>
              </a:spcAft>
              <a:buFont typeface="Arial" panose="020B0604020202020204" pitchFamily="34" charset="0"/>
              <a:buChar char="•"/>
            </a:pPr>
            <a:r>
              <a:rPr lang="en-IN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Sum of the product of roots taken two at a time (Σ₂):</a:t>
            </a:r>
          </a:p>
          <a:p>
            <a:pPr algn="ctr">
              <a:spcAft>
                <a:spcPts val="1650"/>
              </a:spcAft>
              <a:buFont typeface="Arial" panose="020B0604020202020204" pitchFamily="34" charset="0"/>
              <a:buChar char="•"/>
            </a:pPr>
            <a:r>
              <a:rPr lang="en-IN" sz="32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Σ₂ = αβ + βγ + γα = b   → (2)</a:t>
            </a:r>
            <a:endParaRPr lang="en-IN" sz="3200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algn="l">
              <a:spcAft>
                <a:spcPts val="525"/>
              </a:spcAft>
              <a:buFont typeface="Arial" panose="020B0604020202020204" pitchFamily="34" charset="0"/>
              <a:buChar char="•"/>
            </a:pPr>
            <a:r>
              <a:rPr lang="en-IN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Product of all three roots (Σ₃):</a:t>
            </a:r>
          </a:p>
          <a:p>
            <a:pPr algn="ctr">
              <a:spcAft>
                <a:spcPts val="1650"/>
              </a:spcAft>
              <a:buFont typeface="Arial" panose="020B0604020202020204" pitchFamily="34" charset="0"/>
              <a:buChar char="•"/>
            </a:pPr>
            <a:r>
              <a:rPr lang="en-IN" sz="32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Σ₃ = αβγ = −c   → (3)</a:t>
            </a:r>
            <a:endParaRPr lang="en-IN" sz="3200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algn="l">
              <a:spcAft>
                <a:spcPts val="450"/>
              </a:spcAft>
              <a:buNone/>
            </a:pPr>
            <a:r>
              <a:rPr lang="en-IN" sz="32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Step 2: Find the new symmetric sums for the roots α², β², and γ²</a:t>
            </a:r>
          </a:p>
          <a:p>
            <a:pPr algn="l">
              <a:spcAft>
                <a:spcPts val="1050"/>
              </a:spcAft>
              <a:buNone/>
            </a:pPr>
            <a:r>
              <a:rPr lang="en-IN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To build the new cubic equation, we need to calculate its new Vieta coefficients (Σ₁′, Σ₂′, Σ₃′).</a:t>
            </a:r>
          </a:p>
          <a:p>
            <a:pPr algn="l">
              <a:spcAft>
                <a:spcPts val="300"/>
              </a:spcAft>
              <a:buNone/>
            </a:pPr>
            <a:r>
              <a:rPr lang="en-IN" sz="32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New Sum (Σ₁′):</a:t>
            </a:r>
          </a:p>
          <a:p>
            <a:pPr algn="l">
              <a:spcAft>
                <a:spcPts val="600"/>
              </a:spcAft>
              <a:buNone/>
            </a:pPr>
            <a:r>
              <a:rPr lang="en-IN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Using the standard identity α² + β² + γ² = (α + β + γ)² − 2(αβ + βγ + γα):</a:t>
            </a:r>
          </a:p>
          <a:p>
            <a:pPr algn="ctr">
              <a:buNone/>
            </a:pPr>
            <a:r>
              <a:rPr lang="en-IN" sz="32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Σ₁′ = α² + β² + γ² = (−a)² − 2(b) = a² − 2b</a:t>
            </a:r>
            <a:endParaRPr lang="en-IN" sz="3200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50824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E765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32316A-1737-4482-A2E1-C724B5DA3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A41827E-49D8-AB49-D3C2-5A473F0B9049}"/>
              </a:ext>
            </a:extLst>
          </p:cNvPr>
          <p:cNvSpPr txBox="1"/>
          <p:nvPr/>
        </p:nvSpPr>
        <p:spPr>
          <a:xfrm>
            <a:off x="472440" y="266700"/>
            <a:ext cx="17602200" cy="1685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n-IN" sz="32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New Product taken two at a time (Σ₂′):</a:t>
            </a:r>
          </a:p>
          <a:p>
            <a:pPr algn="l">
              <a:spcAft>
                <a:spcPts val="600"/>
              </a:spcAft>
              <a:buNone/>
            </a:pPr>
            <a:r>
              <a:rPr lang="en-IN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Using the same algebraic squaring identity, applied to the pairs (αβ), (βγ), and (γα):</a:t>
            </a:r>
          </a:p>
          <a:p>
            <a:pPr algn="ctr">
              <a:buNone/>
            </a:pPr>
            <a:r>
              <a:rPr lang="en-IN" sz="32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α²β² + β²γ² + γ²α² = (αβ + βγ + γα)² − 2((αβ)(βγ) + (βγ)(γα) +</a:t>
            </a:r>
            <a:r>
              <a:rPr lang="en-IN" sz="32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 (γα)(αβ))</a:t>
            </a:r>
            <a:endParaRPr lang="en-IN" sz="3200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F263D8-B34C-4DAC-225C-2D93AEFAE7A8}"/>
              </a:ext>
            </a:extLst>
          </p:cNvPr>
          <p:cNvSpPr txBox="1"/>
          <p:nvPr/>
        </p:nvSpPr>
        <p:spPr>
          <a:xfrm>
            <a:off x="457200" y="2097355"/>
            <a:ext cx="16687800" cy="74892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50"/>
              </a:spcAft>
              <a:buNone/>
            </a:pPr>
            <a:r>
              <a:rPr lang="en-IN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Factoring out the common term 2αβγ from the end:</a:t>
            </a:r>
          </a:p>
          <a:p>
            <a:pPr algn="ctr">
              <a:spcAft>
                <a:spcPts val="1050"/>
              </a:spcAft>
              <a:buNone/>
            </a:pPr>
            <a:r>
              <a:rPr lang="en-IN" sz="32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Σ₂′ = (αβ + βγ + γα)² − 2αβγ(β + γ + α)</a:t>
            </a:r>
            <a:endParaRPr lang="en-IN" sz="3200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algn="l">
              <a:spcAft>
                <a:spcPts val="750"/>
              </a:spcAft>
              <a:buNone/>
            </a:pPr>
            <a:r>
              <a:rPr lang="en-IN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Substituting the values from equations (1), (2), and (3):</a:t>
            </a:r>
          </a:p>
          <a:p>
            <a:pPr algn="ctr">
              <a:spcAft>
                <a:spcPts val="1650"/>
              </a:spcAft>
              <a:buNone/>
            </a:pPr>
            <a:r>
              <a:rPr lang="en-IN" sz="32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Σ₂′ = (b)² − 2(−c)(−a) = b² − 2ca</a:t>
            </a:r>
            <a:endParaRPr lang="en-IN" sz="3200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algn="l">
              <a:spcAft>
                <a:spcPts val="600"/>
              </a:spcAft>
              <a:buNone/>
            </a:pPr>
            <a:r>
              <a:rPr lang="en-IN" sz="32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New Product (Σ₃′):</a:t>
            </a:r>
          </a:p>
          <a:p>
            <a:pPr algn="ctr">
              <a:spcAft>
                <a:spcPts val="1800"/>
              </a:spcAft>
              <a:buNone/>
            </a:pPr>
            <a:r>
              <a:rPr lang="en-IN" sz="32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Σ₃′ = α²β²γ² = (αβγ)² = (−c)² = c²</a:t>
            </a:r>
            <a:endParaRPr lang="en-IN" sz="3200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algn="l">
              <a:spcAft>
                <a:spcPts val="450"/>
              </a:spcAft>
              <a:buNone/>
            </a:pPr>
            <a:r>
              <a:rPr lang="en-IN" sz="32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Step 3: Form the required cubic equation</a:t>
            </a:r>
          </a:p>
          <a:p>
            <a:pPr algn="l">
              <a:spcAft>
                <a:spcPts val="900"/>
              </a:spcAft>
              <a:buNone/>
            </a:pPr>
            <a:r>
              <a:rPr lang="en-IN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The standard structure for a cubic equation with known symmetric sums is:</a:t>
            </a:r>
          </a:p>
          <a:p>
            <a:pPr algn="ctr">
              <a:spcAft>
                <a:spcPts val="1200"/>
              </a:spcAft>
              <a:buNone/>
            </a:pPr>
            <a:r>
              <a:rPr lang="en-IN" sz="32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x³ − (Σ₁′)x² + (Σ₂′)x − Σ₃′ = 0</a:t>
            </a:r>
            <a:endParaRPr lang="en-IN" sz="3200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algn="l">
              <a:spcAft>
                <a:spcPts val="1050"/>
              </a:spcAft>
              <a:buNone/>
            </a:pPr>
            <a:r>
              <a:rPr lang="en-IN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Substituting our derived values for Σ₁′, Σ₂′, and Σ₃′ yields:</a:t>
            </a:r>
          </a:p>
          <a:p>
            <a:pPr algn="ctr">
              <a:spcAft>
                <a:spcPts val="1050"/>
              </a:spcAft>
              <a:buNone/>
            </a:pPr>
            <a:r>
              <a:rPr lang="en-IN" sz="32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x³ − (α² + β² + γ²)x² + (α²β² + β²γ² + γ²α²)x − α²β²γ² = 0</a:t>
            </a:r>
            <a:endParaRPr lang="en-IN" sz="3200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algn="ctr">
              <a:buNone/>
            </a:pPr>
            <a:r>
              <a:rPr lang="en-IN" sz="3200" b="1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x³ − (a² − 2b)x² + (b² − 2ca)x − c² = 0</a:t>
            </a:r>
            <a:endParaRPr lang="en-IN" sz="3200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50555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E765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013370-81B4-6B9F-4104-129FCF6DA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C4F6F1F-38B5-1FE1-3B5E-A9EDD609514A}"/>
              </a:ext>
            </a:extLst>
          </p:cNvPr>
          <p:cNvSpPr txBox="1"/>
          <p:nvPr/>
        </p:nvSpPr>
        <p:spPr>
          <a:xfrm>
            <a:off x="304800" y="190500"/>
            <a:ext cx="17830800" cy="949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350"/>
              </a:spcAft>
              <a:buNone/>
            </a:pPr>
            <a:r>
              <a:rPr lang="en-IN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7.If p is real, discuss the nature of the roots of the equation 4x² + 4px + p + 2 = 0, in terms of p.</a:t>
            </a:r>
          </a:p>
          <a:p>
            <a:pPr algn="l">
              <a:spcAft>
                <a:spcPts val="300"/>
              </a:spcAft>
              <a:buNone/>
            </a:pPr>
            <a:endParaRPr lang="en-IN" sz="3200" b="1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n-IN" sz="32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Step 1: Calculate the Discriminant (Δ)</a:t>
            </a:r>
          </a:p>
          <a:p>
            <a:pPr algn="l">
              <a:spcAft>
                <a:spcPts val="300"/>
              </a:spcAft>
              <a:buNone/>
            </a:pPr>
            <a:r>
              <a:rPr lang="en-IN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The nature of the roots of a quadratic equation Ax² + </a:t>
            </a:r>
            <a:r>
              <a:rPr lang="en-IN" sz="32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Bx</a:t>
            </a:r>
            <a:r>
              <a:rPr lang="en-IN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+ C = 0 is determined by its discriminant, Δ = B² − 4AC.</a:t>
            </a:r>
          </a:p>
          <a:p>
            <a:pPr algn="l">
              <a:spcAft>
                <a:spcPts val="1050"/>
              </a:spcAft>
              <a:buNone/>
            </a:pPr>
            <a:r>
              <a:rPr lang="en-IN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From the given equation, we have A = 4, B = 4p, and C = p + 2.</a:t>
            </a:r>
          </a:p>
          <a:p>
            <a:pPr algn="ctr">
              <a:spcAft>
                <a:spcPts val="750"/>
              </a:spcAft>
              <a:buNone/>
            </a:pPr>
            <a:r>
              <a:rPr lang="en-IN" sz="32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Δ = (4p)² − 4(4)(p + 2)</a:t>
            </a:r>
            <a:endParaRPr lang="en-IN" sz="3200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algn="ctr">
              <a:spcAft>
                <a:spcPts val="750"/>
              </a:spcAft>
              <a:buNone/>
            </a:pPr>
            <a:r>
              <a:rPr lang="en-IN" sz="32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Δ = 16p² − 16(p + 2)</a:t>
            </a:r>
            <a:endParaRPr lang="en-IN" sz="3200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algn="ctr">
              <a:spcAft>
                <a:spcPts val="1200"/>
              </a:spcAft>
              <a:buNone/>
            </a:pPr>
            <a:r>
              <a:rPr lang="en-IN" sz="32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Δ = 16(p² − p − 2)</a:t>
            </a:r>
            <a:endParaRPr lang="en-IN" sz="3200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algn="l">
              <a:spcAft>
                <a:spcPts val="750"/>
              </a:spcAft>
              <a:buNone/>
            </a:pPr>
            <a:r>
              <a:rPr lang="en-IN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Factor the quadratic expression inside the parentheses:</a:t>
            </a:r>
          </a:p>
          <a:p>
            <a:pPr algn="ctr">
              <a:spcAft>
                <a:spcPts val="750"/>
              </a:spcAft>
              <a:buNone/>
            </a:pPr>
            <a:r>
              <a:rPr lang="en-IN" sz="32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p² − p − 2 = (p + 1)(p − 2)</a:t>
            </a:r>
            <a:endParaRPr lang="en-IN" sz="3200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algn="ctr">
              <a:spcAft>
                <a:spcPts val="1800"/>
              </a:spcAft>
              <a:buNone/>
            </a:pPr>
            <a:r>
              <a:rPr lang="en-IN" sz="32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Δ = 16(p + 1)(p − 2)</a:t>
            </a:r>
          </a:p>
          <a:p>
            <a:pPr algn="ctr">
              <a:spcAft>
                <a:spcPts val="1800"/>
              </a:spcAft>
              <a:buNone/>
            </a:pPr>
            <a:endParaRPr lang="en-IN" sz="3200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algn="l">
              <a:spcAft>
                <a:spcPts val="450"/>
              </a:spcAft>
              <a:buNone/>
            </a:pPr>
            <a:r>
              <a:rPr lang="en-IN" sz="32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Step 2: </a:t>
            </a:r>
            <a:r>
              <a:rPr lang="en-IN" sz="3200" b="1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Analyze</a:t>
            </a:r>
            <a:r>
              <a:rPr lang="en-IN" sz="32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the sign of the Discriminant</a:t>
            </a:r>
          </a:p>
          <a:p>
            <a:pPr algn="l">
              <a:spcAft>
                <a:spcPts val="900"/>
              </a:spcAft>
              <a:buNone/>
            </a:pPr>
            <a:r>
              <a:rPr lang="en-IN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The roots change nature based on whether Δ is negative, zero, or positive. The critical boundary points where Δ = 0 are at p = −1 and p = 2.</a:t>
            </a:r>
          </a:p>
        </p:txBody>
      </p:sp>
    </p:spTree>
    <p:extLst>
      <p:ext uri="{BB962C8B-B14F-4D97-AF65-F5344CB8AC3E}">
        <p14:creationId xmlns:p14="http://schemas.microsoft.com/office/powerpoint/2010/main" val="9896711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E765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37C73E-FC92-0707-EFBF-25D3ADF32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F0C508C-83E3-B837-44EB-D95C13F7D185}"/>
              </a:ext>
            </a:extLst>
          </p:cNvPr>
          <p:cNvSpPr txBox="1"/>
          <p:nvPr/>
        </p:nvSpPr>
        <p:spPr>
          <a:xfrm>
            <a:off x="457200" y="266700"/>
            <a:ext cx="17297400" cy="1685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sz="32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Case 1: Δ &lt; 0 (Negative)</a:t>
            </a:r>
          </a:p>
          <a:p>
            <a:pPr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The product (p + 1)(p − 2) is negative when p lies between the boundary roots.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en-IN" sz="32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Δ &lt; 0    if    −1 &lt; p &lt; 2</a:t>
            </a:r>
            <a:endParaRPr lang="en-IN" sz="3200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72E43A-7933-7D5F-A60F-3996E7DC7CEA}"/>
              </a:ext>
            </a:extLst>
          </p:cNvPr>
          <p:cNvSpPr txBox="1"/>
          <p:nvPr/>
        </p:nvSpPr>
        <p:spPr>
          <a:xfrm>
            <a:off x="533400" y="2400300"/>
            <a:ext cx="17602200" cy="7207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sz="32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Case 2: Δ = 0 (Zero)</a:t>
            </a:r>
          </a:p>
          <a:p>
            <a:pPr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The expression becomes zero exactly at the boundary values.</a:t>
            </a:r>
          </a:p>
          <a:p>
            <a:pPr algn="ctr">
              <a:spcAft>
                <a:spcPts val="1950"/>
              </a:spcAft>
              <a:buFont typeface="Arial" panose="020B0604020202020204" pitchFamily="34" charset="0"/>
              <a:buChar char="•"/>
            </a:pPr>
            <a:r>
              <a:rPr lang="en-IN" sz="32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Δ = 0    if    p = −1    or    p = 2</a:t>
            </a:r>
            <a:endParaRPr lang="en-IN" sz="3200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sz="32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Case 3: Δ &gt; 0 (Positive)</a:t>
            </a:r>
          </a:p>
          <a:p>
            <a:pPr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The product (p + 1)(p − 2) is positive when p is strictly outside the boundary interval.</a:t>
            </a:r>
          </a:p>
          <a:p>
            <a:pPr algn="ctr">
              <a:spcAft>
                <a:spcPts val="1950"/>
              </a:spcAft>
              <a:buFont typeface="Arial" panose="020B0604020202020204" pitchFamily="34" charset="0"/>
              <a:buChar char="•"/>
            </a:pPr>
            <a:r>
              <a:rPr lang="en-IN" sz="32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Δ &gt; 0    if    −∞ &lt; p &lt; −1    or    2 &lt; p &lt; ∞</a:t>
            </a:r>
          </a:p>
          <a:p>
            <a:pPr algn="ctr">
              <a:spcAft>
                <a:spcPts val="1950"/>
              </a:spcAft>
            </a:pPr>
            <a:endParaRPr lang="en-IN" sz="3200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algn="l">
              <a:spcAft>
                <a:spcPts val="450"/>
              </a:spcAft>
              <a:buNone/>
            </a:pPr>
            <a:r>
              <a:rPr lang="en-IN" sz="32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Step 3: State the Final Conclusion</a:t>
            </a:r>
          </a:p>
          <a:p>
            <a:pPr algn="l">
              <a:spcAft>
                <a:spcPts val="1050"/>
              </a:spcAft>
              <a:buNone/>
            </a:pPr>
            <a:r>
              <a:rPr lang="en-IN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By linking the sign of Δ to the properties of quadratic roots, we reach the final classification:</a:t>
            </a:r>
          </a:p>
          <a:p>
            <a:pPr algn="l">
              <a:buNone/>
            </a:pPr>
            <a:r>
              <a:rPr lang="en-IN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The equation has </a:t>
            </a:r>
            <a:r>
              <a:rPr lang="en-IN" sz="32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imaginary roots</a:t>
            </a:r>
            <a:r>
              <a:rPr lang="en-IN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if −1 &lt; p &lt; 2.</a:t>
            </a:r>
          </a:p>
          <a:p>
            <a:pPr algn="l">
              <a:buNone/>
            </a:pPr>
            <a:r>
              <a:rPr lang="en-IN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The equation has </a:t>
            </a:r>
            <a:r>
              <a:rPr lang="en-IN" sz="32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equal real roots</a:t>
            </a:r>
            <a:r>
              <a:rPr lang="en-IN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if p = −1 or p = 2.</a:t>
            </a:r>
          </a:p>
          <a:p>
            <a:pPr algn="l">
              <a:buNone/>
            </a:pPr>
            <a:r>
              <a:rPr lang="en-IN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The equation has </a:t>
            </a:r>
            <a:r>
              <a:rPr lang="en-IN" sz="32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distinct real roots</a:t>
            </a:r>
            <a:r>
              <a:rPr lang="en-IN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if −∞ &lt; p &lt; −1 or 2 &lt; p &lt; ∞.</a:t>
            </a:r>
          </a:p>
        </p:txBody>
      </p:sp>
    </p:spTree>
    <p:extLst>
      <p:ext uri="{BB962C8B-B14F-4D97-AF65-F5344CB8AC3E}">
        <p14:creationId xmlns:p14="http://schemas.microsoft.com/office/powerpoint/2010/main" val="21315523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</TotalTime>
  <Words>2689</Words>
  <Application>Microsoft Office PowerPoint</Application>
  <PresentationFormat>Custom</PresentationFormat>
  <Paragraphs>201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Simultaneous Equations Presentation</dc:title>
  <dc:creator>DIVYA V</dc:creator>
  <cp:lastModifiedBy>Nava shree</cp:lastModifiedBy>
  <cp:revision>9</cp:revision>
  <dcterms:created xsi:type="dcterms:W3CDTF">2006-08-16T00:00:00Z</dcterms:created>
  <dcterms:modified xsi:type="dcterms:W3CDTF">2026-06-14T06:13:07Z</dcterms:modified>
  <dc:identifier>DAHGig2iV78</dc:identifier>
</cp:coreProperties>
</file>