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9" r:id="rId3"/>
    <p:sldId id="260" r:id="rId4"/>
    <p:sldId id="263" r:id="rId5"/>
    <p:sldId id="262" r:id="rId6"/>
    <p:sldId id="264" r:id="rId7"/>
    <p:sldId id="271" r:id="rId8"/>
    <p:sldId id="270" r:id="rId9"/>
    <p:sldId id="274" r:id="rId10"/>
    <p:sldId id="289" r:id="rId11"/>
    <p:sldId id="291" r:id="rId12"/>
    <p:sldId id="280" r:id="rId13"/>
    <p:sldId id="281" r:id="rId14"/>
    <p:sldId id="261" r:id="rId15"/>
    <p:sldId id="282" r:id="rId16"/>
    <p:sldId id="285" r:id="rId17"/>
    <p:sldId id="284" r:id="rId18"/>
    <p:sldId id="283" r:id="rId19"/>
    <p:sldId id="286" r:id="rId20"/>
    <p:sldId id="290" r:id="rId21"/>
    <p:sldId id="294" r:id="rId22"/>
    <p:sldId id="297" r:id="rId23"/>
    <p:sldId id="293" r:id="rId24"/>
    <p:sldId id="292" r:id="rId25"/>
  </p:sldIdLst>
  <p:sldSz cx="18288000" cy="10287000"/>
  <p:notesSz cx="6858000" cy="9144000"/>
  <p:embeddedFontLst>
    <p:embeddedFont>
      <p:font typeface="Roboto" panose="02000000000000000000" pitchFamily="2" charset="0"/>
      <p:regular r:id="rId26"/>
      <p:bold r:id="rId27"/>
      <p:italic r:id="rId28"/>
      <p:boldItalic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font" Target="fonts/font1.fntdata"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tableStyles" Target="tableStyles.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font" Target="fonts/font4.fntdata"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32" Type="http://schemas.openxmlformats.org/officeDocument/2006/relationships/theme" Target="theme/theme1.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font" Target="fonts/font3.fntdata" /><Relationship Id="rId10" Type="http://schemas.openxmlformats.org/officeDocument/2006/relationships/slide" Target="slides/slide9.xml" /><Relationship Id="rId19" Type="http://schemas.openxmlformats.org/officeDocument/2006/relationships/slide" Target="slides/slide18.xml" /><Relationship Id="rId31"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font" Target="fonts/font2.fntdata" /><Relationship Id="rId30" Type="http://schemas.openxmlformats.org/officeDocument/2006/relationships/presProps" Target="presProps.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 /><Relationship Id="rId2" Type="http://schemas.openxmlformats.org/officeDocument/2006/relationships/image" Target="../media/image1.svg" /><Relationship Id="rId1" Type="http://schemas.openxmlformats.org/officeDocument/2006/relationships/slideLayout" Target="../slideLayouts/slideLayout7.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1.xml.rels><?xml version="1.0" encoding="UTF-8" standalone="yes"?>
<Relationships xmlns="http://schemas.openxmlformats.org/package/2006/relationships"><Relationship Id="rId2" Type="http://schemas.openxmlformats.org/officeDocument/2006/relationships/image" Target="../media/image3.png" /><Relationship Id="rId1" Type="http://schemas.openxmlformats.org/officeDocument/2006/relationships/slideLayout" Target="../slideLayouts/slideLayout7.xml" /></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DF4F4"/>
        </a:solidFill>
        <a:effectLst/>
      </p:bgPr>
    </p:bg>
    <p:spTree>
      <p:nvGrpSpPr>
        <p:cNvPr id="1" name=""/>
        <p:cNvGrpSpPr/>
        <p:nvPr/>
      </p:nvGrpSpPr>
      <p:grpSpPr>
        <a:xfrm>
          <a:off x="0" y="0"/>
          <a:ext cx="0" cy="0"/>
          <a:chOff x="0" y="0"/>
          <a:chExt cx="0" cy="0"/>
        </a:xfrm>
      </p:grpSpPr>
      <p:grpSp>
        <p:nvGrpSpPr>
          <p:cNvPr id="2" name="Group 2"/>
          <p:cNvGrpSpPr/>
          <p:nvPr/>
        </p:nvGrpSpPr>
        <p:grpSpPr>
          <a:xfrm>
            <a:off x="-383607" y="5364806"/>
            <a:ext cx="4922194" cy="4922194"/>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D9677"/>
            </a:solidFill>
          </p:spPr>
          <p:txBody>
            <a:bodyPr/>
            <a:lstStyle/>
            <a:p>
              <a:endParaRPr lang="en-IN"/>
            </a:p>
          </p:txBody>
        </p:sp>
        <p:sp>
          <p:nvSpPr>
            <p:cNvPr id="4" name="TextBox 4"/>
            <p:cNvSpPr txBox="1"/>
            <p:nvPr/>
          </p:nvSpPr>
          <p:spPr>
            <a:xfrm>
              <a:off x="76200" y="38100"/>
              <a:ext cx="660400" cy="698500"/>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0" y="6202391"/>
            <a:ext cx="4739803" cy="4739803"/>
          </a:xfrm>
          <a:custGeom>
            <a:avLst/>
            <a:gdLst/>
            <a:ahLst/>
            <a:cxnLst/>
            <a:rect l="l" t="t" r="r" b="b"/>
            <a:pathLst>
              <a:path w="4739803" h="4739803">
                <a:moveTo>
                  <a:pt x="0" y="0"/>
                </a:moveTo>
                <a:lnTo>
                  <a:pt x="4739803" y="0"/>
                </a:lnTo>
                <a:lnTo>
                  <a:pt x="4739803" y="4739803"/>
                </a:lnTo>
                <a:lnTo>
                  <a:pt x="0" y="4739803"/>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6" name="Group 6"/>
          <p:cNvGrpSpPr/>
          <p:nvPr/>
        </p:nvGrpSpPr>
        <p:grpSpPr>
          <a:xfrm>
            <a:off x="14173200" y="-1551210"/>
            <a:ext cx="3086100" cy="3798277"/>
            <a:chOff x="0" y="0"/>
            <a:chExt cx="660400" cy="812800"/>
          </a:xfrm>
        </p:grpSpPr>
        <p:sp>
          <p:nvSpPr>
            <p:cNvPr id="7" name="Freeform 7"/>
            <p:cNvSpPr/>
            <p:nvPr/>
          </p:nvSpPr>
          <p:spPr>
            <a:xfrm>
              <a:off x="0" y="0"/>
              <a:ext cx="660400" cy="812800"/>
            </a:xfrm>
            <a:custGeom>
              <a:avLst/>
              <a:gdLst/>
              <a:ahLst/>
              <a:cxnLst/>
              <a:rect l="l" t="t" r="r" b="b"/>
              <a:pathLst>
                <a:path w="660400" h="812800">
                  <a:moveTo>
                    <a:pt x="220252" y="793731"/>
                  </a:moveTo>
                  <a:cubicBezTo>
                    <a:pt x="254109" y="805245"/>
                    <a:pt x="292600" y="812800"/>
                    <a:pt x="330378" y="812800"/>
                  </a:cubicBezTo>
                  <a:cubicBezTo>
                    <a:pt x="368157" y="812800"/>
                    <a:pt x="404509" y="806323"/>
                    <a:pt x="438009" y="794809"/>
                  </a:cubicBezTo>
                  <a:cubicBezTo>
                    <a:pt x="438723" y="794450"/>
                    <a:pt x="439435" y="794450"/>
                    <a:pt x="440148" y="794090"/>
                  </a:cubicBezTo>
                  <a:cubicBezTo>
                    <a:pt x="565955" y="748035"/>
                    <a:pt x="658618" y="626421"/>
                    <a:pt x="660400" y="484298"/>
                  </a:cubicBezTo>
                  <a:lnTo>
                    <a:pt x="660400" y="0"/>
                  </a:lnTo>
                  <a:lnTo>
                    <a:pt x="0" y="0"/>
                  </a:lnTo>
                  <a:lnTo>
                    <a:pt x="0" y="483939"/>
                  </a:lnTo>
                  <a:cubicBezTo>
                    <a:pt x="1782" y="627140"/>
                    <a:pt x="93019" y="748755"/>
                    <a:pt x="220252" y="793731"/>
                  </a:cubicBezTo>
                  <a:close/>
                </a:path>
              </a:pathLst>
            </a:custGeom>
            <a:solidFill>
              <a:srgbClr val="6E7658"/>
            </a:solidFill>
          </p:spPr>
          <p:txBody>
            <a:bodyPr/>
            <a:lstStyle/>
            <a:p>
              <a:endParaRPr lang="en-IN"/>
            </a:p>
          </p:txBody>
        </p:sp>
        <p:sp>
          <p:nvSpPr>
            <p:cNvPr id="8" name="TextBox 8"/>
            <p:cNvSpPr txBox="1"/>
            <p:nvPr/>
          </p:nvSpPr>
          <p:spPr>
            <a:xfrm>
              <a:off x="0" y="-38100"/>
              <a:ext cx="660400" cy="723900"/>
            </a:xfrm>
            <a:prstGeom prst="rect">
              <a:avLst/>
            </a:prstGeom>
          </p:spPr>
          <p:txBody>
            <a:bodyPr lIns="50800" tIns="50800" rIns="50800" bIns="50800" rtlCol="0" anchor="ctr"/>
            <a:lstStyle/>
            <a:p>
              <a:pPr algn="ctr">
                <a:lnSpc>
                  <a:spcPts val="2659"/>
                </a:lnSpc>
              </a:pPr>
              <a:endParaRPr/>
            </a:p>
          </p:txBody>
        </p:sp>
      </p:grpSp>
      <p:sp>
        <p:nvSpPr>
          <p:cNvPr id="9" name="TextBox 9"/>
          <p:cNvSpPr txBox="1"/>
          <p:nvPr/>
        </p:nvSpPr>
        <p:spPr>
          <a:xfrm>
            <a:off x="1462111" y="3361492"/>
            <a:ext cx="15363778" cy="2387607"/>
          </a:xfrm>
          <a:prstGeom prst="rect">
            <a:avLst/>
          </a:prstGeom>
        </p:spPr>
        <p:txBody>
          <a:bodyPr lIns="0" tIns="0" rIns="0" bIns="0" rtlCol="0" anchor="t">
            <a:spAutoFit/>
          </a:bodyPr>
          <a:lstStyle/>
          <a:p>
            <a:pPr marL="0" lvl="0" indent="0" algn="ctr">
              <a:lnSpc>
                <a:spcPts val="19599"/>
              </a:lnSpc>
              <a:spcBef>
                <a:spcPct val="0"/>
              </a:spcBef>
            </a:pPr>
            <a:r>
              <a:rPr lang="en-US" sz="13999">
                <a:solidFill>
                  <a:srgbClr val="000000"/>
                </a:solidFill>
                <a:latin typeface="Times New Roman" panose="02020603050405020304" pitchFamily="18" charset="0"/>
                <a:ea typeface="Oswald"/>
                <a:cs typeface="Times New Roman" panose="02020603050405020304" pitchFamily="18" charset="0"/>
                <a:sym typeface="Oswald"/>
              </a:rPr>
              <a:t>Theory of Equations</a:t>
            </a:r>
          </a:p>
        </p:txBody>
      </p:sp>
      <p:sp>
        <p:nvSpPr>
          <p:cNvPr id="10" name="TextBox 10"/>
          <p:cNvSpPr txBox="1"/>
          <p:nvPr/>
        </p:nvSpPr>
        <p:spPr>
          <a:xfrm>
            <a:off x="11892835" y="5678516"/>
            <a:ext cx="4731839" cy="1047750"/>
          </a:xfrm>
          <a:prstGeom prst="rect">
            <a:avLst/>
          </a:prstGeom>
        </p:spPr>
        <p:txBody>
          <a:bodyPr lIns="0" tIns="0" rIns="0" bIns="0" rtlCol="0" anchor="t">
            <a:spAutoFit/>
          </a:bodyPr>
          <a:lstStyle/>
          <a:p>
            <a:pPr marL="0" lvl="0" indent="0" algn="r">
              <a:lnSpc>
                <a:spcPts val="8400"/>
              </a:lnSpc>
              <a:spcBef>
                <a:spcPct val="0"/>
              </a:spcBef>
            </a:pPr>
            <a:r>
              <a:rPr lang="en-US" sz="6000">
                <a:solidFill>
                  <a:srgbClr val="000000"/>
                </a:solidFill>
                <a:latin typeface="Roboto"/>
                <a:ea typeface="Roboto"/>
                <a:cs typeface="Roboto"/>
                <a:sym typeface="Roboto"/>
              </a:rPr>
              <a:t>Grade 12</a:t>
            </a:r>
          </a:p>
        </p:txBody>
      </p:sp>
      <p:sp>
        <p:nvSpPr>
          <p:cNvPr id="11" name="Freeform 11"/>
          <p:cNvSpPr/>
          <p:nvPr/>
        </p:nvSpPr>
        <p:spPr>
          <a:xfrm>
            <a:off x="11669180" y="7425442"/>
            <a:ext cx="4427302" cy="4427302"/>
          </a:xfrm>
          <a:custGeom>
            <a:avLst/>
            <a:gdLst/>
            <a:ahLst/>
            <a:cxnLst/>
            <a:rect l="l" t="t" r="r" b="b"/>
            <a:pathLst>
              <a:path w="4427302" h="4427302">
                <a:moveTo>
                  <a:pt x="0" y="0"/>
                </a:moveTo>
                <a:lnTo>
                  <a:pt x="4427302" y="0"/>
                </a:lnTo>
                <a:lnTo>
                  <a:pt x="4427302" y="4427302"/>
                </a:lnTo>
                <a:lnTo>
                  <a:pt x="0" y="442730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12" name="Group 12"/>
          <p:cNvGrpSpPr/>
          <p:nvPr/>
        </p:nvGrpSpPr>
        <p:grpSpPr>
          <a:xfrm>
            <a:off x="14867996" y="7791384"/>
            <a:ext cx="2755192" cy="2048609"/>
            <a:chOff x="0" y="0"/>
            <a:chExt cx="1093142" cy="812800"/>
          </a:xfrm>
        </p:grpSpPr>
        <p:sp>
          <p:nvSpPr>
            <p:cNvPr id="13" name="Freeform 13"/>
            <p:cNvSpPr/>
            <p:nvPr/>
          </p:nvSpPr>
          <p:spPr>
            <a:xfrm>
              <a:off x="0" y="0"/>
              <a:ext cx="1093142" cy="812800"/>
            </a:xfrm>
            <a:custGeom>
              <a:avLst/>
              <a:gdLst/>
              <a:ahLst/>
              <a:cxnLst/>
              <a:rect l="l" t="t" r="r" b="b"/>
              <a:pathLst>
                <a:path w="1093142" h="812800">
                  <a:moveTo>
                    <a:pt x="1093142" y="406400"/>
                  </a:moveTo>
                  <a:lnTo>
                    <a:pt x="686742" y="0"/>
                  </a:lnTo>
                  <a:lnTo>
                    <a:pt x="686742" y="203200"/>
                  </a:lnTo>
                  <a:lnTo>
                    <a:pt x="0" y="203200"/>
                  </a:lnTo>
                  <a:lnTo>
                    <a:pt x="0" y="609600"/>
                  </a:lnTo>
                  <a:lnTo>
                    <a:pt x="686742" y="609600"/>
                  </a:lnTo>
                  <a:lnTo>
                    <a:pt x="686742" y="812800"/>
                  </a:lnTo>
                  <a:lnTo>
                    <a:pt x="1093142" y="406400"/>
                  </a:lnTo>
                  <a:close/>
                </a:path>
              </a:pathLst>
            </a:custGeom>
            <a:solidFill>
              <a:srgbClr val="6E7658"/>
            </a:solidFill>
          </p:spPr>
          <p:txBody>
            <a:bodyPr/>
            <a:lstStyle/>
            <a:p>
              <a:endParaRPr lang="en-IN"/>
            </a:p>
          </p:txBody>
        </p:sp>
        <p:sp>
          <p:nvSpPr>
            <p:cNvPr id="14" name="TextBox 14"/>
            <p:cNvSpPr txBox="1"/>
            <p:nvPr/>
          </p:nvSpPr>
          <p:spPr>
            <a:xfrm>
              <a:off x="0" y="165100"/>
              <a:ext cx="991542" cy="444500"/>
            </a:xfrm>
            <a:prstGeom prst="rect">
              <a:avLst/>
            </a:prstGeom>
          </p:spPr>
          <p:txBody>
            <a:bodyPr lIns="50800" tIns="50800" rIns="50800" bIns="50800" rtlCol="0" anchor="ctr"/>
            <a:lstStyle/>
            <a:p>
              <a:pPr algn="ctr">
                <a:lnSpc>
                  <a:spcPts val="2659"/>
                </a:lnSpc>
              </a:pPr>
              <a:endParaRPr/>
            </a:p>
          </p:txBody>
        </p:sp>
      </p:grpSp>
      <p:sp>
        <p:nvSpPr>
          <p:cNvPr id="15" name="Freeform 15"/>
          <p:cNvSpPr/>
          <p:nvPr/>
        </p:nvSpPr>
        <p:spPr>
          <a:xfrm>
            <a:off x="2324936" y="-2180235"/>
            <a:ext cx="4427302" cy="4427302"/>
          </a:xfrm>
          <a:custGeom>
            <a:avLst/>
            <a:gdLst/>
            <a:ahLst/>
            <a:cxnLst/>
            <a:rect l="l" t="t" r="r" b="b"/>
            <a:pathLst>
              <a:path w="4427302" h="4427302">
                <a:moveTo>
                  <a:pt x="0" y="0"/>
                </a:moveTo>
                <a:lnTo>
                  <a:pt x="4427302" y="0"/>
                </a:lnTo>
                <a:lnTo>
                  <a:pt x="4427302" y="4427302"/>
                </a:lnTo>
                <a:lnTo>
                  <a:pt x="0" y="442730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C81D1C0-603F-79CE-50A5-B7A4D62C0C4E}"/>
              </a:ext>
            </a:extLst>
          </p:cNvPr>
          <p:cNvSpPr txBox="1"/>
          <p:nvPr/>
        </p:nvSpPr>
        <p:spPr>
          <a:xfrm>
            <a:off x="419100" y="419100"/>
            <a:ext cx="17449800" cy="1077218"/>
          </a:xfrm>
          <a:prstGeom prst="rect">
            <a:avLst/>
          </a:prstGeom>
          <a:noFill/>
        </p:spPr>
        <p:txBody>
          <a:bodyPr wrap="square">
            <a:spAutoFit/>
          </a:bodyPr>
          <a:lstStyle/>
          <a:p>
            <a:pPr>
              <a:buNone/>
            </a:pPr>
            <a:r>
              <a:rPr lang="en-IN" sz="3200">
                <a:latin typeface="Times New Roman" panose="02020603050405020304" pitchFamily="18" charset="0"/>
                <a:cs typeface="Times New Roman" panose="02020603050405020304" pitchFamily="18" charset="0"/>
              </a:rPr>
              <a:t>1.If the sides of a cubic box are increased by 1, 2, 3 units respectively to form a rectangular cuboid, then the volume is increased by 52 cubic units. Find the volume of the cuboid.</a:t>
            </a:r>
          </a:p>
        </p:txBody>
      </p:sp>
      <p:sp>
        <p:nvSpPr>
          <p:cNvPr id="6" name="TextBox 5">
            <a:extLst>
              <a:ext uri="{FF2B5EF4-FFF2-40B4-BE49-F238E27FC236}">
                <a16:creationId xmlns:a16="http://schemas.microsoft.com/office/drawing/2014/main" id="{7CE5130E-E254-E046-F3F1-4E50E35D1D5F}"/>
              </a:ext>
            </a:extLst>
          </p:cNvPr>
          <p:cNvSpPr txBox="1"/>
          <p:nvPr/>
        </p:nvSpPr>
        <p:spPr>
          <a:xfrm>
            <a:off x="1143000" y="1714500"/>
            <a:ext cx="16459200" cy="8463855"/>
          </a:xfrm>
          <a:prstGeom prst="rect">
            <a:avLst/>
          </a:prstGeom>
          <a:noFill/>
        </p:spPr>
        <p:txBody>
          <a:bodyPr wrap="square">
            <a:spAutoFit/>
          </a:bodyPr>
          <a:lstStyle/>
          <a:p>
            <a:pPr rtl="0">
              <a:buNone/>
            </a:pPr>
            <a:r>
              <a:rPr lang="en-IN" sz="3200" b="1">
                <a:effectLst/>
                <a:latin typeface="Times New Roman" panose="02020603050405020304" pitchFamily="18" charset="0"/>
                <a:cs typeface="Times New Roman" panose="02020603050405020304" pitchFamily="18" charset="0"/>
              </a:rPr>
              <a:t>Step 1: Form the equation</a:t>
            </a:r>
            <a:r>
              <a:rPr lang="en-IN" sz="3200">
                <a:effectLst/>
                <a:latin typeface="Times New Roman" panose="02020603050405020304" pitchFamily="18" charset="0"/>
                <a:cs typeface="Times New Roman" panose="02020603050405020304" pitchFamily="18" charset="0"/>
              </a:rPr>
              <a:t> </a:t>
            </a:r>
          </a:p>
          <a:p>
            <a:pPr rtl="0">
              <a:buNone/>
            </a:pPr>
            <a:endParaRPr lang="en-IN" sz="3200">
              <a:effectLst/>
              <a:latin typeface="Times New Roman" panose="02020603050405020304" pitchFamily="18" charset="0"/>
              <a:cs typeface="Times New Roman" panose="02020603050405020304" pitchFamily="18" charset="0"/>
            </a:endParaRPr>
          </a:p>
          <a:p>
            <a:pPr rtl="0">
              <a:buNone/>
            </a:pPr>
            <a:r>
              <a:rPr lang="en-IN" sz="3200">
                <a:effectLst/>
                <a:latin typeface="Times New Roman" panose="02020603050405020304" pitchFamily="18" charset="0"/>
                <a:cs typeface="Times New Roman" panose="02020603050405020304" pitchFamily="18" charset="0"/>
              </a:rPr>
              <a:t>Let side of cube = x</a:t>
            </a:r>
          </a:p>
          <a:p>
            <a:pPr rtl="0">
              <a:buNone/>
            </a:pPr>
            <a:r>
              <a:rPr lang="en-IN" sz="3200">
                <a:effectLst/>
                <a:latin typeface="Times New Roman" panose="02020603050405020304" pitchFamily="18" charset="0"/>
                <a:cs typeface="Times New Roman" panose="02020603050405020304" pitchFamily="18" charset="0"/>
              </a:rPr>
              <a:t>Volume of Cuboid=Volume of Cube+52</a:t>
            </a:r>
          </a:p>
          <a:p>
            <a:pPr rtl="0">
              <a:buNone/>
            </a:pPr>
            <a:r>
              <a:rPr lang="en-IN" sz="3200">
                <a:effectLst/>
                <a:latin typeface="Times New Roman" panose="02020603050405020304" pitchFamily="18" charset="0"/>
                <a:cs typeface="Times New Roman" panose="02020603050405020304" pitchFamily="18" charset="0"/>
              </a:rPr>
              <a:t>(x+1)(x+2)(x+3)=x3+52</a:t>
            </a:r>
          </a:p>
          <a:p>
            <a:pPr rtl="0">
              <a:buNone/>
            </a:pPr>
            <a:endParaRPr lang="en-IN" sz="3200">
              <a:effectLst/>
              <a:latin typeface="Times New Roman" panose="02020603050405020304" pitchFamily="18" charset="0"/>
              <a:cs typeface="Times New Roman" panose="02020603050405020304" pitchFamily="18" charset="0"/>
            </a:endParaRPr>
          </a:p>
          <a:p>
            <a:pPr rtl="0">
              <a:buNone/>
            </a:pPr>
            <a:r>
              <a:rPr lang="en-IN" sz="3200" b="1">
                <a:effectLst/>
                <a:latin typeface="Times New Roman" panose="02020603050405020304" pitchFamily="18" charset="0"/>
                <a:cs typeface="Times New Roman" panose="02020603050405020304" pitchFamily="18" charset="0"/>
              </a:rPr>
              <a:t>Step 2: Expand the terms</a:t>
            </a:r>
          </a:p>
          <a:p>
            <a:pPr rtl="0">
              <a:buNone/>
            </a:pPr>
            <a:endParaRPr lang="en-IN" sz="3200">
              <a:effectLst/>
              <a:latin typeface="Times New Roman" panose="02020603050405020304" pitchFamily="18" charset="0"/>
              <a:cs typeface="Times New Roman" panose="02020603050405020304" pitchFamily="18" charset="0"/>
            </a:endParaRPr>
          </a:p>
          <a:p>
            <a:pPr rtl="0">
              <a:buNone/>
            </a:pPr>
            <a:r>
              <a:rPr lang="en-IN" sz="3200">
                <a:effectLst/>
                <a:latin typeface="Times New Roman" panose="02020603050405020304" pitchFamily="18" charset="0"/>
                <a:cs typeface="Times New Roman" panose="02020603050405020304" pitchFamily="18" charset="0"/>
              </a:rPr>
              <a:t>(x2+3x+2)(x+3)=x3+52</a:t>
            </a:r>
          </a:p>
          <a:p>
            <a:pPr rtl="0">
              <a:buNone/>
            </a:pPr>
            <a:r>
              <a:rPr lang="en-IN" sz="3200">
                <a:effectLst/>
                <a:latin typeface="Times New Roman" panose="02020603050405020304" pitchFamily="18" charset="0"/>
                <a:cs typeface="Times New Roman" panose="02020603050405020304" pitchFamily="18" charset="0"/>
              </a:rPr>
              <a:t>x3+3x2+3x2+9x+2x+6=x3+52</a:t>
            </a:r>
          </a:p>
          <a:p>
            <a:pPr rtl="0">
              <a:buNone/>
            </a:pPr>
            <a:r>
              <a:rPr lang="en-IN" sz="3200">
                <a:effectLst/>
                <a:latin typeface="Times New Roman" panose="02020603050405020304" pitchFamily="18" charset="0"/>
                <a:cs typeface="Times New Roman" panose="02020603050405020304" pitchFamily="18" charset="0"/>
              </a:rPr>
              <a:t>x3+6x2+11x+6=x3+52</a:t>
            </a:r>
          </a:p>
          <a:p>
            <a:pPr rtl="0">
              <a:buNone/>
            </a:pPr>
            <a:endParaRPr lang="en-IN" sz="3200">
              <a:effectLst/>
              <a:latin typeface="Times New Roman" panose="02020603050405020304" pitchFamily="18" charset="0"/>
              <a:cs typeface="Times New Roman" panose="02020603050405020304" pitchFamily="18" charset="0"/>
            </a:endParaRPr>
          </a:p>
          <a:p>
            <a:pPr rtl="0">
              <a:buNone/>
            </a:pPr>
            <a:r>
              <a:rPr lang="en-IN" sz="3200" b="1">
                <a:effectLst/>
                <a:latin typeface="Times New Roman" panose="02020603050405020304" pitchFamily="18" charset="0"/>
                <a:cs typeface="Times New Roman" panose="02020603050405020304" pitchFamily="18" charset="0"/>
              </a:rPr>
              <a:t>Step 3: Simplify to quadratic form</a:t>
            </a:r>
          </a:p>
          <a:p>
            <a:pPr rtl="0">
              <a:buNone/>
            </a:pPr>
            <a:endParaRPr lang="en-IN" sz="3200">
              <a:effectLst/>
              <a:latin typeface="Times New Roman" panose="02020603050405020304" pitchFamily="18" charset="0"/>
              <a:cs typeface="Times New Roman" panose="02020603050405020304" pitchFamily="18" charset="0"/>
            </a:endParaRPr>
          </a:p>
          <a:p>
            <a:pPr rtl="0">
              <a:buNone/>
            </a:pPr>
            <a:r>
              <a:rPr lang="en-IN" sz="3200">
                <a:effectLst/>
                <a:latin typeface="Times New Roman" panose="02020603050405020304" pitchFamily="18" charset="0"/>
                <a:cs typeface="Times New Roman" panose="02020603050405020304" pitchFamily="18" charset="0"/>
              </a:rPr>
              <a:t>6x2+11x+6=52</a:t>
            </a:r>
          </a:p>
          <a:p>
            <a:pPr rtl="0">
              <a:buNone/>
            </a:pPr>
            <a:r>
              <a:rPr lang="en-IN" sz="3200">
                <a:effectLst/>
                <a:latin typeface="Times New Roman" panose="02020603050405020304" pitchFamily="18" charset="0"/>
                <a:cs typeface="Times New Roman" panose="02020603050405020304" pitchFamily="18" charset="0"/>
              </a:rPr>
              <a:t>6x2+11x−46=0</a:t>
            </a:r>
          </a:p>
          <a:p>
            <a:pPr rtl="0">
              <a:buNone/>
            </a:pPr>
            <a:endParaRPr lang="en-IN" sz="3200">
              <a:effectL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03085755-A688-0D6F-9247-CB816801F0F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814C017-9795-BDEC-344A-BDBA27616FBD}"/>
              </a:ext>
            </a:extLst>
          </p:cNvPr>
          <p:cNvSpPr txBox="1"/>
          <p:nvPr/>
        </p:nvSpPr>
        <p:spPr>
          <a:xfrm>
            <a:off x="838200" y="876300"/>
            <a:ext cx="14935200" cy="7478970"/>
          </a:xfrm>
          <a:prstGeom prst="rect">
            <a:avLst/>
          </a:prstGeom>
          <a:noFill/>
        </p:spPr>
        <p:txBody>
          <a:bodyPr wrap="square">
            <a:spAutoFit/>
          </a:bodyPr>
          <a:lstStyle/>
          <a:p>
            <a:pPr rtl="0">
              <a:buNone/>
            </a:pPr>
            <a:r>
              <a:rPr lang="en-IN" sz="3200" b="1">
                <a:effectLst/>
                <a:latin typeface="Times New Roman" panose="02020603050405020304" pitchFamily="18" charset="0"/>
                <a:cs typeface="Times New Roman" panose="02020603050405020304" pitchFamily="18" charset="0"/>
              </a:rPr>
              <a:t>Step 4: Factorize and solve for x</a:t>
            </a:r>
          </a:p>
          <a:p>
            <a:pPr rtl="0">
              <a:buNone/>
            </a:pPr>
            <a:endParaRPr lang="en-IN" sz="3200">
              <a:effectLst/>
              <a:latin typeface="Times New Roman" panose="02020603050405020304" pitchFamily="18" charset="0"/>
              <a:cs typeface="Times New Roman" panose="02020603050405020304" pitchFamily="18" charset="0"/>
            </a:endParaRPr>
          </a:p>
          <a:p>
            <a:pPr rtl="0">
              <a:buNone/>
            </a:pPr>
            <a:r>
              <a:rPr lang="en-IN" sz="3200">
                <a:effectLst/>
                <a:latin typeface="Times New Roman" panose="02020603050405020304" pitchFamily="18" charset="0"/>
                <a:cs typeface="Times New Roman" panose="02020603050405020304" pitchFamily="18" charset="0"/>
              </a:rPr>
              <a:t>6x2−12x+23x−46=0</a:t>
            </a:r>
          </a:p>
          <a:p>
            <a:pPr rtl="0">
              <a:buNone/>
            </a:pPr>
            <a:r>
              <a:rPr lang="en-IN" sz="3200">
                <a:effectLst/>
                <a:latin typeface="Times New Roman" panose="02020603050405020304" pitchFamily="18" charset="0"/>
                <a:cs typeface="Times New Roman" panose="02020603050405020304" pitchFamily="18" charset="0"/>
              </a:rPr>
              <a:t>6x(x−2)+23(x−2)=0</a:t>
            </a:r>
          </a:p>
          <a:p>
            <a:pPr rtl="0">
              <a:buNone/>
            </a:pPr>
            <a:r>
              <a:rPr lang="en-IN" sz="3200">
                <a:effectLst/>
                <a:latin typeface="Times New Roman" panose="02020603050405020304" pitchFamily="18" charset="0"/>
                <a:cs typeface="Times New Roman" panose="02020603050405020304" pitchFamily="18" charset="0"/>
              </a:rPr>
              <a:t>(6x+23)(x−2)=0</a:t>
            </a:r>
          </a:p>
          <a:p>
            <a:pPr rtl="0"/>
            <a:r>
              <a:rPr lang="en-IN" sz="3200">
                <a:effectLst/>
                <a:latin typeface="Times New Roman" panose="02020603050405020304" pitchFamily="18" charset="0"/>
                <a:cs typeface="Times New Roman" panose="02020603050405020304" pitchFamily="18" charset="0"/>
              </a:rPr>
              <a:t>6x+23=0⟹x=−623​ (Rejected, length cannot be negative)</a:t>
            </a:r>
          </a:p>
          <a:p>
            <a:pPr rtl="0"/>
            <a:r>
              <a:rPr lang="en-IN" sz="3200">
                <a:effectLst/>
                <a:latin typeface="Times New Roman" panose="02020603050405020304" pitchFamily="18" charset="0"/>
                <a:cs typeface="Times New Roman" panose="02020603050405020304" pitchFamily="18" charset="0"/>
              </a:rPr>
              <a:t>x−2=0⟹x=2</a:t>
            </a:r>
          </a:p>
          <a:p>
            <a:pPr rtl="0">
              <a:buFont typeface="Arial" panose="020B0604020202020204" pitchFamily="34" charset="0"/>
              <a:buChar char="•"/>
            </a:pPr>
            <a:endParaRPr lang="en-IN" sz="3200">
              <a:effectLst/>
              <a:latin typeface="Times New Roman" panose="02020603050405020304" pitchFamily="18" charset="0"/>
              <a:cs typeface="Times New Roman" panose="02020603050405020304" pitchFamily="18" charset="0"/>
            </a:endParaRPr>
          </a:p>
          <a:p>
            <a:pPr rtl="0">
              <a:buNone/>
            </a:pPr>
            <a:r>
              <a:rPr lang="en-IN" sz="3200" b="1">
                <a:effectLst/>
                <a:latin typeface="Times New Roman" panose="02020603050405020304" pitchFamily="18" charset="0"/>
                <a:cs typeface="Times New Roman" panose="02020603050405020304" pitchFamily="18" charset="0"/>
              </a:rPr>
              <a:t>Step 5: Find the volume of the cuboid</a:t>
            </a:r>
          </a:p>
          <a:p>
            <a:pPr rtl="0">
              <a:buNone/>
            </a:pPr>
            <a:endParaRPr lang="en-IN" sz="3200">
              <a:effectLst/>
              <a:latin typeface="Times New Roman" panose="02020603050405020304" pitchFamily="18" charset="0"/>
              <a:cs typeface="Times New Roman" panose="02020603050405020304" pitchFamily="18" charset="0"/>
            </a:endParaRPr>
          </a:p>
          <a:p>
            <a:pPr rtl="0">
              <a:buNone/>
            </a:pPr>
            <a:r>
              <a:rPr lang="en-IN" sz="3200">
                <a:effectLst/>
                <a:latin typeface="Times New Roman" panose="02020603050405020304" pitchFamily="18" charset="0"/>
                <a:cs typeface="Times New Roman" panose="02020603050405020304" pitchFamily="18" charset="0"/>
              </a:rPr>
              <a:t>Volume=(2+1)(2+2)(2+3)</a:t>
            </a:r>
          </a:p>
          <a:p>
            <a:pPr rtl="0">
              <a:buNone/>
            </a:pPr>
            <a:r>
              <a:rPr lang="en-IN" sz="3200">
                <a:effectLst/>
                <a:latin typeface="Times New Roman" panose="02020603050405020304" pitchFamily="18" charset="0"/>
                <a:cs typeface="Times New Roman" panose="02020603050405020304" pitchFamily="18" charset="0"/>
              </a:rPr>
              <a:t>Volume=3×4×5=60</a:t>
            </a:r>
          </a:p>
          <a:p>
            <a:pPr rtl="0">
              <a:buNone/>
            </a:pPr>
            <a:endParaRPr lang="en-IN" sz="3200">
              <a:effectLst/>
              <a:latin typeface="Times New Roman" panose="02020603050405020304" pitchFamily="18" charset="0"/>
              <a:cs typeface="Times New Roman" panose="02020603050405020304" pitchFamily="18" charset="0"/>
            </a:endParaRPr>
          </a:p>
          <a:p>
            <a:pPr rtl="0">
              <a:buNone/>
            </a:pPr>
            <a:r>
              <a:rPr lang="en-IN" sz="3200" b="1">
                <a:effectLst/>
                <a:latin typeface="Times New Roman" panose="02020603050405020304" pitchFamily="18" charset="0"/>
                <a:cs typeface="Times New Roman" panose="02020603050405020304" pitchFamily="18" charset="0"/>
              </a:rPr>
              <a:t>Answer:</a:t>
            </a:r>
            <a:r>
              <a:rPr lang="en-IN" sz="3200">
                <a:effectLst/>
                <a:latin typeface="Times New Roman" panose="02020603050405020304" pitchFamily="18" charset="0"/>
                <a:cs typeface="Times New Roman" panose="02020603050405020304" pitchFamily="18" charset="0"/>
              </a:rPr>
              <a:t> </a:t>
            </a:r>
          </a:p>
          <a:p>
            <a:pPr rtl="0">
              <a:buNone/>
            </a:pPr>
            <a:r>
              <a:rPr lang="en-IN" sz="3200">
                <a:latin typeface="Times New Roman" panose="02020603050405020304" pitchFamily="18" charset="0"/>
                <a:cs typeface="Times New Roman" panose="02020603050405020304" pitchFamily="18" charset="0"/>
              </a:rPr>
              <a:t>                                  </a:t>
            </a:r>
            <a:r>
              <a:rPr lang="en-IN" sz="3200">
                <a:effectLst/>
                <a:latin typeface="Times New Roman" panose="02020603050405020304" pitchFamily="18" charset="0"/>
                <a:cs typeface="Times New Roman" panose="02020603050405020304" pitchFamily="18" charset="0"/>
              </a:rPr>
              <a:t>Volume of the cuboid = </a:t>
            </a:r>
            <a:r>
              <a:rPr lang="en-IN" sz="3200" b="1">
                <a:effectLst/>
                <a:latin typeface="Times New Roman" panose="02020603050405020304" pitchFamily="18" charset="0"/>
                <a:cs typeface="Times New Roman" panose="02020603050405020304" pitchFamily="18" charset="0"/>
              </a:rPr>
              <a:t>60 cubic units</a:t>
            </a:r>
            <a:endParaRPr lang="en-IN" sz="320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8470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CFD94AC8-CB43-288E-FBC3-E48FC73D6610}"/>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9E3B5B16-BF82-D848-538F-DFB053C36C15}"/>
              </a:ext>
            </a:extLst>
          </p:cNvPr>
          <p:cNvSpPr>
            <a:spLocks noChangeArrowheads="1"/>
          </p:cNvSpPr>
          <p:nvPr/>
        </p:nvSpPr>
        <p:spPr bwMode="auto">
          <a:xfrm>
            <a:off x="360218" y="287482"/>
            <a:ext cx="6752169" cy="20159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2.Construct a cubic equation with roots: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a:t>
            </a:r>
            <a:r>
              <a:rPr kumimoji="0" lang="en-US" altLang="en-US" sz="3200" b="0" i="0" u="none" strike="noStrike" cap="none" normalizeH="0" baseline="0" err="1">
                <a:ln>
                  <a:noFill/>
                </a:ln>
                <a:solidFill>
                  <a:schemeClr val="tx1"/>
                </a:solidFill>
                <a:effectLst/>
                <a:latin typeface="Times New Roman" panose="02020603050405020304" pitchFamily="18" charset="0"/>
                <a:cs typeface="Times New Roman" panose="02020603050405020304" pitchFamily="18" charset="0"/>
              </a:rPr>
              <a:t>i</a:t>
            </a:r>
            <a:r>
              <a:rPr kumimoji="0" lang="en-US" altLang="en-US" sz="3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 1, 2, and 3</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(ii) 1, 1,and -2</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3200" b="0" i="0" u="none" strike="noStrike" cap="none" normalizeH="0" baseline="0">
                <a:ln>
                  <a:noFill/>
                </a:ln>
                <a:solidFill>
                  <a:schemeClr val="tx1"/>
                </a:solidFill>
                <a:effectLst/>
                <a:latin typeface="Times New Roman" panose="02020603050405020304" pitchFamily="18" charset="0"/>
                <a:cs typeface="Times New Roman" panose="02020603050405020304" pitchFamily="18" charset="0"/>
              </a:rPr>
              <a:t>(iii) 2,1/2,and 1</a:t>
            </a:r>
          </a:p>
        </p:txBody>
      </p:sp>
      <p:sp>
        <p:nvSpPr>
          <p:cNvPr id="10" name="TextBox 9">
            <a:extLst>
              <a:ext uri="{FF2B5EF4-FFF2-40B4-BE49-F238E27FC236}">
                <a16:creationId xmlns:a16="http://schemas.microsoft.com/office/drawing/2014/main" id="{B6B003B4-89C7-C132-5FAF-5ACDBDF8EAAA}"/>
              </a:ext>
            </a:extLst>
          </p:cNvPr>
          <p:cNvSpPr txBox="1"/>
          <p:nvPr/>
        </p:nvSpPr>
        <p:spPr>
          <a:xfrm>
            <a:off x="360218" y="2327663"/>
            <a:ext cx="18211800" cy="4321696"/>
          </a:xfrm>
          <a:prstGeom prst="rect">
            <a:avLst/>
          </a:prstGeom>
          <a:noFill/>
        </p:spPr>
        <p:txBody>
          <a:bodyPr wrap="square">
            <a:spAutoFit/>
          </a:bodyPr>
          <a:lstStyle/>
          <a:p>
            <a:pPr algn="l">
              <a:spcAft>
                <a:spcPts val="450"/>
              </a:spcAft>
              <a:buNone/>
            </a:pPr>
            <a:r>
              <a:rPr lang="en-IN" sz="3200" b="1" i="0">
                <a:solidFill>
                  <a:srgbClr val="000000"/>
                </a:solidFill>
                <a:effectLst/>
                <a:latin typeface="Times New Roman" panose="02020603050405020304" pitchFamily="18" charset="0"/>
              </a:rPr>
              <a:t>General Formula:</a:t>
            </a:r>
          </a:p>
          <a:p>
            <a:pPr algn="l">
              <a:spcAft>
                <a:spcPts val="2100"/>
              </a:spcAft>
              <a:buNone/>
            </a:pPr>
            <a:r>
              <a:rPr lang="en-IN" sz="3200" b="0" i="0">
                <a:solidFill>
                  <a:srgbClr val="000000"/>
                </a:solidFill>
                <a:effectLst/>
                <a:latin typeface="Times New Roman" panose="02020603050405020304" pitchFamily="18" charset="0"/>
              </a:rPr>
              <a:t>A cubic equation with roots α, β, γ is given by:</a:t>
            </a:r>
          </a:p>
          <a:p>
            <a:pPr algn="ctr">
              <a:spcAft>
                <a:spcPts val="2400"/>
              </a:spcAft>
              <a:buNone/>
            </a:pPr>
            <a:r>
              <a:rPr lang="en-IN" sz="3200" b="0" i="1">
                <a:solidFill>
                  <a:srgbClr val="000000"/>
                </a:solidFill>
                <a:effectLst/>
                <a:latin typeface="Times New Roman" panose="02020603050405020304" pitchFamily="18" charset="0"/>
              </a:rPr>
              <a:t>x³ − (α + β + γ)x² + (αβ + βγ + γα)x − αβγ = 0</a:t>
            </a:r>
            <a:endParaRPr lang="en-IN" sz="3200" b="0" i="0">
              <a:solidFill>
                <a:srgbClr val="000000"/>
              </a:solidFill>
              <a:effectLst/>
              <a:latin typeface="Times New Roman" panose="02020603050405020304" pitchFamily="18" charset="0"/>
            </a:endParaRPr>
          </a:p>
          <a:p>
            <a:pPr algn="l">
              <a:spcAft>
                <a:spcPts val="1050"/>
              </a:spcAft>
              <a:buNone/>
            </a:pPr>
            <a:r>
              <a:rPr lang="en-IN" sz="3200" b="0" i="0">
                <a:solidFill>
                  <a:srgbClr val="000000"/>
                </a:solidFill>
                <a:effectLst/>
                <a:latin typeface="Times New Roman" panose="02020603050405020304" pitchFamily="18" charset="0"/>
              </a:rPr>
              <a:t>Let:</a:t>
            </a:r>
          </a:p>
          <a:p>
            <a:pPr algn="l">
              <a:buFont typeface="Arial" panose="020B0604020202020204" pitchFamily="34" charset="0"/>
              <a:buChar char="•"/>
            </a:pPr>
            <a:r>
              <a:rPr lang="en-IN" sz="3200" b="0" i="0">
                <a:solidFill>
                  <a:srgbClr val="000000"/>
                </a:solidFill>
                <a:effectLst/>
                <a:latin typeface="Times New Roman" panose="02020603050405020304" pitchFamily="18" charset="0"/>
              </a:rPr>
              <a:t>Σ₁ = α + β + γ </a:t>
            </a:r>
            <a:r>
              <a:rPr lang="en-IN" sz="3200" b="0" i="0">
                <a:solidFill>
                  <a:srgbClr val="111111"/>
                </a:solidFill>
                <a:effectLst/>
                <a:latin typeface="Times New Roman" panose="02020603050405020304" pitchFamily="18" charset="0"/>
              </a:rPr>
              <a:t>(Sum of roots)</a:t>
            </a:r>
            <a:endParaRPr lang="en-IN" sz="3200" b="0" i="0">
              <a:solidFill>
                <a:srgbClr val="000000"/>
              </a:solidFill>
              <a:effectLst/>
              <a:latin typeface="Times New Roman" panose="02020603050405020304" pitchFamily="18" charset="0"/>
            </a:endParaRPr>
          </a:p>
          <a:p>
            <a:pPr algn="l">
              <a:buFont typeface="Arial" panose="020B0604020202020204" pitchFamily="34" charset="0"/>
              <a:buChar char="•"/>
            </a:pPr>
            <a:r>
              <a:rPr lang="en-IN" sz="3200" b="0" i="0">
                <a:solidFill>
                  <a:srgbClr val="000000"/>
                </a:solidFill>
                <a:effectLst/>
                <a:latin typeface="Times New Roman" panose="02020603050405020304" pitchFamily="18" charset="0"/>
              </a:rPr>
              <a:t>Σ₂ = αβ + βγ + γα </a:t>
            </a:r>
            <a:r>
              <a:rPr lang="en-IN" sz="3200" b="0" i="0">
                <a:solidFill>
                  <a:srgbClr val="111111"/>
                </a:solidFill>
                <a:effectLst/>
                <a:latin typeface="Times New Roman" panose="02020603050405020304" pitchFamily="18" charset="0"/>
              </a:rPr>
              <a:t>(Sum of the product of roots taken two at a time)</a:t>
            </a:r>
            <a:endParaRPr lang="en-IN" sz="3200" b="0" i="0">
              <a:solidFill>
                <a:srgbClr val="000000"/>
              </a:solidFill>
              <a:effectLst/>
              <a:latin typeface="Times New Roman" panose="02020603050405020304" pitchFamily="18" charset="0"/>
            </a:endParaRPr>
          </a:p>
          <a:p>
            <a:pPr algn="l">
              <a:buFont typeface="Arial" panose="020B0604020202020204" pitchFamily="34" charset="0"/>
              <a:buChar char="•"/>
            </a:pPr>
            <a:r>
              <a:rPr lang="en-IN" sz="3200" b="0" i="0">
                <a:solidFill>
                  <a:srgbClr val="000000"/>
                </a:solidFill>
                <a:effectLst/>
                <a:latin typeface="Times New Roman" panose="02020603050405020304" pitchFamily="18" charset="0"/>
              </a:rPr>
              <a:t>Σ₃ = αβγ </a:t>
            </a:r>
            <a:r>
              <a:rPr lang="en-IN" sz="3200" b="0" i="0">
                <a:solidFill>
                  <a:srgbClr val="111111"/>
                </a:solidFill>
                <a:effectLst/>
                <a:latin typeface="Times New Roman" panose="02020603050405020304" pitchFamily="18" charset="0"/>
              </a:rPr>
              <a:t>(Product of roots)</a:t>
            </a:r>
            <a:endParaRPr lang="en-IN" sz="3200" b="0" i="0">
              <a:solidFill>
                <a:srgbClr val="000000"/>
              </a:solidFill>
              <a:effectLst/>
              <a:latin typeface="Times New Roman" panose="02020603050405020304" pitchFamily="18" charset="0"/>
            </a:endParaRPr>
          </a:p>
        </p:txBody>
      </p:sp>
      <p:sp>
        <p:nvSpPr>
          <p:cNvPr id="12" name="TextBox 11">
            <a:extLst>
              <a:ext uri="{FF2B5EF4-FFF2-40B4-BE49-F238E27FC236}">
                <a16:creationId xmlns:a16="http://schemas.microsoft.com/office/drawing/2014/main" id="{C9173819-BDC8-D5EE-A608-B8472FD4C664}"/>
              </a:ext>
            </a:extLst>
          </p:cNvPr>
          <p:cNvSpPr txBox="1"/>
          <p:nvPr/>
        </p:nvSpPr>
        <p:spPr>
          <a:xfrm>
            <a:off x="235528" y="6896100"/>
            <a:ext cx="18059399" cy="3157275"/>
          </a:xfrm>
          <a:prstGeom prst="rect">
            <a:avLst/>
          </a:prstGeom>
          <a:noFill/>
        </p:spPr>
        <p:txBody>
          <a:bodyPr wrap="square">
            <a:spAutoFit/>
          </a:bodyPr>
          <a:lstStyle/>
          <a:p>
            <a:pPr algn="l">
              <a:spcAft>
                <a:spcPts val="750"/>
              </a:spcAft>
              <a:buNone/>
            </a:pPr>
            <a:r>
              <a:rPr lang="en-IN" sz="3200" b="1" i="0">
                <a:solidFill>
                  <a:srgbClr val="000000"/>
                </a:solidFill>
                <a:effectLst/>
                <a:latin typeface="Times New Roman" panose="02020603050405020304" pitchFamily="18" charset="0"/>
              </a:rPr>
              <a:t>Sub-division (</a:t>
            </a:r>
            <a:r>
              <a:rPr lang="en-IN" sz="3200" b="1" i="0" err="1">
                <a:solidFill>
                  <a:srgbClr val="000000"/>
                </a:solidFill>
                <a:effectLst/>
                <a:latin typeface="Times New Roman" panose="02020603050405020304" pitchFamily="18" charset="0"/>
              </a:rPr>
              <a:t>i</a:t>
            </a:r>
            <a:r>
              <a:rPr lang="en-IN" sz="3200" b="1" i="0">
                <a:solidFill>
                  <a:srgbClr val="000000"/>
                </a:solidFill>
                <a:effectLst/>
                <a:latin typeface="Times New Roman" panose="02020603050405020304" pitchFamily="18" charset="0"/>
              </a:rPr>
              <a:t>): Roots are 1, 2, 3</a:t>
            </a:r>
          </a:p>
          <a:p>
            <a:pPr algn="l">
              <a:spcAft>
                <a:spcPts val="900"/>
              </a:spcAft>
              <a:buNone/>
            </a:pPr>
            <a:r>
              <a:rPr lang="en-IN" sz="3200" b="1" i="0">
                <a:solidFill>
                  <a:srgbClr val="000000"/>
                </a:solidFill>
                <a:effectLst/>
                <a:latin typeface="Times New Roman" panose="02020603050405020304" pitchFamily="18" charset="0"/>
              </a:rPr>
              <a:t>Step 1: Find Σ₁, Σ₂, and Σ₃</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Σ₁ = 1 + 2 + 3 = 6</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Σ₂ = (1)(2) + (2)(3) + (3)(1) = 2 + 6 + 3 = 11</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Σ₃ = (1)(2)(3) = 6</a:t>
            </a:r>
          </a:p>
        </p:txBody>
      </p:sp>
    </p:spTree>
    <p:extLst>
      <p:ext uri="{BB962C8B-B14F-4D97-AF65-F5344CB8AC3E}">
        <p14:creationId xmlns:p14="http://schemas.microsoft.com/office/powerpoint/2010/main" val="1656485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1037D526-AF47-B272-3AE5-3D4F28779C46}"/>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028968FD-FCC0-3E1A-B2E9-5E344C9EF4C5}"/>
              </a:ext>
            </a:extLst>
          </p:cNvPr>
          <p:cNvSpPr txBox="1"/>
          <p:nvPr/>
        </p:nvSpPr>
        <p:spPr>
          <a:xfrm>
            <a:off x="228600" y="206569"/>
            <a:ext cx="17830800" cy="2639184"/>
          </a:xfrm>
          <a:prstGeom prst="rect">
            <a:avLst/>
          </a:prstGeom>
          <a:noFill/>
        </p:spPr>
        <p:txBody>
          <a:bodyPr wrap="square">
            <a:spAutoFit/>
          </a:bodyPr>
          <a:lstStyle/>
          <a:p>
            <a:pPr algn="l">
              <a:spcAft>
                <a:spcPts val="1200"/>
              </a:spcAft>
              <a:buNone/>
            </a:pPr>
            <a:r>
              <a:rPr lang="en-IN" sz="3200" b="1" i="0">
                <a:solidFill>
                  <a:srgbClr val="000000"/>
                </a:solidFill>
                <a:effectLst/>
                <a:latin typeface="Times New Roman" panose="02020603050405020304" pitchFamily="18" charset="0"/>
              </a:rPr>
              <a:t>Step 2: Substitute into the formula</a:t>
            </a:r>
          </a:p>
          <a:p>
            <a:pPr algn="ctr">
              <a:spcAft>
                <a:spcPts val="2100"/>
              </a:spcAft>
              <a:buNone/>
            </a:pPr>
            <a:r>
              <a:rPr lang="en-IN" sz="3200" b="0" i="1">
                <a:solidFill>
                  <a:srgbClr val="000000"/>
                </a:solidFill>
                <a:effectLst/>
                <a:latin typeface="Times New Roman" panose="02020603050405020304" pitchFamily="18" charset="0"/>
              </a:rPr>
              <a:t>x³ − 6x² + 11x − 6 = 0</a:t>
            </a:r>
            <a:endParaRPr lang="en-IN" sz="3200" b="0" i="0">
              <a:solidFill>
                <a:srgbClr val="000000"/>
              </a:solidFill>
              <a:effectLst/>
              <a:latin typeface="Times New Roman" panose="02020603050405020304" pitchFamily="18" charset="0"/>
            </a:endParaRPr>
          </a:p>
          <a:p>
            <a:pPr algn="l">
              <a:spcAft>
                <a:spcPts val="1200"/>
              </a:spcAft>
              <a:buNone/>
            </a:pPr>
            <a:r>
              <a:rPr lang="en-IN" sz="3200" b="1" i="0">
                <a:solidFill>
                  <a:srgbClr val="000000"/>
                </a:solidFill>
                <a:effectLst/>
                <a:latin typeface="Times New Roman" panose="02020603050405020304" pitchFamily="18" charset="0"/>
              </a:rPr>
              <a:t>Answer (</a:t>
            </a:r>
            <a:r>
              <a:rPr lang="en-IN" sz="3200" b="1" i="0" err="1">
                <a:solidFill>
                  <a:srgbClr val="000000"/>
                </a:solidFill>
                <a:effectLst/>
                <a:latin typeface="Times New Roman" panose="02020603050405020304" pitchFamily="18" charset="0"/>
              </a:rPr>
              <a:t>i</a:t>
            </a:r>
            <a:r>
              <a:rPr lang="en-IN" sz="3200" b="1" i="0">
                <a:solidFill>
                  <a:srgbClr val="000000"/>
                </a:solidFill>
                <a:effectLst/>
                <a:latin typeface="Times New Roman" panose="02020603050405020304" pitchFamily="18" charset="0"/>
              </a:rPr>
              <a:t>):</a:t>
            </a:r>
          </a:p>
          <a:p>
            <a:pPr algn="ctr">
              <a:buNone/>
            </a:pPr>
            <a:r>
              <a:rPr lang="en-IN" sz="3200" b="0" i="1">
                <a:solidFill>
                  <a:srgbClr val="000000"/>
                </a:solidFill>
                <a:effectLst/>
                <a:latin typeface="Times New Roman" panose="02020603050405020304" pitchFamily="18" charset="0"/>
              </a:rPr>
              <a:t>x³ − 6x² + 11x − 6 = 0</a:t>
            </a:r>
            <a:endParaRPr lang="en-IN" sz="3200" b="0" i="0">
              <a:solidFill>
                <a:srgbClr val="000000"/>
              </a:solidFill>
              <a:effectLst/>
              <a:latin typeface="Times New Roman" panose="02020603050405020304" pitchFamily="18" charset="0"/>
            </a:endParaRPr>
          </a:p>
        </p:txBody>
      </p:sp>
      <p:sp>
        <p:nvSpPr>
          <p:cNvPr id="15" name="TextBox 14">
            <a:extLst>
              <a:ext uri="{FF2B5EF4-FFF2-40B4-BE49-F238E27FC236}">
                <a16:creationId xmlns:a16="http://schemas.microsoft.com/office/drawing/2014/main" id="{33BA75BE-3EAC-09D4-A5C0-E66EEBAA1488}"/>
              </a:ext>
            </a:extLst>
          </p:cNvPr>
          <p:cNvSpPr txBox="1"/>
          <p:nvPr/>
        </p:nvSpPr>
        <p:spPr>
          <a:xfrm>
            <a:off x="342900" y="3238500"/>
            <a:ext cx="17602200" cy="6568465"/>
          </a:xfrm>
          <a:prstGeom prst="rect">
            <a:avLst/>
          </a:prstGeom>
          <a:noFill/>
        </p:spPr>
        <p:txBody>
          <a:bodyPr wrap="square">
            <a:spAutoFit/>
          </a:bodyPr>
          <a:lstStyle/>
          <a:p>
            <a:pPr algn="l">
              <a:spcAft>
                <a:spcPts val="750"/>
              </a:spcAft>
              <a:buNone/>
            </a:pPr>
            <a:r>
              <a:rPr lang="en-IN" sz="3200" b="1" i="0">
                <a:solidFill>
                  <a:srgbClr val="000000"/>
                </a:solidFill>
                <a:effectLst/>
                <a:latin typeface="Times New Roman" panose="02020603050405020304" pitchFamily="18" charset="0"/>
              </a:rPr>
              <a:t>Sub-division (ii): Roots are 1, 1, −2</a:t>
            </a:r>
          </a:p>
          <a:p>
            <a:pPr algn="l">
              <a:spcAft>
                <a:spcPts val="900"/>
              </a:spcAft>
              <a:buNone/>
            </a:pPr>
            <a:r>
              <a:rPr lang="en-IN" sz="3200" b="1" i="0">
                <a:solidFill>
                  <a:srgbClr val="000000"/>
                </a:solidFill>
                <a:effectLst/>
                <a:latin typeface="Times New Roman" panose="02020603050405020304" pitchFamily="18" charset="0"/>
              </a:rPr>
              <a:t>Step 1: Find Σ₁, Σ₂, and Σ₃</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Σ₁ = 1 + 1 + (−2) = 0</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Σ₂ = (1)(1) + (1)(−2) + (−2)(1) = 1 − 2 − 2 = −3</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Σ₃ = (1)(1)(−2) = −2</a:t>
            </a:r>
          </a:p>
          <a:p>
            <a:pPr algn="l">
              <a:spcAft>
                <a:spcPts val="1200"/>
              </a:spcAft>
              <a:buNone/>
            </a:pPr>
            <a:r>
              <a:rPr lang="en-IN" sz="3200" b="1" i="0">
                <a:solidFill>
                  <a:srgbClr val="000000"/>
                </a:solidFill>
                <a:effectLst/>
                <a:latin typeface="Times New Roman" panose="02020603050405020304" pitchFamily="18" charset="0"/>
              </a:rPr>
              <a:t>Step 2: Substitute into the formula</a:t>
            </a:r>
          </a:p>
          <a:p>
            <a:pPr algn="ctr">
              <a:spcAft>
                <a:spcPts val="1350"/>
              </a:spcAft>
              <a:buNone/>
            </a:pPr>
            <a:r>
              <a:rPr lang="en-IN" sz="3200" b="0" i="1">
                <a:solidFill>
                  <a:srgbClr val="000000"/>
                </a:solidFill>
                <a:effectLst/>
                <a:latin typeface="Times New Roman" panose="02020603050405020304" pitchFamily="18" charset="0"/>
              </a:rPr>
              <a:t>x³ − (0)x² + (−3)x − (−2) = 0</a:t>
            </a:r>
            <a:endParaRPr lang="en-IN" sz="3200" b="0" i="0">
              <a:solidFill>
                <a:srgbClr val="000000"/>
              </a:solidFill>
              <a:effectLst/>
              <a:latin typeface="Times New Roman" panose="02020603050405020304" pitchFamily="18" charset="0"/>
            </a:endParaRPr>
          </a:p>
          <a:p>
            <a:pPr algn="ctr">
              <a:spcAft>
                <a:spcPts val="2100"/>
              </a:spcAft>
              <a:buNone/>
            </a:pPr>
            <a:r>
              <a:rPr lang="en-IN" sz="3200" b="0" i="1">
                <a:solidFill>
                  <a:srgbClr val="000000"/>
                </a:solidFill>
                <a:effectLst/>
                <a:latin typeface="Times New Roman" panose="02020603050405020304" pitchFamily="18" charset="0"/>
              </a:rPr>
              <a:t>x³ − 3x + 2 = 0</a:t>
            </a:r>
            <a:endParaRPr lang="en-IN" sz="3200" b="0" i="0">
              <a:solidFill>
                <a:srgbClr val="000000"/>
              </a:solidFill>
              <a:effectLst/>
              <a:latin typeface="Times New Roman" panose="02020603050405020304" pitchFamily="18" charset="0"/>
            </a:endParaRPr>
          </a:p>
          <a:p>
            <a:pPr algn="l">
              <a:spcAft>
                <a:spcPts val="1200"/>
              </a:spcAft>
              <a:buNone/>
            </a:pPr>
            <a:r>
              <a:rPr lang="en-IN" sz="3200" b="1" i="0">
                <a:solidFill>
                  <a:srgbClr val="000000"/>
                </a:solidFill>
                <a:effectLst/>
                <a:latin typeface="Times New Roman" panose="02020603050405020304" pitchFamily="18" charset="0"/>
              </a:rPr>
              <a:t>Answer (ii):</a:t>
            </a:r>
          </a:p>
          <a:p>
            <a:pPr algn="ctr">
              <a:buNone/>
            </a:pPr>
            <a:r>
              <a:rPr lang="en-IN" sz="3200" b="0" i="1">
                <a:solidFill>
                  <a:srgbClr val="000000"/>
                </a:solidFill>
                <a:effectLst/>
                <a:latin typeface="Times New Roman" panose="02020603050405020304" pitchFamily="18" charset="0"/>
              </a:rPr>
              <a:t>x³ − 3x + 2 = 0</a:t>
            </a:r>
            <a:endParaRPr lang="en-IN" sz="3200"/>
          </a:p>
        </p:txBody>
      </p:sp>
    </p:spTree>
    <p:extLst>
      <p:ext uri="{BB962C8B-B14F-4D97-AF65-F5344CB8AC3E}">
        <p14:creationId xmlns:p14="http://schemas.microsoft.com/office/powerpoint/2010/main" val="599572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C78706ED-2A80-64FE-1DFB-E53EFE0913AD}"/>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ED9C0655-2412-D47B-3DE2-09DB62867911}"/>
              </a:ext>
            </a:extLst>
          </p:cNvPr>
          <p:cNvSpPr txBox="1"/>
          <p:nvPr/>
        </p:nvSpPr>
        <p:spPr>
          <a:xfrm>
            <a:off x="685800" y="952500"/>
            <a:ext cx="17602200" cy="7835478"/>
          </a:xfrm>
          <a:prstGeom prst="rect">
            <a:avLst/>
          </a:prstGeom>
          <a:noFill/>
        </p:spPr>
        <p:txBody>
          <a:bodyPr wrap="square">
            <a:spAutoFit/>
          </a:bodyPr>
          <a:lstStyle/>
          <a:p>
            <a:pPr algn="l">
              <a:spcAft>
                <a:spcPts val="750"/>
              </a:spcAft>
              <a:buNone/>
            </a:pPr>
            <a:r>
              <a:rPr lang="en-IN" sz="3200" b="1" i="0">
                <a:solidFill>
                  <a:srgbClr val="000000"/>
                </a:solidFill>
                <a:effectLst/>
                <a:latin typeface="Times New Roman" panose="02020603050405020304" pitchFamily="18" charset="0"/>
              </a:rPr>
              <a:t>Sub-division (iii): Roots are 2, ½, 1</a:t>
            </a:r>
          </a:p>
          <a:p>
            <a:pPr algn="l">
              <a:spcAft>
                <a:spcPts val="900"/>
              </a:spcAft>
              <a:buNone/>
            </a:pPr>
            <a:r>
              <a:rPr lang="en-IN" sz="3200" b="1" i="0">
                <a:solidFill>
                  <a:srgbClr val="000000"/>
                </a:solidFill>
                <a:effectLst/>
                <a:latin typeface="Times New Roman" panose="02020603050405020304" pitchFamily="18" charset="0"/>
              </a:rPr>
              <a:t>Step 1: Find Σ₁, Σ₂, and Σ₃</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Σ₁ = 2 + ½ + 1 = 3 + ½ = 7/2</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Σ₂ = (2)(½) + (½)(1) + (1)(2) = 1 + ½ + 2 = 3 + ½ = 7/2</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Σ₃ = (2)(½)(1) = 1</a:t>
            </a:r>
          </a:p>
          <a:p>
            <a:pPr algn="l">
              <a:spcAft>
                <a:spcPts val="1050"/>
              </a:spcAft>
              <a:buNone/>
            </a:pPr>
            <a:r>
              <a:rPr lang="en-IN" sz="3200" b="1" i="0">
                <a:solidFill>
                  <a:srgbClr val="000000"/>
                </a:solidFill>
                <a:effectLst/>
                <a:latin typeface="Times New Roman" panose="02020603050405020304" pitchFamily="18" charset="0"/>
              </a:rPr>
              <a:t>Step 2: Substitute into the formula</a:t>
            </a:r>
          </a:p>
          <a:p>
            <a:pPr algn="ctr">
              <a:spcAft>
                <a:spcPts val="1650"/>
              </a:spcAft>
              <a:buNone/>
            </a:pPr>
            <a:r>
              <a:rPr lang="en-IN" sz="3200" b="0" i="1">
                <a:solidFill>
                  <a:srgbClr val="000000"/>
                </a:solidFill>
                <a:effectLst/>
                <a:latin typeface="Times New Roman" panose="02020603050405020304" pitchFamily="18" charset="0"/>
              </a:rPr>
              <a:t>x³ − (7/2)x² + (7/2)x − 1 = 0</a:t>
            </a:r>
            <a:endParaRPr lang="en-IN" sz="3200" b="0" i="0">
              <a:solidFill>
                <a:srgbClr val="000000"/>
              </a:solidFill>
              <a:effectLst/>
              <a:latin typeface="Times New Roman" panose="02020603050405020304" pitchFamily="18" charset="0"/>
            </a:endParaRPr>
          </a:p>
          <a:p>
            <a:pPr algn="l">
              <a:spcAft>
                <a:spcPts val="1050"/>
              </a:spcAft>
              <a:buNone/>
            </a:pPr>
            <a:r>
              <a:rPr lang="en-IN" sz="3200" b="1" i="0">
                <a:solidFill>
                  <a:srgbClr val="000000"/>
                </a:solidFill>
                <a:effectLst/>
                <a:latin typeface="Times New Roman" panose="02020603050405020304" pitchFamily="18" charset="0"/>
              </a:rPr>
              <a:t>Step 3: Clear the fraction by multiplying the entire equation by 2</a:t>
            </a:r>
          </a:p>
          <a:p>
            <a:pPr algn="ctr">
              <a:spcAft>
                <a:spcPts val="1050"/>
              </a:spcAft>
              <a:buNone/>
            </a:pPr>
            <a:r>
              <a:rPr lang="en-IN" sz="3200" b="0" i="1">
                <a:solidFill>
                  <a:srgbClr val="000000"/>
                </a:solidFill>
                <a:effectLst/>
                <a:latin typeface="Times New Roman" panose="02020603050405020304" pitchFamily="18" charset="0"/>
              </a:rPr>
              <a:t>2(x³ − (7/2)x² + (7/2)x − 1) = 2(0)</a:t>
            </a:r>
            <a:endParaRPr lang="en-IN" sz="3200" b="0" i="0">
              <a:solidFill>
                <a:srgbClr val="000000"/>
              </a:solidFill>
              <a:effectLst/>
              <a:latin typeface="Times New Roman" panose="02020603050405020304" pitchFamily="18" charset="0"/>
            </a:endParaRPr>
          </a:p>
          <a:p>
            <a:pPr algn="ctr">
              <a:spcAft>
                <a:spcPts val="1950"/>
              </a:spcAft>
              <a:buNone/>
            </a:pPr>
            <a:r>
              <a:rPr lang="en-IN" sz="3200" b="0" i="1">
                <a:solidFill>
                  <a:srgbClr val="000000"/>
                </a:solidFill>
                <a:effectLst/>
                <a:latin typeface="Times New Roman" panose="02020603050405020304" pitchFamily="18" charset="0"/>
              </a:rPr>
              <a:t>2x³ − 7x² + 7x − 2 = 0</a:t>
            </a:r>
            <a:endParaRPr lang="en-IN" sz="3200" b="0" i="0">
              <a:solidFill>
                <a:srgbClr val="000000"/>
              </a:solidFill>
              <a:effectLst/>
              <a:latin typeface="Times New Roman" panose="02020603050405020304" pitchFamily="18" charset="0"/>
            </a:endParaRPr>
          </a:p>
          <a:p>
            <a:pPr algn="l">
              <a:spcAft>
                <a:spcPts val="1050"/>
              </a:spcAft>
              <a:buNone/>
            </a:pPr>
            <a:r>
              <a:rPr lang="en-IN" sz="3200" b="1" i="0">
                <a:solidFill>
                  <a:srgbClr val="000000"/>
                </a:solidFill>
                <a:effectLst/>
                <a:latin typeface="Times New Roman" panose="02020603050405020304" pitchFamily="18" charset="0"/>
              </a:rPr>
              <a:t>Answer (iii):</a:t>
            </a:r>
          </a:p>
          <a:p>
            <a:pPr algn="ctr">
              <a:buNone/>
            </a:pPr>
            <a:r>
              <a:rPr lang="en-IN" sz="3200" b="0" i="1">
                <a:solidFill>
                  <a:srgbClr val="000000"/>
                </a:solidFill>
                <a:effectLst/>
                <a:latin typeface="Times New Roman" panose="02020603050405020304" pitchFamily="18" charset="0"/>
              </a:rPr>
              <a:t>2x³ − 7x² + 7x − 2 = 0</a:t>
            </a:r>
            <a:endParaRPr lang="en-IN" sz="3200" b="0" i="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1985745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259C9C83-AB6D-16D2-C789-23A81914BF9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F5FDEFC-EED2-88ED-1482-12EB899A7D25}"/>
              </a:ext>
            </a:extLst>
          </p:cNvPr>
          <p:cNvSpPr txBox="1"/>
          <p:nvPr/>
        </p:nvSpPr>
        <p:spPr>
          <a:xfrm>
            <a:off x="457200" y="266701"/>
            <a:ext cx="17830800" cy="5799023"/>
          </a:xfrm>
          <a:prstGeom prst="rect">
            <a:avLst/>
          </a:prstGeom>
          <a:noFill/>
        </p:spPr>
        <p:txBody>
          <a:bodyPr wrap="square">
            <a:spAutoFit/>
          </a:bodyPr>
          <a:lstStyle/>
          <a:p>
            <a:pPr algn="l">
              <a:spcAft>
                <a:spcPts val="300"/>
              </a:spcAft>
              <a:buNone/>
            </a:pPr>
            <a:r>
              <a:rPr lang="en-IN" sz="3200" b="1">
                <a:solidFill>
                  <a:srgbClr val="000000"/>
                </a:solidFill>
                <a:latin typeface="Times New Roman" panose="02020603050405020304" pitchFamily="18" charset="0"/>
              </a:rPr>
              <a:t>3.</a:t>
            </a:r>
            <a:r>
              <a:rPr lang="en-IN" sz="3200" b="0" i="0">
                <a:solidFill>
                  <a:srgbClr val="000000"/>
                </a:solidFill>
                <a:effectLst/>
                <a:latin typeface="Times New Roman" panose="02020603050405020304" pitchFamily="18" charset="0"/>
              </a:rPr>
              <a:t>If α, β, and γ are the roots of the cubic equation x³ + 2x² + 3x + 4 = 0, form a cubic equation whose roots are:</a:t>
            </a:r>
          </a:p>
          <a:p>
            <a:pPr algn="l">
              <a:spcAft>
                <a:spcPts val="150"/>
              </a:spcAft>
              <a:buNone/>
            </a:pPr>
            <a:r>
              <a:rPr lang="en-IN" sz="3200" b="0" i="0">
                <a:solidFill>
                  <a:srgbClr val="000000"/>
                </a:solidFill>
                <a:effectLst/>
                <a:latin typeface="Times New Roman" panose="02020603050405020304" pitchFamily="18" charset="0"/>
              </a:rPr>
              <a:t>(</a:t>
            </a:r>
            <a:r>
              <a:rPr lang="en-IN" sz="3200" b="0" i="0" err="1">
                <a:solidFill>
                  <a:srgbClr val="000000"/>
                </a:solidFill>
                <a:effectLst/>
                <a:latin typeface="Times New Roman" panose="02020603050405020304" pitchFamily="18" charset="0"/>
              </a:rPr>
              <a:t>i</a:t>
            </a:r>
            <a:r>
              <a:rPr lang="en-IN" sz="3200" b="0" i="0">
                <a:solidFill>
                  <a:srgbClr val="000000"/>
                </a:solidFill>
                <a:effectLst/>
                <a:latin typeface="Times New Roman" panose="02020603050405020304" pitchFamily="18" charset="0"/>
              </a:rPr>
              <a:t>) 2α, 2β, 2γ</a:t>
            </a:r>
          </a:p>
          <a:p>
            <a:pPr algn="l">
              <a:spcAft>
                <a:spcPts val="150"/>
              </a:spcAft>
              <a:buNone/>
            </a:pPr>
            <a:r>
              <a:rPr lang="en-IN" sz="3200" b="0" i="0">
                <a:solidFill>
                  <a:srgbClr val="000000"/>
                </a:solidFill>
                <a:effectLst/>
                <a:latin typeface="Times New Roman" panose="02020603050405020304" pitchFamily="18" charset="0"/>
              </a:rPr>
              <a:t>(ii) 1/α, 1/β, 1/γ</a:t>
            </a:r>
          </a:p>
          <a:p>
            <a:pPr algn="l">
              <a:spcAft>
                <a:spcPts val="1050"/>
              </a:spcAft>
              <a:buNone/>
            </a:pPr>
            <a:r>
              <a:rPr lang="en-IN" sz="3200" b="0" i="0">
                <a:solidFill>
                  <a:srgbClr val="000000"/>
                </a:solidFill>
                <a:effectLst/>
                <a:latin typeface="Times New Roman" panose="02020603050405020304" pitchFamily="18" charset="0"/>
              </a:rPr>
              <a:t>(iii) −α, −β, −γ</a:t>
            </a:r>
          </a:p>
          <a:p>
            <a:pPr algn="l">
              <a:spcAft>
                <a:spcPts val="450"/>
              </a:spcAft>
              <a:buNone/>
            </a:pPr>
            <a:r>
              <a:rPr lang="en-IN" sz="3200" b="1" i="0">
                <a:solidFill>
                  <a:srgbClr val="000000"/>
                </a:solidFill>
                <a:effectLst/>
                <a:latin typeface="Times New Roman" panose="02020603050405020304" pitchFamily="18" charset="0"/>
              </a:rPr>
              <a:t>Given Equation Values:</a:t>
            </a:r>
          </a:p>
          <a:p>
            <a:pPr algn="l">
              <a:spcAft>
                <a:spcPts val="750"/>
              </a:spcAft>
              <a:buNone/>
            </a:pPr>
            <a:r>
              <a:rPr lang="en-IN" sz="3200" b="0" i="0">
                <a:solidFill>
                  <a:srgbClr val="000000"/>
                </a:solidFill>
                <a:effectLst/>
                <a:latin typeface="Times New Roman" panose="02020603050405020304" pitchFamily="18" charset="0"/>
              </a:rPr>
              <a:t>From x³ + 2x² + 3x + 4 = 0:</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Σ₁ = α + β + γ = −2</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Σ₂ = αβ + βγ + γα = 3</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Σ₃ = αβγ = −4</a:t>
            </a:r>
          </a:p>
        </p:txBody>
      </p:sp>
      <p:sp>
        <p:nvSpPr>
          <p:cNvPr id="5" name="TextBox 4">
            <a:extLst>
              <a:ext uri="{FF2B5EF4-FFF2-40B4-BE49-F238E27FC236}">
                <a16:creationId xmlns:a16="http://schemas.microsoft.com/office/drawing/2014/main" id="{909BED67-71C4-8D50-BBC5-BA44AFA67409}"/>
              </a:ext>
            </a:extLst>
          </p:cNvPr>
          <p:cNvSpPr txBox="1"/>
          <p:nvPr/>
        </p:nvSpPr>
        <p:spPr>
          <a:xfrm>
            <a:off x="457200" y="6362700"/>
            <a:ext cx="13030200" cy="3093154"/>
          </a:xfrm>
          <a:prstGeom prst="rect">
            <a:avLst/>
          </a:prstGeom>
          <a:noFill/>
        </p:spPr>
        <p:txBody>
          <a:bodyPr wrap="square">
            <a:spAutoFit/>
          </a:bodyPr>
          <a:lstStyle/>
          <a:p>
            <a:pPr algn="l">
              <a:spcAft>
                <a:spcPts val="600"/>
              </a:spcAft>
              <a:buNone/>
            </a:pPr>
            <a:r>
              <a:rPr lang="en-IN" sz="3200" b="1" i="0">
                <a:solidFill>
                  <a:srgbClr val="000000"/>
                </a:solidFill>
                <a:effectLst/>
                <a:latin typeface="Times New Roman" panose="02020603050405020304" pitchFamily="18" charset="0"/>
              </a:rPr>
              <a:t>Sub-division (</a:t>
            </a:r>
            <a:r>
              <a:rPr lang="en-IN" sz="3200" b="1" i="0" err="1">
                <a:solidFill>
                  <a:srgbClr val="000000"/>
                </a:solidFill>
                <a:effectLst/>
                <a:latin typeface="Times New Roman" panose="02020603050405020304" pitchFamily="18" charset="0"/>
              </a:rPr>
              <a:t>i</a:t>
            </a:r>
            <a:r>
              <a:rPr lang="en-IN" sz="3200" b="1" i="0">
                <a:solidFill>
                  <a:srgbClr val="000000"/>
                </a:solidFill>
                <a:effectLst/>
                <a:latin typeface="Times New Roman" panose="02020603050405020304" pitchFamily="18" charset="0"/>
              </a:rPr>
              <a:t>): Roots are 2α, 2β, 2γ</a:t>
            </a:r>
          </a:p>
          <a:p>
            <a:pPr algn="l">
              <a:spcAft>
                <a:spcPts val="750"/>
              </a:spcAft>
              <a:buNone/>
            </a:pPr>
            <a:r>
              <a:rPr lang="en-IN" sz="3200" b="1" i="0">
                <a:solidFill>
                  <a:srgbClr val="000000"/>
                </a:solidFill>
                <a:effectLst/>
                <a:latin typeface="Times New Roman" panose="02020603050405020304" pitchFamily="18" charset="0"/>
              </a:rPr>
              <a:t>Step 1: Find new coefficients</a:t>
            </a:r>
          </a:p>
          <a:p>
            <a:pPr algn="l">
              <a:spcAft>
                <a:spcPts val="1350"/>
              </a:spcAft>
              <a:buFont typeface="Arial" panose="020B0604020202020204" pitchFamily="34" charset="0"/>
              <a:buChar char="•"/>
            </a:pPr>
            <a:r>
              <a:rPr lang="en-IN" sz="3200" b="0" i="0">
                <a:solidFill>
                  <a:srgbClr val="000000"/>
                </a:solidFill>
                <a:effectLst/>
                <a:latin typeface="Times New Roman" panose="02020603050405020304" pitchFamily="18" charset="0"/>
              </a:rPr>
              <a:t>Σ₁′ = 2α + 2β + 2γ = 2(α + β + γ) = 2(−2) = −4</a:t>
            </a:r>
          </a:p>
          <a:p>
            <a:pPr algn="l">
              <a:spcAft>
                <a:spcPts val="1350"/>
              </a:spcAft>
              <a:buFont typeface="Arial" panose="020B0604020202020204" pitchFamily="34" charset="0"/>
              <a:buChar char="•"/>
            </a:pPr>
            <a:r>
              <a:rPr lang="en-IN" sz="3200" b="0" i="0">
                <a:solidFill>
                  <a:srgbClr val="000000"/>
                </a:solidFill>
                <a:effectLst/>
                <a:latin typeface="Times New Roman" panose="02020603050405020304" pitchFamily="18" charset="0"/>
              </a:rPr>
              <a:t>Σ₂′ = (2α)(2β) + (2β)(2γ) + (2γ)(2α) = 4(αβ + βγ + γα) = 4(3) = 12</a:t>
            </a:r>
          </a:p>
          <a:p>
            <a:pPr algn="l">
              <a:spcAft>
                <a:spcPts val="1350"/>
              </a:spcAft>
              <a:buFont typeface="Arial" panose="020B0604020202020204" pitchFamily="34" charset="0"/>
              <a:buChar char="•"/>
            </a:pPr>
            <a:r>
              <a:rPr lang="en-IN" sz="3200" b="0" i="0">
                <a:solidFill>
                  <a:srgbClr val="000000"/>
                </a:solidFill>
                <a:effectLst/>
                <a:latin typeface="Times New Roman" panose="02020603050405020304" pitchFamily="18" charset="0"/>
              </a:rPr>
              <a:t>Σ₃′ = (2α)(2β)(2γ) = 8(αβγ) = 8(−4) = −32</a:t>
            </a:r>
          </a:p>
        </p:txBody>
      </p:sp>
    </p:spTree>
    <p:extLst>
      <p:ext uri="{BB962C8B-B14F-4D97-AF65-F5344CB8AC3E}">
        <p14:creationId xmlns:p14="http://schemas.microsoft.com/office/powerpoint/2010/main" val="14704528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B055427E-6B6C-E113-D6A2-D1144C38C55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E6A6775-FAD6-1317-08E7-9FDD09C77444}"/>
              </a:ext>
            </a:extLst>
          </p:cNvPr>
          <p:cNvSpPr txBox="1"/>
          <p:nvPr/>
        </p:nvSpPr>
        <p:spPr>
          <a:xfrm>
            <a:off x="266700" y="342900"/>
            <a:ext cx="17754600" cy="2472472"/>
          </a:xfrm>
          <a:prstGeom prst="rect">
            <a:avLst/>
          </a:prstGeom>
          <a:noFill/>
        </p:spPr>
        <p:txBody>
          <a:bodyPr wrap="square">
            <a:spAutoFit/>
          </a:bodyPr>
          <a:lstStyle/>
          <a:p>
            <a:pPr algn="l">
              <a:spcAft>
                <a:spcPts val="1050"/>
              </a:spcAft>
              <a:buNone/>
            </a:pPr>
            <a:r>
              <a:rPr lang="en-IN" sz="3200" b="1" i="0">
                <a:solidFill>
                  <a:srgbClr val="000000"/>
                </a:solidFill>
                <a:effectLst/>
                <a:latin typeface="Times New Roman" panose="02020603050405020304" pitchFamily="18" charset="0"/>
              </a:rPr>
              <a:t>Step 2: Substitute into formula x³ − Σ₁′x² + </a:t>
            </a:r>
            <a:r>
              <a:rPr lang="en-IN" sz="3200" b="1" i="0" err="1">
                <a:solidFill>
                  <a:srgbClr val="000000"/>
                </a:solidFill>
                <a:effectLst/>
                <a:latin typeface="Times New Roman" panose="02020603050405020304" pitchFamily="18" charset="0"/>
              </a:rPr>
              <a:t>Σ₂′x</a:t>
            </a:r>
            <a:r>
              <a:rPr lang="en-IN" sz="3200" b="1" i="0">
                <a:solidFill>
                  <a:srgbClr val="000000"/>
                </a:solidFill>
                <a:effectLst/>
                <a:latin typeface="Times New Roman" panose="02020603050405020304" pitchFamily="18" charset="0"/>
              </a:rPr>
              <a:t> − Σ₃′ = 0</a:t>
            </a:r>
          </a:p>
          <a:p>
            <a:pPr algn="ctr">
              <a:spcAft>
                <a:spcPts val="1200"/>
              </a:spcAft>
              <a:buNone/>
            </a:pPr>
            <a:r>
              <a:rPr lang="en-IN" sz="3200" b="0" i="1">
                <a:solidFill>
                  <a:srgbClr val="000000"/>
                </a:solidFill>
                <a:effectLst/>
                <a:latin typeface="Times New Roman" panose="02020603050405020304" pitchFamily="18" charset="0"/>
              </a:rPr>
              <a:t>x³ − (−4)x² + 12x − (−32) = 0</a:t>
            </a:r>
            <a:endParaRPr lang="en-IN" sz="3200" b="0" i="0">
              <a:solidFill>
                <a:srgbClr val="000000"/>
              </a:solidFill>
              <a:effectLst/>
              <a:latin typeface="Times New Roman" panose="02020603050405020304" pitchFamily="18" charset="0"/>
            </a:endParaRPr>
          </a:p>
          <a:p>
            <a:pPr algn="l">
              <a:spcAft>
                <a:spcPts val="900"/>
              </a:spcAft>
              <a:buNone/>
            </a:pPr>
            <a:r>
              <a:rPr lang="en-IN" sz="3200" b="1" i="0">
                <a:solidFill>
                  <a:srgbClr val="000000"/>
                </a:solidFill>
                <a:effectLst/>
                <a:latin typeface="Times New Roman" panose="02020603050405020304" pitchFamily="18" charset="0"/>
              </a:rPr>
              <a:t>Answer (</a:t>
            </a:r>
            <a:r>
              <a:rPr lang="en-IN" sz="3200" b="1" i="0" err="1">
                <a:solidFill>
                  <a:srgbClr val="000000"/>
                </a:solidFill>
                <a:effectLst/>
                <a:latin typeface="Times New Roman" panose="02020603050405020304" pitchFamily="18" charset="0"/>
              </a:rPr>
              <a:t>i</a:t>
            </a:r>
            <a:r>
              <a:rPr lang="en-IN" sz="3200" b="1" i="0">
                <a:solidFill>
                  <a:srgbClr val="000000"/>
                </a:solidFill>
                <a:effectLst/>
                <a:latin typeface="Times New Roman" panose="02020603050405020304" pitchFamily="18" charset="0"/>
              </a:rPr>
              <a:t>):</a:t>
            </a:r>
          </a:p>
          <a:p>
            <a:pPr algn="ctr">
              <a:buNone/>
            </a:pPr>
            <a:r>
              <a:rPr lang="en-IN" sz="3200" b="0" i="1">
                <a:solidFill>
                  <a:srgbClr val="000000"/>
                </a:solidFill>
                <a:effectLst/>
                <a:latin typeface="Times New Roman" panose="02020603050405020304" pitchFamily="18" charset="0"/>
              </a:rPr>
              <a:t>x³ + 4x² + 12x + 32 = 0</a:t>
            </a:r>
            <a:endParaRPr lang="en-IN" sz="3200" b="0" i="0">
              <a:solidFill>
                <a:srgbClr val="000000"/>
              </a:solidFill>
              <a:effectLst/>
              <a:latin typeface="Times New Roman" panose="02020603050405020304" pitchFamily="18" charset="0"/>
            </a:endParaRPr>
          </a:p>
        </p:txBody>
      </p:sp>
      <p:sp>
        <p:nvSpPr>
          <p:cNvPr id="5" name="TextBox 4">
            <a:extLst>
              <a:ext uri="{FF2B5EF4-FFF2-40B4-BE49-F238E27FC236}">
                <a16:creationId xmlns:a16="http://schemas.microsoft.com/office/drawing/2014/main" id="{28B1E9DB-3FC6-1D61-BAAA-85358CB281EA}"/>
              </a:ext>
            </a:extLst>
          </p:cNvPr>
          <p:cNvSpPr txBox="1"/>
          <p:nvPr/>
        </p:nvSpPr>
        <p:spPr>
          <a:xfrm>
            <a:off x="266700" y="3162300"/>
            <a:ext cx="17640300" cy="5793894"/>
          </a:xfrm>
          <a:prstGeom prst="rect">
            <a:avLst/>
          </a:prstGeom>
          <a:noFill/>
        </p:spPr>
        <p:txBody>
          <a:bodyPr wrap="square">
            <a:spAutoFit/>
          </a:bodyPr>
          <a:lstStyle/>
          <a:p>
            <a:pPr algn="l">
              <a:spcAft>
                <a:spcPts val="600"/>
              </a:spcAft>
              <a:buNone/>
            </a:pPr>
            <a:r>
              <a:rPr lang="en-IN" sz="3200" b="1" i="0">
                <a:solidFill>
                  <a:srgbClr val="000000"/>
                </a:solidFill>
                <a:effectLst/>
                <a:latin typeface="Times New Roman" panose="02020603050405020304" pitchFamily="18" charset="0"/>
              </a:rPr>
              <a:t>Sub-division (ii): Roots are 1/α, 1/β, 1/γ</a:t>
            </a:r>
          </a:p>
          <a:p>
            <a:pPr algn="l">
              <a:spcAft>
                <a:spcPts val="900"/>
              </a:spcAft>
              <a:buNone/>
            </a:pPr>
            <a:r>
              <a:rPr lang="en-IN" sz="3200" b="1" i="0">
                <a:solidFill>
                  <a:srgbClr val="000000"/>
                </a:solidFill>
                <a:effectLst/>
                <a:latin typeface="Times New Roman" panose="02020603050405020304" pitchFamily="18" charset="0"/>
              </a:rPr>
              <a:t>Step 1: Find new coefficients</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Σ₁′ = 1/α + 1/β + 1/γ = (βγ + γα + αβ) / αβγ = 3 / −4 = −3/4</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Σ₂′ = 1/αβ + 1/βγ + 1/γα = (α + β + γ) / αβγ = −2 / −4 = 1/2</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Σ₃′ = 1/αβγ = 1/−4 = −1/4</a:t>
            </a:r>
          </a:p>
          <a:p>
            <a:pPr algn="l">
              <a:spcAft>
                <a:spcPts val="1050"/>
              </a:spcAft>
              <a:buNone/>
            </a:pPr>
            <a:r>
              <a:rPr lang="en-IN" sz="3200" b="1" i="0">
                <a:solidFill>
                  <a:srgbClr val="000000"/>
                </a:solidFill>
                <a:effectLst/>
                <a:latin typeface="Times New Roman" panose="02020603050405020304" pitchFamily="18" charset="0"/>
              </a:rPr>
              <a:t>Step 2: Substitute into formula</a:t>
            </a:r>
          </a:p>
          <a:p>
            <a:pPr algn="ctr">
              <a:spcAft>
                <a:spcPts val="1050"/>
              </a:spcAft>
              <a:buNone/>
            </a:pPr>
            <a:r>
              <a:rPr lang="en-IN" sz="3200" b="0" i="1">
                <a:solidFill>
                  <a:srgbClr val="000000"/>
                </a:solidFill>
                <a:effectLst/>
                <a:latin typeface="Times New Roman" panose="02020603050405020304" pitchFamily="18" charset="0"/>
              </a:rPr>
              <a:t>x³ − (−3/4)x² + (1/2)x − (−1/4) = 0</a:t>
            </a:r>
            <a:endParaRPr lang="en-IN" sz="3200" b="0" i="0">
              <a:solidFill>
                <a:srgbClr val="000000"/>
              </a:solidFill>
              <a:effectLst/>
              <a:latin typeface="Times New Roman" panose="02020603050405020304" pitchFamily="18" charset="0"/>
            </a:endParaRPr>
          </a:p>
          <a:p>
            <a:pPr algn="ctr">
              <a:spcAft>
                <a:spcPts val="1650"/>
              </a:spcAft>
              <a:buNone/>
            </a:pPr>
            <a:r>
              <a:rPr lang="en-IN" sz="3200" b="0" i="1">
                <a:solidFill>
                  <a:srgbClr val="000000"/>
                </a:solidFill>
                <a:effectLst/>
                <a:latin typeface="Times New Roman" panose="02020603050405020304" pitchFamily="18" charset="0"/>
              </a:rPr>
              <a:t>x³ + (3/4)x² + (1/2)x + 1/4 = 0</a:t>
            </a:r>
          </a:p>
          <a:p>
            <a:pPr algn="ctr">
              <a:spcAft>
                <a:spcPts val="1650"/>
              </a:spcAft>
              <a:buNone/>
            </a:pPr>
            <a:endParaRPr lang="en-IN" sz="3200" b="0" i="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27918538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F2D3CFEC-CCBE-12E0-4E55-A29ED3AB43A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C959D69-E96E-987B-0C70-4A093A436E18}"/>
              </a:ext>
            </a:extLst>
          </p:cNvPr>
          <p:cNvSpPr txBox="1"/>
          <p:nvPr/>
        </p:nvSpPr>
        <p:spPr>
          <a:xfrm>
            <a:off x="685800" y="266700"/>
            <a:ext cx="13868400" cy="2510944"/>
          </a:xfrm>
          <a:prstGeom prst="rect">
            <a:avLst/>
          </a:prstGeom>
          <a:noFill/>
        </p:spPr>
        <p:txBody>
          <a:bodyPr wrap="square">
            <a:spAutoFit/>
          </a:bodyPr>
          <a:lstStyle/>
          <a:p>
            <a:pPr algn="l">
              <a:spcAft>
                <a:spcPts val="600"/>
              </a:spcAft>
              <a:buNone/>
            </a:pPr>
            <a:r>
              <a:rPr lang="en-IN" sz="3200" b="1" i="0">
                <a:solidFill>
                  <a:srgbClr val="000000"/>
                </a:solidFill>
                <a:effectLst/>
                <a:latin typeface="Times New Roman" panose="02020603050405020304" pitchFamily="18" charset="0"/>
              </a:rPr>
              <a:t>Step 3: Multiply by 4 to clear fractions</a:t>
            </a:r>
          </a:p>
          <a:p>
            <a:pPr algn="ctr">
              <a:spcAft>
                <a:spcPts val="1800"/>
              </a:spcAft>
              <a:buNone/>
            </a:pPr>
            <a:r>
              <a:rPr lang="en-IN" sz="3200" b="0" i="1">
                <a:solidFill>
                  <a:srgbClr val="000000"/>
                </a:solidFill>
                <a:effectLst/>
                <a:latin typeface="Times New Roman" panose="02020603050405020304" pitchFamily="18" charset="0"/>
              </a:rPr>
              <a:t>4x³ + 3x² + 2x + 1 = 0</a:t>
            </a:r>
            <a:endParaRPr lang="en-IN" sz="3200" b="0" i="0">
              <a:solidFill>
                <a:srgbClr val="000000"/>
              </a:solidFill>
              <a:effectLst/>
              <a:latin typeface="Times New Roman" panose="02020603050405020304" pitchFamily="18" charset="0"/>
            </a:endParaRPr>
          </a:p>
          <a:p>
            <a:pPr algn="l">
              <a:spcAft>
                <a:spcPts val="1050"/>
              </a:spcAft>
              <a:buNone/>
            </a:pPr>
            <a:r>
              <a:rPr lang="en-IN" sz="3200" b="1" i="0">
                <a:solidFill>
                  <a:srgbClr val="000000"/>
                </a:solidFill>
                <a:effectLst/>
                <a:latin typeface="Times New Roman" panose="02020603050405020304" pitchFamily="18" charset="0"/>
              </a:rPr>
              <a:t>Answer (ii):</a:t>
            </a:r>
          </a:p>
          <a:p>
            <a:pPr algn="ctr">
              <a:buNone/>
            </a:pPr>
            <a:r>
              <a:rPr lang="en-IN" sz="3200" b="0" i="1">
                <a:solidFill>
                  <a:srgbClr val="000000"/>
                </a:solidFill>
                <a:effectLst/>
                <a:latin typeface="Times New Roman" panose="02020603050405020304" pitchFamily="18" charset="0"/>
              </a:rPr>
              <a:t>4x³ + 3x² + 2x + 1 = 0</a:t>
            </a:r>
            <a:endParaRPr lang="en-IN" sz="3200" b="0" i="0">
              <a:solidFill>
                <a:srgbClr val="000000"/>
              </a:solidFill>
              <a:effectLst/>
              <a:latin typeface="Times New Roman" panose="02020603050405020304" pitchFamily="18" charset="0"/>
            </a:endParaRPr>
          </a:p>
        </p:txBody>
      </p:sp>
      <p:sp>
        <p:nvSpPr>
          <p:cNvPr id="5" name="TextBox 4">
            <a:extLst>
              <a:ext uri="{FF2B5EF4-FFF2-40B4-BE49-F238E27FC236}">
                <a16:creationId xmlns:a16="http://schemas.microsoft.com/office/drawing/2014/main" id="{78B4CF4D-D2CE-1AA7-BD41-1DCDD865D9CC}"/>
              </a:ext>
            </a:extLst>
          </p:cNvPr>
          <p:cNvSpPr txBox="1"/>
          <p:nvPr/>
        </p:nvSpPr>
        <p:spPr>
          <a:xfrm>
            <a:off x="304800" y="3207764"/>
            <a:ext cx="17830800" cy="5806718"/>
          </a:xfrm>
          <a:prstGeom prst="rect">
            <a:avLst/>
          </a:prstGeom>
          <a:noFill/>
        </p:spPr>
        <p:txBody>
          <a:bodyPr wrap="square">
            <a:spAutoFit/>
          </a:bodyPr>
          <a:lstStyle/>
          <a:p>
            <a:pPr algn="l">
              <a:spcAft>
                <a:spcPts val="600"/>
              </a:spcAft>
              <a:buNone/>
            </a:pPr>
            <a:r>
              <a:rPr lang="en-IN" sz="3200" b="1" i="0">
                <a:solidFill>
                  <a:srgbClr val="000000"/>
                </a:solidFill>
                <a:effectLst/>
                <a:latin typeface="Times New Roman" panose="02020603050405020304" pitchFamily="18" charset="0"/>
              </a:rPr>
              <a:t>Sub-division (iii): Roots are −α, −β, −γ</a:t>
            </a:r>
          </a:p>
          <a:p>
            <a:pPr algn="l">
              <a:spcAft>
                <a:spcPts val="900"/>
              </a:spcAft>
              <a:buNone/>
            </a:pPr>
            <a:r>
              <a:rPr lang="en-IN" sz="3200" b="1" i="0">
                <a:solidFill>
                  <a:srgbClr val="000000"/>
                </a:solidFill>
                <a:effectLst/>
                <a:latin typeface="Times New Roman" panose="02020603050405020304" pitchFamily="18" charset="0"/>
              </a:rPr>
              <a:t>Step 1: Find new coefficients</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Σ₁′ = (−α) + (−β) + (−γ) = −(α + β + γ) = −(−2) = 2</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Σ₂′ = (−α)(−β) + (−β)(−γ) + (−γ)(−α) = αβ + βγ + γα = 3</a:t>
            </a:r>
          </a:p>
          <a:p>
            <a:pPr algn="l">
              <a:spcAft>
                <a:spcPts val="1500"/>
              </a:spcAft>
              <a:buFont typeface="Arial" panose="020B0604020202020204" pitchFamily="34" charset="0"/>
              <a:buChar char="•"/>
            </a:pPr>
            <a:r>
              <a:rPr lang="en-IN" sz="3200" b="0" i="0">
                <a:solidFill>
                  <a:srgbClr val="000000"/>
                </a:solidFill>
                <a:effectLst/>
                <a:latin typeface="Times New Roman" panose="02020603050405020304" pitchFamily="18" charset="0"/>
              </a:rPr>
              <a:t>Σ₃′ = (−α)(−β)(−γ) = −(αβγ) = −(−4) = 4</a:t>
            </a:r>
          </a:p>
          <a:p>
            <a:pPr algn="l">
              <a:spcAft>
                <a:spcPts val="1050"/>
              </a:spcAft>
              <a:buNone/>
            </a:pPr>
            <a:r>
              <a:rPr lang="en-IN" sz="3200" b="1" i="0">
                <a:solidFill>
                  <a:srgbClr val="000000"/>
                </a:solidFill>
                <a:effectLst/>
                <a:latin typeface="Times New Roman" panose="02020603050405020304" pitchFamily="18" charset="0"/>
              </a:rPr>
              <a:t>Step 2: Substitute into formula</a:t>
            </a:r>
          </a:p>
          <a:p>
            <a:pPr algn="ctr">
              <a:spcAft>
                <a:spcPts val="1800"/>
              </a:spcAft>
              <a:buNone/>
            </a:pPr>
            <a:r>
              <a:rPr lang="en-IN" sz="3200" b="0" i="1">
                <a:solidFill>
                  <a:srgbClr val="000000"/>
                </a:solidFill>
                <a:effectLst/>
                <a:latin typeface="Times New Roman" panose="02020603050405020304" pitchFamily="18" charset="0"/>
              </a:rPr>
              <a:t>x³ − (2)x² + 3x − 4 = 0</a:t>
            </a:r>
            <a:endParaRPr lang="en-IN" sz="3200" b="0" i="0">
              <a:solidFill>
                <a:srgbClr val="000000"/>
              </a:solidFill>
              <a:effectLst/>
              <a:latin typeface="Times New Roman" panose="02020603050405020304" pitchFamily="18" charset="0"/>
            </a:endParaRPr>
          </a:p>
          <a:p>
            <a:pPr algn="l">
              <a:spcAft>
                <a:spcPts val="1050"/>
              </a:spcAft>
              <a:buNone/>
            </a:pPr>
            <a:r>
              <a:rPr lang="en-IN" sz="3200" b="1" i="0">
                <a:solidFill>
                  <a:srgbClr val="000000"/>
                </a:solidFill>
                <a:effectLst/>
                <a:latin typeface="Times New Roman" panose="02020603050405020304" pitchFamily="18" charset="0"/>
              </a:rPr>
              <a:t>Answer (iii):</a:t>
            </a:r>
          </a:p>
          <a:p>
            <a:pPr algn="ctr">
              <a:buNone/>
            </a:pPr>
            <a:r>
              <a:rPr lang="en-IN" sz="3200" b="0" i="1">
                <a:solidFill>
                  <a:srgbClr val="000000"/>
                </a:solidFill>
                <a:effectLst/>
                <a:latin typeface="Times New Roman" panose="02020603050405020304" pitchFamily="18" charset="0"/>
              </a:rPr>
              <a:t>x³ − 2x² + 3x − 4 = 0</a:t>
            </a:r>
            <a:endParaRPr lang="en-IN" sz="3200" b="0" i="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5589564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F7B727C8-F9AE-DC19-6ED6-D322A71940E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38A6A1D-86FB-3B70-6B42-356F599356FC}"/>
              </a:ext>
            </a:extLst>
          </p:cNvPr>
          <p:cNvSpPr txBox="1"/>
          <p:nvPr/>
        </p:nvSpPr>
        <p:spPr>
          <a:xfrm>
            <a:off x="457200" y="419100"/>
            <a:ext cx="17830800" cy="8956298"/>
          </a:xfrm>
          <a:prstGeom prst="rect">
            <a:avLst/>
          </a:prstGeom>
          <a:noFill/>
        </p:spPr>
        <p:txBody>
          <a:bodyPr wrap="square">
            <a:spAutoFit/>
          </a:bodyPr>
          <a:lstStyle/>
          <a:p>
            <a:pPr algn="l">
              <a:buNone/>
            </a:pPr>
            <a:r>
              <a:rPr lang="en-IN" sz="3200" b="0" i="0">
                <a:solidFill>
                  <a:srgbClr val="000000"/>
                </a:solidFill>
                <a:effectLst/>
                <a:latin typeface="Times New Roman" panose="02020603050405020304" pitchFamily="18" charset="0"/>
              </a:rPr>
              <a:t>4.Solve the equation 3x³ − 16x² + 23x − 6 = 0 if the product of two roots is 1.</a:t>
            </a:r>
          </a:p>
          <a:p>
            <a:pPr algn="l">
              <a:buNone/>
            </a:pPr>
            <a:endParaRPr lang="en-IN" sz="3200" b="0" i="0">
              <a:solidFill>
                <a:srgbClr val="000000"/>
              </a:solidFill>
              <a:effectLst/>
              <a:latin typeface="Times New Roman" panose="02020603050405020304" pitchFamily="18" charset="0"/>
            </a:endParaRPr>
          </a:p>
          <a:p>
            <a:pPr algn="l">
              <a:buNone/>
            </a:pPr>
            <a:r>
              <a:rPr lang="en-IN" sz="3200" b="1" i="0">
                <a:solidFill>
                  <a:srgbClr val="000000"/>
                </a:solidFill>
                <a:effectLst/>
                <a:latin typeface="Times New Roman" panose="02020603050405020304" pitchFamily="18" charset="0"/>
              </a:rPr>
              <a:t>Step 1:</a:t>
            </a:r>
            <a:r>
              <a:rPr lang="en-IN" sz="3200" b="0" i="0">
                <a:solidFill>
                  <a:srgbClr val="000000"/>
                </a:solidFill>
                <a:effectLst/>
                <a:latin typeface="Times New Roman" panose="02020603050405020304" pitchFamily="18" charset="0"/>
              </a:rPr>
              <a:t> Identify the given information</a:t>
            </a:r>
          </a:p>
          <a:p>
            <a:pPr algn="l">
              <a:buNone/>
            </a:pPr>
            <a:r>
              <a:rPr lang="en-IN" sz="3200" b="0" i="0">
                <a:solidFill>
                  <a:srgbClr val="000000"/>
                </a:solidFill>
                <a:effectLst/>
                <a:latin typeface="Times New Roman" panose="02020603050405020304" pitchFamily="18" charset="0"/>
              </a:rPr>
              <a:t>Let the three roots of the cubic equation be α, β, and γ.</a:t>
            </a:r>
            <a:br>
              <a:rPr lang="en-IN" sz="3200" b="0" i="0">
                <a:solidFill>
                  <a:srgbClr val="000000"/>
                </a:solidFill>
                <a:effectLst/>
                <a:latin typeface="Times New Roman" panose="02020603050405020304" pitchFamily="18" charset="0"/>
              </a:rPr>
            </a:br>
            <a:r>
              <a:rPr lang="en-IN" sz="3200" b="0" i="0">
                <a:solidFill>
                  <a:srgbClr val="000000"/>
                </a:solidFill>
                <a:effectLst/>
                <a:latin typeface="Times New Roman" panose="02020603050405020304" pitchFamily="18" charset="0"/>
              </a:rPr>
              <a:t>Given that the product of two roots is 1, let:</a:t>
            </a:r>
          </a:p>
          <a:p>
            <a:pPr algn="ctr">
              <a:buNone/>
            </a:pPr>
            <a:r>
              <a:rPr lang="en-IN" sz="3200" b="0" i="1">
                <a:solidFill>
                  <a:srgbClr val="000000"/>
                </a:solidFill>
                <a:effectLst/>
                <a:latin typeface="Times New Roman" panose="02020603050405020304" pitchFamily="18" charset="0"/>
              </a:rPr>
              <a:t>α · β = 1  ⟹  β = 1/α</a:t>
            </a:r>
          </a:p>
          <a:p>
            <a:pPr algn="ctr">
              <a:buNone/>
            </a:pPr>
            <a:endParaRPr lang="en-IN" sz="3200" b="0" i="1">
              <a:solidFill>
                <a:srgbClr val="000000"/>
              </a:solidFill>
              <a:effectLst/>
              <a:latin typeface="Times New Roman" panose="02020603050405020304" pitchFamily="18" charset="0"/>
            </a:endParaRPr>
          </a:p>
          <a:p>
            <a:pPr algn="l">
              <a:buNone/>
            </a:pPr>
            <a:r>
              <a:rPr lang="en-IN" sz="3200" b="1" i="0">
                <a:solidFill>
                  <a:srgbClr val="000000"/>
                </a:solidFill>
                <a:effectLst/>
                <a:latin typeface="Times New Roman" panose="02020603050405020304" pitchFamily="18" charset="0"/>
              </a:rPr>
              <a:t>Step 2:</a:t>
            </a:r>
            <a:r>
              <a:rPr lang="en-IN" sz="3200" b="0" i="0">
                <a:solidFill>
                  <a:srgbClr val="000000"/>
                </a:solidFill>
                <a:effectLst/>
                <a:latin typeface="Times New Roman" panose="02020603050405020304" pitchFamily="18" charset="0"/>
              </a:rPr>
              <a:t> Use Vieta's formulas</a:t>
            </a:r>
          </a:p>
          <a:p>
            <a:pPr algn="l">
              <a:buNone/>
            </a:pPr>
            <a:r>
              <a:rPr lang="en-IN" sz="3200" b="0" i="0">
                <a:solidFill>
                  <a:srgbClr val="000000"/>
                </a:solidFill>
                <a:effectLst/>
                <a:latin typeface="Times New Roman" panose="02020603050405020304" pitchFamily="18" charset="0"/>
              </a:rPr>
              <a:t>From the cubic equation 3x³ − 16x² + 23x − 6 = 0:</a:t>
            </a:r>
          </a:p>
          <a:p>
            <a:pPr algn="l">
              <a:buNone/>
            </a:pPr>
            <a:r>
              <a:rPr lang="en-IN" sz="3200" b="0" i="1">
                <a:solidFill>
                  <a:srgbClr val="000000"/>
                </a:solidFill>
                <a:effectLst/>
                <a:latin typeface="Times New Roman" panose="02020603050405020304" pitchFamily="18" charset="0"/>
              </a:rPr>
              <a:t>○   a = 3</a:t>
            </a:r>
          </a:p>
          <a:p>
            <a:pPr algn="l">
              <a:buNone/>
            </a:pPr>
            <a:r>
              <a:rPr lang="en-IN" sz="3200" b="0" i="1">
                <a:solidFill>
                  <a:srgbClr val="000000"/>
                </a:solidFill>
                <a:effectLst/>
                <a:latin typeface="Times New Roman" panose="02020603050405020304" pitchFamily="18" charset="0"/>
              </a:rPr>
              <a:t>○   b = −16</a:t>
            </a:r>
          </a:p>
          <a:p>
            <a:pPr algn="l">
              <a:buNone/>
            </a:pPr>
            <a:r>
              <a:rPr lang="en-IN" sz="3200" b="0" i="1">
                <a:solidFill>
                  <a:srgbClr val="000000"/>
                </a:solidFill>
                <a:effectLst/>
                <a:latin typeface="Times New Roman" panose="02020603050405020304" pitchFamily="18" charset="0"/>
              </a:rPr>
              <a:t>○   c = 23</a:t>
            </a:r>
          </a:p>
          <a:p>
            <a:pPr algn="l">
              <a:buNone/>
            </a:pPr>
            <a:r>
              <a:rPr lang="en-IN" sz="3200" b="0" i="1">
                <a:solidFill>
                  <a:srgbClr val="000000"/>
                </a:solidFill>
                <a:effectLst/>
                <a:latin typeface="Times New Roman" panose="02020603050405020304" pitchFamily="18" charset="0"/>
              </a:rPr>
              <a:t>○   d = −6</a:t>
            </a:r>
          </a:p>
          <a:p>
            <a:pPr algn="l">
              <a:buNone/>
            </a:pPr>
            <a:r>
              <a:rPr lang="en-IN" sz="3200" b="0" i="0">
                <a:solidFill>
                  <a:srgbClr val="000000"/>
                </a:solidFill>
                <a:effectLst/>
                <a:latin typeface="Times New Roman" panose="02020603050405020304" pitchFamily="18" charset="0"/>
              </a:rPr>
              <a:t>The product of all three roots is:</a:t>
            </a:r>
          </a:p>
          <a:p>
            <a:pPr algn="ctr">
              <a:buNone/>
            </a:pPr>
            <a:r>
              <a:rPr lang="en-IN" sz="3200" b="0" i="1">
                <a:solidFill>
                  <a:srgbClr val="000000"/>
                </a:solidFill>
                <a:effectLst/>
                <a:latin typeface="Times New Roman" panose="02020603050405020304" pitchFamily="18" charset="0"/>
              </a:rPr>
              <a:t>α · β · γ = −d/a</a:t>
            </a:r>
          </a:p>
          <a:p>
            <a:pPr algn="ctr">
              <a:buNone/>
            </a:pPr>
            <a:r>
              <a:rPr lang="en-IN" sz="3200" b="0" i="1">
                <a:solidFill>
                  <a:srgbClr val="000000"/>
                </a:solidFill>
                <a:effectLst/>
                <a:latin typeface="Times New Roman" panose="02020603050405020304" pitchFamily="18" charset="0"/>
              </a:rPr>
              <a:t>(α · β) · γ = −(−6)/3</a:t>
            </a:r>
          </a:p>
          <a:p>
            <a:pPr algn="l">
              <a:buNone/>
            </a:pPr>
            <a:r>
              <a:rPr lang="en-IN" sz="3200" b="0" i="0">
                <a:solidFill>
                  <a:srgbClr val="000000"/>
                </a:solidFill>
                <a:effectLst/>
                <a:latin typeface="Times New Roman" panose="02020603050405020304" pitchFamily="18" charset="0"/>
              </a:rPr>
              <a:t>Substitute α · β = 1:</a:t>
            </a:r>
          </a:p>
          <a:p>
            <a:pPr algn="ctr">
              <a:buNone/>
            </a:pPr>
            <a:r>
              <a:rPr lang="en-IN" sz="3200" b="0" i="1">
                <a:solidFill>
                  <a:srgbClr val="000000"/>
                </a:solidFill>
                <a:effectLst/>
                <a:latin typeface="Times New Roman" panose="02020603050405020304" pitchFamily="18" charset="0"/>
              </a:rPr>
              <a:t>1 · γ = 2  ⟹  γ = 2</a:t>
            </a:r>
          </a:p>
        </p:txBody>
      </p:sp>
    </p:spTree>
    <p:extLst>
      <p:ext uri="{BB962C8B-B14F-4D97-AF65-F5344CB8AC3E}">
        <p14:creationId xmlns:p14="http://schemas.microsoft.com/office/powerpoint/2010/main" val="2397017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2B73FDAD-0453-7651-A7D3-B57DE1909751}"/>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27EE51F5-F659-1736-0A74-DA5495259C53}"/>
              </a:ext>
            </a:extLst>
          </p:cNvPr>
          <p:cNvSpPr txBox="1"/>
          <p:nvPr/>
        </p:nvSpPr>
        <p:spPr>
          <a:xfrm>
            <a:off x="381000" y="495300"/>
            <a:ext cx="16764000" cy="2469907"/>
          </a:xfrm>
          <a:prstGeom prst="rect">
            <a:avLst/>
          </a:prstGeom>
          <a:noFill/>
        </p:spPr>
        <p:txBody>
          <a:bodyPr wrap="square">
            <a:spAutoFit/>
          </a:bodyPr>
          <a:lstStyle/>
          <a:p>
            <a:pPr algn="l">
              <a:spcAft>
                <a:spcPts val="900"/>
              </a:spcAft>
              <a:buNone/>
            </a:pPr>
            <a:r>
              <a:rPr lang="en-IN" sz="3200" b="1" i="0">
                <a:solidFill>
                  <a:srgbClr val="000000"/>
                </a:solidFill>
                <a:effectLst/>
                <a:latin typeface="Times New Roman" panose="02020603050405020304" pitchFamily="18" charset="0"/>
                <a:cs typeface="Times New Roman" panose="02020603050405020304" pitchFamily="18" charset="0"/>
              </a:rPr>
              <a:t>Step 3: Find the remaining roots</a:t>
            </a:r>
          </a:p>
          <a:p>
            <a:pPr algn="l">
              <a:spcAft>
                <a:spcPts val="1800"/>
              </a:spcAft>
              <a:buNone/>
            </a:pPr>
            <a:r>
              <a:rPr lang="en-IN" sz="3200" b="0" i="0">
                <a:solidFill>
                  <a:srgbClr val="000000"/>
                </a:solidFill>
                <a:effectLst/>
                <a:latin typeface="Times New Roman" panose="02020603050405020304" pitchFamily="18" charset="0"/>
                <a:cs typeface="Times New Roman" panose="02020603050405020304" pitchFamily="18" charset="0"/>
              </a:rPr>
              <a:t>Since γ = 2 is a root, we can use synthetic division or polynomial long division to divide the original equation by (</a:t>
            </a:r>
            <a:r>
              <a:rPr lang="en-IN" sz="3200" b="0" i="1">
                <a:solidFill>
                  <a:srgbClr val="000000"/>
                </a:solidFill>
                <a:effectLst/>
                <a:latin typeface="Times New Roman" panose="02020603050405020304" pitchFamily="18" charset="0"/>
                <a:cs typeface="Times New Roman" panose="02020603050405020304" pitchFamily="18" charset="0"/>
              </a:rPr>
              <a:t>x</a:t>
            </a:r>
            <a:r>
              <a:rPr lang="en-IN" sz="3200" b="0" i="0">
                <a:solidFill>
                  <a:srgbClr val="000000"/>
                </a:solidFill>
                <a:effectLst/>
                <a:latin typeface="Times New Roman" panose="02020603050405020304" pitchFamily="18" charset="0"/>
                <a:cs typeface="Times New Roman" panose="02020603050405020304" pitchFamily="18" charset="0"/>
              </a:rPr>
              <a:t> − 2):</a:t>
            </a:r>
          </a:p>
          <a:p>
            <a:pPr>
              <a:buNone/>
            </a:pPr>
            <a:br>
              <a:rPr lang="en-IN">
                <a:latin typeface="Times New Roman" panose="02020603050405020304" pitchFamily="18" charset="0"/>
                <a:cs typeface="Times New Roman" panose="02020603050405020304" pitchFamily="18" charset="0"/>
              </a:rPr>
            </a:br>
            <a:endParaRPr lang="en-IN">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D1491A77-C814-91AE-A64D-BA6B50B541CA}"/>
              </a:ext>
            </a:extLst>
          </p:cNvPr>
          <p:cNvSpPr txBox="1"/>
          <p:nvPr/>
        </p:nvSpPr>
        <p:spPr>
          <a:xfrm>
            <a:off x="381000" y="3877136"/>
            <a:ext cx="18364200" cy="6217087"/>
          </a:xfrm>
          <a:prstGeom prst="rect">
            <a:avLst/>
          </a:prstGeom>
          <a:noFill/>
        </p:spPr>
        <p:txBody>
          <a:bodyPr wrap="square">
            <a:spAutoFit/>
          </a:bodyPr>
          <a:lstStyle/>
          <a:p>
            <a:pPr algn="l">
              <a:spcAft>
                <a:spcPts val="1200"/>
              </a:spcAft>
              <a:buNone/>
            </a:pPr>
            <a:r>
              <a:rPr lang="en-IN" sz="3200" b="0" i="0">
                <a:solidFill>
                  <a:srgbClr val="000000"/>
                </a:solidFill>
                <a:effectLst/>
                <a:latin typeface="Times New Roman" panose="02020603050405020304" pitchFamily="18" charset="0"/>
                <a:cs typeface="Times New Roman" panose="02020603050405020304" pitchFamily="18" charset="0"/>
              </a:rPr>
              <a:t>The remaining quadratic equation is:</a:t>
            </a:r>
          </a:p>
          <a:p>
            <a:pPr algn="ctr">
              <a:spcAft>
                <a:spcPts val="2400"/>
              </a:spcAft>
              <a:buNone/>
            </a:pPr>
            <a:r>
              <a:rPr lang="en-IN" sz="3200" b="0" i="0">
                <a:solidFill>
                  <a:srgbClr val="000000"/>
                </a:solidFill>
                <a:effectLst/>
                <a:latin typeface="Times New Roman" panose="02020603050405020304" pitchFamily="18" charset="0"/>
                <a:cs typeface="Times New Roman" panose="02020603050405020304" pitchFamily="18" charset="0"/>
              </a:rPr>
              <a:t>3</a:t>
            </a:r>
            <a:r>
              <a:rPr lang="en-IN" sz="3200" b="0" i="1">
                <a:solidFill>
                  <a:srgbClr val="000000"/>
                </a:solidFill>
                <a:effectLst/>
                <a:latin typeface="Times New Roman" panose="02020603050405020304" pitchFamily="18" charset="0"/>
                <a:cs typeface="Times New Roman" panose="02020603050405020304" pitchFamily="18" charset="0"/>
              </a:rPr>
              <a:t>x</a:t>
            </a:r>
            <a:r>
              <a:rPr lang="en-IN" sz="3200" b="0" i="0">
                <a:solidFill>
                  <a:srgbClr val="000000"/>
                </a:solidFill>
                <a:effectLst/>
                <a:latin typeface="Times New Roman" panose="02020603050405020304" pitchFamily="18" charset="0"/>
                <a:cs typeface="Times New Roman" panose="02020603050405020304" pitchFamily="18" charset="0"/>
              </a:rPr>
              <a:t>² − 10</a:t>
            </a:r>
            <a:r>
              <a:rPr lang="en-IN" sz="3200" b="0" i="1">
                <a:solidFill>
                  <a:srgbClr val="000000"/>
                </a:solidFill>
                <a:effectLst/>
                <a:latin typeface="Times New Roman" panose="02020603050405020304" pitchFamily="18" charset="0"/>
                <a:cs typeface="Times New Roman" panose="02020603050405020304" pitchFamily="18" charset="0"/>
              </a:rPr>
              <a:t>x</a:t>
            </a:r>
            <a:r>
              <a:rPr lang="en-IN" sz="3200" b="0" i="0">
                <a:solidFill>
                  <a:srgbClr val="000000"/>
                </a:solidFill>
                <a:effectLst/>
                <a:latin typeface="Times New Roman" panose="02020603050405020304" pitchFamily="18" charset="0"/>
                <a:cs typeface="Times New Roman" panose="02020603050405020304" pitchFamily="18" charset="0"/>
              </a:rPr>
              <a:t> + 3 = 0</a:t>
            </a:r>
          </a:p>
          <a:p>
            <a:pPr algn="l">
              <a:spcAft>
                <a:spcPts val="1800"/>
              </a:spcAft>
              <a:buNone/>
            </a:pPr>
            <a:r>
              <a:rPr lang="en-IN" sz="3200" b="1" i="0">
                <a:solidFill>
                  <a:srgbClr val="000000"/>
                </a:solidFill>
                <a:effectLst/>
                <a:latin typeface="Times New Roman" panose="02020603050405020304" pitchFamily="18" charset="0"/>
                <a:cs typeface="Times New Roman" panose="02020603050405020304" pitchFamily="18" charset="0"/>
              </a:rPr>
              <a:t>Step 4: Solve the quadratic equation</a:t>
            </a:r>
          </a:p>
          <a:p>
            <a:pPr algn="ctr">
              <a:spcAft>
                <a:spcPts val="1650"/>
              </a:spcAft>
              <a:buNone/>
            </a:pPr>
            <a:r>
              <a:rPr lang="en-IN" sz="3200" b="0" i="0">
                <a:solidFill>
                  <a:srgbClr val="000000"/>
                </a:solidFill>
                <a:effectLst/>
                <a:latin typeface="Times New Roman" panose="02020603050405020304" pitchFamily="18" charset="0"/>
                <a:cs typeface="Times New Roman" panose="02020603050405020304" pitchFamily="18" charset="0"/>
              </a:rPr>
              <a:t>3</a:t>
            </a:r>
            <a:r>
              <a:rPr lang="en-IN" sz="3200" b="0" i="1">
                <a:solidFill>
                  <a:srgbClr val="000000"/>
                </a:solidFill>
                <a:effectLst/>
                <a:latin typeface="Times New Roman" panose="02020603050405020304" pitchFamily="18" charset="0"/>
                <a:cs typeface="Times New Roman" panose="02020603050405020304" pitchFamily="18" charset="0"/>
              </a:rPr>
              <a:t>x</a:t>
            </a:r>
            <a:r>
              <a:rPr lang="en-IN" sz="3200" b="0" i="0">
                <a:solidFill>
                  <a:srgbClr val="000000"/>
                </a:solidFill>
                <a:effectLst/>
                <a:latin typeface="Times New Roman" panose="02020603050405020304" pitchFamily="18" charset="0"/>
                <a:cs typeface="Times New Roman" panose="02020603050405020304" pitchFamily="18" charset="0"/>
              </a:rPr>
              <a:t>² − 9</a:t>
            </a:r>
            <a:r>
              <a:rPr lang="en-IN" sz="3200" b="0" i="1">
                <a:solidFill>
                  <a:srgbClr val="000000"/>
                </a:solidFill>
                <a:effectLst/>
                <a:latin typeface="Times New Roman" panose="02020603050405020304" pitchFamily="18" charset="0"/>
                <a:cs typeface="Times New Roman" panose="02020603050405020304" pitchFamily="18" charset="0"/>
              </a:rPr>
              <a:t>x</a:t>
            </a:r>
            <a:r>
              <a:rPr lang="en-IN" sz="3200" b="0" i="0">
                <a:solidFill>
                  <a:srgbClr val="000000"/>
                </a:solidFill>
                <a:effectLst/>
                <a:latin typeface="Times New Roman" panose="02020603050405020304" pitchFamily="18" charset="0"/>
                <a:cs typeface="Times New Roman" panose="02020603050405020304" pitchFamily="18" charset="0"/>
              </a:rPr>
              <a:t> − </a:t>
            </a:r>
            <a:r>
              <a:rPr lang="en-IN" sz="3200" b="0" i="1">
                <a:solidFill>
                  <a:srgbClr val="000000"/>
                </a:solidFill>
                <a:effectLst/>
                <a:latin typeface="Times New Roman" panose="02020603050405020304" pitchFamily="18" charset="0"/>
                <a:cs typeface="Times New Roman" panose="02020603050405020304" pitchFamily="18" charset="0"/>
              </a:rPr>
              <a:t>x</a:t>
            </a:r>
            <a:r>
              <a:rPr lang="en-IN" sz="3200" b="0" i="0">
                <a:solidFill>
                  <a:srgbClr val="000000"/>
                </a:solidFill>
                <a:effectLst/>
                <a:latin typeface="Times New Roman" panose="02020603050405020304" pitchFamily="18" charset="0"/>
                <a:cs typeface="Times New Roman" panose="02020603050405020304" pitchFamily="18" charset="0"/>
              </a:rPr>
              <a:t> + 3 = 0</a:t>
            </a:r>
          </a:p>
          <a:p>
            <a:pPr algn="ctr">
              <a:spcAft>
                <a:spcPts val="1650"/>
              </a:spcAft>
              <a:buNone/>
            </a:pPr>
            <a:r>
              <a:rPr lang="en-IN" sz="3200" b="0" i="0">
                <a:solidFill>
                  <a:srgbClr val="000000"/>
                </a:solidFill>
                <a:effectLst/>
                <a:latin typeface="Times New Roman" panose="02020603050405020304" pitchFamily="18" charset="0"/>
                <a:cs typeface="Times New Roman" panose="02020603050405020304" pitchFamily="18" charset="0"/>
              </a:rPr>
              <a:t>3</a:t>
            </a:r>
            <a:r>
              <a:rPr lang="en-IN" sz="3200" b="0" i="1">
                <a:solidFill>
                  <a:srgbClr val="000000"/>
                </a:solidFill>
                <a:effectLst/>
                <a:latin typeface="Times New Roman" panose="02020603050405020304" pitchFamily="18" charset="0"/>
                <a:cs typeface="Times New Roman" panose="02020603050405020304" pitchFamily="18" charset="0"/>
              </a:rPr>
              <a:t>x</a:t>
            </a:r>
            <a:r>
              <a:rPr lang="en-IN" sz="3200" b="0" i="0">
                <a:solidFill>
                  <a:srgbClr val="000000"/>
                </a:solidFill>
                <a:effectLst/>
                <a:latin typeface="Times New Roman" panose="02020603050405020304" pitchFamily="18" charset="0"/>
                <a:cs typeface="Times New Roman" panose="02020603050405020304" pitchFamily="18" charset="0"/>
              </a:rPr>
              <a:t>(</a:t>
            </a:r>
            <a:r>
              <a:rPr lang="en-IN" sz="3200" b="0" i="1">
                <a:solidFill>
                  <a:srgbClr val="000000"/>
                </a:solidFill>
                <a:effectLst/>
                <a:latin typeface="Times New Roman" panose="02020603050405020304" pitchFamily="18" charset="0"/>
                <a:cs typeface="Times New Roman" panose="02020603050405020304" pitchFamily="18" charset="0"/>
              </a:rPr>
              <a:t>x</a:t>
            </a:r>
            <a:r>
              <a:rPr lang="en-IN" sz="3200" b="0" i="0">
                <a:solidFill>
                  <a:srgbClr val="000000"/>
                </a:solidFill>
                <a:effectLst/>
                <a:latin typeface="Times New Roman" panose="02020603050405020304" pitchFamily="18" charset="0"/>
                <a:cs typeface="Times New Roman" panose="02020603050405020304" pitchFamily="18" charset="0"/>
              </a:rPr>
              <a:t> − 3) − 1(</a:t>
            </a:r>
            <a:r>
              <a:rPr lang="en-IN" sz="3200" b="0" i="1">
                <a:solidFill>
                  <a:srgbClr val="000000"/>
                </a:solidFill>
                <a:effectLst/>
                <a:latin typeface="Times New Roman" panose="02020603050405020304" pitchFamily="18" charset="0"/>
                <a:cs typeface="Times New Roman" panose="02020603050405020304" pitchFamily="18" charset="0"/>
              </a:rPr>
              <a:t>x</a:t>
            </a:r>
            <a:r>
              <a:rPr lang="en-IN" sz="3200" b="0" i="0">
                <a:solidFill>
                  <a:srgbClr val="000000"/>
                </a:solidFill>
                <a:effectLst/>
                <a:latin typeface="Times New Roman" panose="02020603050405020304" pitchFamily="18" charset="0"/>
                <a:cs typeface="Times New Roman" panose="02020603050405020304" pitchFamily="18" charset="0"/>
              </a:rPr>
              <a:t> − 3) = 0</a:t>
            </a:r>
          </a:p>
          <a:p>
            <a:pPr algn="ctr">
              <a:spcAft>
                <a:spcPts val="1650"/>
              </a:spcAft>
              <a:buNone/>
            </a:pPr>
            <a:r>
              <a:rPr lang="en-IN" sz="3200" b="0" i="0">
                <a:solidFill>
                  <a:srgbClr val="000000"/>
                </a:solidFill>
                <a:effectLst/>
                <a:latin typeface="Times New Roman" panose="02020603050405020304" pitchFamily="18" charset="0"/>
                <a:cs typeface="Times New Roman" panose="02020603050405020304" pitchFamily="18" charset="0"/>
              </a:rPr>
              <a:t>(3</a:t>
            </a:r>
            <a:r>
              <a:rPr lang="en-IN" sz="3200" b="0" i="1">
                <a:solidFill>
                  <a:srgbClr val="000000"/>
                </a:solidFill>
                <a:effectLst/>
                <a:latin typeface="Times New Roman" panose="02020603050405020304" pitchFamily="18" charset="0"/>
                <a:cs typeface="Times New Roman" panose="02020603050405020304" pitchFamily="18" charset="0"/>
              </a:rPr>
              <a:t>x</a:t>
            </a:r>
            <a:r>
              <a:rPr lang="en-IN" sz="3200" b="0" i="0">
                <a:solidFill>
                  <a:srgbClr val="000000"/>
                </a:solidFill>
                <a:effectLst/>
                <a:latin typeface="Times New Roman" panose="02020603050405020304" pitchFamily="18" charset="0"/>
                <a:cs typeface="Times New Roman" panose="02020603050405020304" pitchFamily="18" charset="0"/>
              </a:rPr>
              <a:t> − 1)(</a:t>
            </a:r>
            <a:r>
              <a:rPr lang="en-IN" sz="3200" b="0" i="1">
                <a:solidFill>
                  <a:srgbClr val="000000"/>
                </a:solidFill>
                <a:effectLst/>
                <a:latin typeface="Times New Roman" panose="02020603050405020304" pitchFamily="18" charset="0"/>
                <a:cs typeface="Times New Roman" panose="02020603050405020304" pitchFamily="18" charset="0"/>
              </a:rPr>
              <a:t>x</a:t>
            </a:r>
            <a:r>
              <a:rPr lang="en-IN" sz="3200" b="0" i="0">
                <a:solidFill>
                  <a:srgbClr val="000000"/>
                </a:solidFill>
                <a:effectLst/>
                <a:latin typeface="Times New Roman" panose="02020603050405020304" pitchFamily="18" charset="0"/>
                <a:cs typeface="Times New Roman" panose="02020603050405020304" pitchFamily="18" charset="0"/>
              </a:rPr>
              <a:t> − 3) = 0</a:t>
            </a:r>
          </a:p>
          <a:p>
            <a:pPr algn="ctr">
              <a:spcAft>
                <a:spcPts val="2700"/>
              </a:spcAft>
              <a:buNone/>
            </a:pPr>
            <a:r>
              <a:rPr lang="en-IN" sz="3200" b="0" i="1">
                <a:solidFill>
                  <a:srgbClr val="000000"/>
                </a:solidFill>
                <a:effectLst/>
                <a:latin typeface="Times New Roman" panose="02020603050405020304" pitchFamily="18" charset="0"/>
                <a:cs typeface="Times New Roman" panose="02020603050405020304" pitchFamily="18" charset="0"/>
              </a:rPr>
              <a:t>x</a:t>
            </a:r>
            <a:r>
              <a:rPr lang="en-IN" sz="3200" b="0" i="0">
                <a:solidFill>
                  <a:srgbClr val="000000"/>
                </a:solidFill>
                <a:effectLst/>
                <a:latin typeface="Times New Roman" panose="02020603050405020304" pitchFamily="18" charset="0"/>
                <a:cs typeface="Times New Roman" panose="02020603050405020304" pitchFamily="18" charset="0"/>
              </a:rPr>
              <a:t> = 13    or    </a:t>
            </a:r>
            <a:r>
              <a:rPr lang="en-IN" sz="3200" b="0" i="1">
                <a:solidFill>
                  <a:srgbClr val="000000"/>
                </a:solidFill>
                <a:effectLst/>
                <a:latin typeface="Times New Roman" panose="02020603050405020304" pitchFamily="18" charset="0"/>
                <a:cs typeface="Times New Roman" panose="02020603050405020304" pitchFamily="18" charset="0"/>
              </a:rPr>
              <a:t>x</a:t>
            </a:r>
            <a:r>
              <a:rPr lang="en-IN" sz="3200" b="0" i="0">
                <a:solidFill>
                  <a:srgbClr val="000000"/>
                </a:solidFill>
                <a:effectLst/>
                <a:latin typeface="Times New Roman" panose="02020603050405020304" pitchFamily="18" charset="0"/>
                <a:cs typeface="Times New Roman" panose="02020603050405020304" pitchFamily="18" charset="0"/>
              </a:rPr>
              <a:t> = 3</a:t>
            </a:r>
            <a:br>
              <a:rPr lang="en-IN" sz="3200">
                <a:latin typeface="Times New Roman" panose="02020603050405020304" pitchFamily="18" charset="0"/>
                <a:cs typeface="Times New Roman" panose="02020603050405020304" pitchFamily="18" charset="0"/>
              </a:rPr>
            </a:br>
            <a:endParaRPr lang="en-IN" sz="3200">
              <a:latin typeface="Times New Roman" panose="02020603050405020304" pitchFamily="18" charset="0"/>
              <a:cs typeface="Times New Roman" panose="02020603050405020304" pitchFamily="18" charset="0"/>
            </a:endParaRPr>
          </a:p>
          <a:p>
            <a:pPr algn="l">
              <a:buNone/>
            </a:pPr>
            <a:r>
              <a:rPr lang="en-IN" sz="3200" b="1" i="0">
                <a:solidFill>
                  <a:srgbClr val="000000"/>
                </a:solidFill>
                <a:effectLst/>
                <a:latin typeface="Times New Roman" panose="02020603050405020304" pitchFamily="18" charset="0"/>
                <a:cs typeface="Times New Roman" panose="02020603050405020304" pitchFamily="18" charset="0"/>
              </a:rPr>
              <a:t>Answer:</a:t>
            </a:r>
            <a:r>
              <a:rPr lang="en-IN" sz="3200" b="0" i="0">
                <a:solidFill>
                  <a:srgbClr val="000000"/>
                </a:solidFill>
                <a:effectLst/>
                <a:latin typeface="Times New Roman" panose="02020603050405020304" pitchFamily="18" charset="0"/>
                <a:cs typeface="Times New Roman" panose="02020603050405020304" pitchFamily="18" charset="0"/>
              </a:rPr>
              <a:t> The roots of the equation are </a:t>
            </a:r>
            <a:r>
              <a:rPr lang="en-IN" sz="3200" b="0" i="0" baseline="30000">
                <a:solidFill>
                  <a:srgbClr val="000000"/>
                </a:solidFill>
                <a:effectLst/>
                <a:latin typeface="Times New Roman" panose="02020603050405020304" pitchFamily="18" charset="0"/>
                <a:cs typeface="Times New Roman" panose="02020603050405020304" pitchFamily="18" charset="0"/>
              </a:rPr>
              <a:t>1</a:t>
            </a:r>
            <a:r>
              <a:rPr lang="en-IN" sz="3200" b="0" i="0">
                <a:solidFill>
                  <a:srgbClr val="000000"/>
                </a:solidFill>
                <a:effectLst/>
                <a:latin typeface="Times New Roman" panose="02020603050405020304" pitchFamily="18" charset="0"/>
                <a:cs typeface="Times New Roman" panose="02020603050405020304" pitchFamily="18" charset="0"/>
              </a:rPr>
              <a:t>⁄</a:t>
            </a:r>
            <a:r>
              <a:rPr lang="en-IN" sz="3200" b="0" i="0" baseline="-25000">
                <a:solidFill>
                  <a:srgbClr val="000000"/>
                </a:solidFill>
                <a:effectLst/>
                <a:latin typeface="Times New Roman" panose="02020603050405020304" pitchFamily="18" charset="0"/>
                <a:cs typeface="Times New Roman" panose="02020603050405020304" pitchFamily="18" charset="0"/>
              </a:rPr>
              <a:t>3</a:t>
            </a:r>
            <a:r>
              <a:rPr lang="en-IN" sz="3200" b="0" i="0">
                <a:solidFill>
                  <a:srgbClr val="000000"/>
                </a:solidFill>
                <a:effectLst/>
                <a:latin typeface="Times New Roman" panose="02020603050405020304" pitchFamily="18" charset="0"/>
                <a:cs typeface="Times New Roman" panose="02020603050405020304" pitchFamily="18" charset="0"/>
              </a:rPr>
              <a:t>, 2, and 3.</a:t>
            </a:r>
          </a:p>
        </p:txBody>
      </p:sp>
      <p:pic>
        <p:nvPicPr>
          <p:cNvPr id="11" name="Picture 10">
            <a:extLst>
              <a:ext uri="{FF2B5EF4-FFF2-40B4-BE49-F238E27FC236}">
                <a16:creationId xmlns:a16="http://schemas.microsoft.com/office/drawing/2014/main" id="{57EBCC57-CED4-F487-F32A-D435EC1F3ACD}"/>
              </a:ext>
            </a:extLst>
          </p:cNvPr>
          <p:cNvPicPr>
            <a:picLocks noChangeAspect="1"/>
          </p:cNvPicPr>
          <p:nvPr/>
        </p:nvPicPr>
        <p:blipFill>
          <a:blip r:embed="rId2"/>
          <a:stretch>
            <a:fillRect/>
          </a:stretch>
        </p:blipFill>
        <p:spPr>
          <a:xfrm>
            <a:off x="6454034" y="2066253"/>
            <a:ext cx="5379932" cy="2044710"/>
          </a:xfrm>
          <a:prstGeom prst="rect">
            <a:avLst/>
          </a:prstGeom>
        </p:spPr>
      </p:pic>
    </p:spTree>
    <p:extLst>
      <p:ext uri="{BB962C8B-B14F-4D97-AF65-F5344CB8AC3E}">
        <p14:creationId xmlns:p14="http://schemas.microsoft.com/office/powerpoint/2010/main" val="30937384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84E0E38B-759A-5ECC-C2D1-C7E7358236E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2527DF16-5ACD-1A81-9D13-670D7FEA54CE}"/>
              </a:ext>
            </a:extLst>
          </p:cNvPr>
          <p:cNvSpPr txBox="1"/>
          <p:nvPr/>
        </p:nvSpPr>
        <p:spPr>
          <a:xfrm>
            <a:off x="381000" y="342900"/>
            <a:ext cx="16916400" cy="9594934"/>
          </a:xfrm>
          <a:prstGeom prst="rect">
            <a:avLst/>
          </a:prstGeom>
          <a:noFill/>
        </p:spPr>
        <p:txBody>
          <a:bodyPr wrap="square">
            <a:spAutoFit/>
          </a:bodyPr>
          <a:lstStyle/>
          <a:p>
            <a:pPr algn="l">
              <a:spcAft>
                <a:spcPts val="1200"/>
              </a:spcAft>
              <a:buNone/>
            </a:pPr>
            <a:r>
              <a:rPr lang="en-IN" sz="3200">
                <a:solidFill>
                  <a:srgbClr val="000000"/>
                </a:solidFill>
                <a:latin typeface="Times New Roman" panose="02020603050405020304" pitchFamily="18" charset="0"/>
              </a:rPr>
              <a:t>5</a:t>
            </a:r>
            <a:r>
              <a:rPr lang="en-IN" sz="3200" b="0" i="0">
                <a:solidFill>
                  <a:srgbClr val="000000"/>
                </a:solidFill>
                <a:effectLst/>
                <a:latin typeface="Times New Roman" panose="02020603050405020304" pitchFamily="18" charset="0"/>
              </a:rPr>
              <a:t>.Find the sum of squares of roots of the equation 2x⁴ − 8x³ + 6x² − 3 = 0.</a:t>
            </a:r>
          </a:p>
          <a:p>
            <a:pPr algn="l">
              <a:spcAft>
                <a:spcPts val="1200"/>
              </a:spcAft>
              <a:buNone/>
            </a:pPr>
            <a:endParaRPr lang="en-IN" sz="3200" b="0" i="0">
              <a:solidFill>
                <a:srgbClr val="000000"/>
              </a:solidFill>
              <a:effectLst/>
              <a:latin typeface="Times New Roman" panose="02020603050405020304" pitchFamily="18" charset="0"/>
            </a:endParaRPr>
          </a:p>
          <a:p>
            <a:pPr algn="l">
              <a:spcAft>
                <a:spcPts val="450"/>
              </a:spcAft>
              <a:buNone/>
            </a:pPr>
            <a:r>
              <a:rPr lang="en-IN" sz="3200" b="1" i="0">
                <a:solidFill>
                  <a:srgbClr val="000000"/>
                </a:solidFill>
                <a:effectLst/>
                <a:latin typeface="Times New Roman" panose="02020603050405020304" pitchFamily="18" charset="0"/>
              </a:rPr>
              <a:t>Step 1: Identify the coefficients from the given equation</a:t>
            </a:r>
          </a:p>
          <a:p>
            <a:pPr algn="l">
              <a:spcAft>
                <a:spcPts val="1050"/>
              </a:spcAft>
              <a:buNone/>
            </a:pPr>
            <a:r>
              <a:rPr lang="en-IN" sz="3200" b="0" i="0">
                <a:solidFill>
                  <a:srgbClr val="000000"/>
                </a:solidFill>
                <a:effectLst/>
                <a:latin typeface="Times New Roman" panose="02020603050405020304" pitchFamily="18" charset="0"/>
              </a:rPr>
              <a:t>Rewrite the equation to include all degrees of x:</a:t>
            </a:r>
          </a:p>
          <a:p>
            <a:pPr algn="ctr">
              <a:spcAft>
                <a:spcPts val="1200"/>
              </a:spcAft>
              <a:buNone/>
            </a:pPr>
            <a:r>
              <a:rPr lang="en-IN" sz="3200" b="0" i="1">
                <a:solidFill>
                  <a:srgbClr val="000000"/>
                </a:solidFill>
                <a:effectLst/>
                <a:latin typeface="Times New Roman" panose="02020603050405020304" pitchFamily="18" charset="0"/>
              </a:rPr>
              <a:t>2x⁴ − 8x³ + 6x² + 0x − 3 = 0</a:t>
            </a:r>
            <a:endParaRPr lang="en-IN" sz="3200" b="0" i="0">
              <a:solidFill>
                <a:srgbClr val="000000"/>
              </a:solidFill>
              <a:effectLst/>
              <a:latin typeface="Times New Roman" panose="02020603050405020304" pitchFamily="18" charset="0"/>
            </a:endParaRPr>
          </a:p>
          <a:p>
            <a:pPr algn="l">
              <a:spcAft>
                <a:spcPts val="750"/>
              </a:spcAft>
              <a:buNone/>
            </a:pPr>
            <a:r>
              <a:rPr lang="en-IN" sz="3200" b="0" i="0">
                <a:solidFill>
                  <a:srgbClr val="000000"/>
                </a:solidFill>
                <a:effectLst/>
                <a:latin typeface="Times New Roman" panose="02020603050405020304" pitchFamily="18" charset="0"/>
              </a:rPr>
              <a:t>Comparing this with the standard form </a:t>
            </a:r>
            <a:r>
              <a:rPr lang="en-IN" sz="3200" b="0" i="0" err="1">
                <a:solidFill>
                  <a:srgbClr val="000000"/>
                </a:solidFill>
                <a:effectLst/>
                <a:latin typeface="Times New Roman" panose="02020603050405020304" pitchFamily="18" charset="0"/>
              </a:rPr>
              <a:t>ax</a:t>
            </a:r>
            <a:r>
              <a:rPr lang="en-IN" sz="3200" b="0" i="0">
                <a:solidFill>
                  <a:srgbClr val="000000"/>
                </a:solidFill>
                <a:effectLst/>
                <a:latin typeface="Times New Roman" panose="02020603050405020304" pitchFamily="18" charset="0"/>
              </a:rPr>
              <a:t>⁴ + bx³ + cx² + dx + e = 0:</a:t>
            </a:r>
          </a:p>
          <a:p>
            <a:pPr algn="l">
              <a:spcAft>
                <a:spcPts val="1650"/>
              </a:spcAft>
              <a:buFont typeface="Arial" panose="020B0604020202020204" pitchFamily="34" charset="0"/>
              <a:buChar char="•"/>
            </a:pPr>
            <a:r>
              <a:rPr lang="en-IN" sz="3200" b="0" i="0">
                <a:solidFill>
                  <a:srgbClr val="000000"/>
                </a:solidFill>
                <a:effectLst/>
                <a:latin typeface="Times New Roman" panose="02020603050405020304" pitchFamily="18" charset="0"/>
              </a:rPr>
              <a:t>a = 2</a:t>
            </a:r>
          </a:p>
          <a:p>
            <a:pPr algn="l">
              <a:spcAft>
                <a:spcPts val="1650"/>
              </a:spcAft>
              <a:buFont typeface="Arial" panose="020B0604020202020204" pitchFamily="34" charset="0"/>
              <a:buChar char="•"/>
            </a:pPr>
            <a:r>
              <a:rPr lang="en-IN" sz="3200" b="0" i="0">
                <a:solidFill>
                  <a:srgbClr val="000000"/>
                </a:solidFill>
                <a:effectLst/>
                <a:latin typeface="Times New Roman" panose="02020603050405020304" pitchFamily="18" charset="0"/>
              </a:rPr>
              <a:t>b = −8</a:t>
            </a:r>
          </a:p>
          <a:p>
            <a:pPr algn="l">
              <a:spcAft>
                <a:spcPts val="1650"/>
              </a:spcAft>
              <a:buFont typeface="Arial" panose="020B0604020202020204" pitchFamily="34" charset="0"/>
              <a:buChar char="•"/>
            </a:pPr>
            <a:r>
              <a:rPr lang="en-IN" sz="3200" b="0" i="0">
                <a:solidFill>
                  <a:srgbClr val="000000"/>
                </a:solidFill>
                <a:effectLst/>
                <a:latin typeface="Times New Roman" panose="02020603050405020304" pitchFamily="18" charset="0"/>
              </a:rPr>
              <a:t>c = 6</a:t>
            </a:r>
          </a:p>
          <a:p>
            <a:pPr algn="l">
              <a:spcAft>
                <a:spcPts val="1650"/>
              </a:spcAft>
              <a:buFont typeface="Arial" panose="020B0604020202020204" pitchFamily="34" charset="0"/>
              <a:buChar char="•"/>
            </a:pPr>
            <a:r>
              <a:rPr lang="en-IN" sz="3200" b="0" i="0">
                <a:solidFill>
                  <a:srgbClr val="000000"/>
                </a:solidFill>
                <a:effectLst/>
                <a:latin typeface="Times New Roman" panose="02020603050405020304" pitchFamily="18" charset="0"/>
              </a:rPr>
              <a:t>d = 0</a:t>
            </a:r>
          </a:p>
          <a:p>
            <a:pPr algn="l">
              <a:spcAft>
                <a:spcPts val="1650"/>
              </a:spcAft>
              <a:buFont typeface="Arial" panose="020B0604020202020204" pitchFamily="34" charset="0"/>
              <a:buChar char="•"/>
            </a:pPr>
            <a:r>
              <a:rPr lang="en-IN" sz="3200" b="0" i="0">
                <a:solidFill>
                  <a:srgbClr val="000000"/>
                </a:solidFill>
                <a:effectLst/>
                <a:latin typeface="Times New Roman" panose="02020603050405020304" pitchFamily="18" charset="0"/>
              </a:rPr>
              <a:t>e = −3</a:t>
            </a:r>
            <a:endParaRPr lang="en-IN" sz="3200" b="1" i="0">
              <a:solidFill>
                <a:srgbClr val="000000"/>
              </a:solidFill>
              <a:effectLst/>
              <a:latin typeface="Times New Roman" panose="02020603050405020304" pitchFamily="18" charset="0"/>
            </a:endParaRPr>
          </a:p>
          <a:p>
            <a:pPr algn="l">
              <a:spcAft>
                <a:spcPts val="300"/>
              </a:spcAft>
              <a:buNone/>
            </a:pPr>
            <a:r>
              <a:rPr lang="en-IN" sz="3200" b="1" i="0">
                <a:solidFill>
                  <a:srgbClr val="000000"/>
                </a:solidFill>
                <a:effectLst/>
                <a:latin typeface="Times New Roman" panose="02020603050405020304" pitchFamily="18" charset="0"/>
              </a:rPr>
              <a:t>Find the Sum of Roots (Σ₁)</a:t>
            </a:r>
          </a:p>
          <a:p>
            <a:pPr algn="l">
              <a:spcAft>
                <a:spcPts val="900"/>
              </a:spcAft>
              <a:buNone/>
            </a:pPr>
            <a:r>
              <a:rPr lang="en-IN" sz="3200" b="0" i="0">
                <a:solidFill>
                  <a:srgbClr val="000000"/>
                </a:solidFill>
                <a:effectLst/>
                <a:latin typeface="Times New Roman" panose="02020603050405020304" pitchFamily="18" charset="0"/>
              </a:rPr>
              <a:t>Let the four roots be α, β, γ, and δ.</a:t>
            </a:r>
          </a:p>
          <a:p>
            <a:pPr algn="ctr">
              <a:spcAft>
                <a:spcPts val="750"/>
              </a:spcAft>
              <a:buNone/>
            </a:pPr>
            <a:r>
              <a:rPr lang="en-IN" sz="3200" b="0" i="1">
                <a:solidFill>
                  <a:srgbClr val="000000"/>
                </a:solidFill>
                <a:effectLst/>
                <a:latin typeface="Times New Roman" panose="02020603050405020304" pitchFamily="18" charset="0"/>
              </a:rPr>
              <a:t>Σ₁ = α + β + γ + δ = −b/a</a:t>
            </a:r>
            <a:endParaRPr lang="en-IN" sz="3200" b="0" i="0">
              <a:solidFill>
                <a:srgbClr val="000000"/>
              </a:solidFill>
              <a:effectLst/>
              <a:latin typeface="Times New Roman" panose="02020603050405020304" pitchFamily="18" charset="0"/>
            </a:endParaRPr>
          </a:p>
          <a:p>
            <a:pPr algn="ctr">
              <a:spcAft>
                <a:spcPts val="1350"/>
              </a:spcAft>
              <a:buNone/>
            </a:pPr>
            <a:r>
              <a:rPr lang="en-IN" sz="3200" b="0" i="1">
                <a:solidFill>
                  <a:srgbClr val="000000"/>
                </a:solidFill>
                <a:effectLst/>
                <a:latin typeface="Times New Roman" panose="02020603050405020304" pitchFamily="18" charset="0"/>
              </a:rPr>
              <a:t>Σ₁ = −(−8)/2 = 4</a:t>
            </a:r>
            <a:endParaRPr lang="en-IN" sz="3200" b="1" i="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1133624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7E7E86E7-5518-D023-4366-950E6A2E902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6650EBA-8488-1C3C-9DC8-A0FC0D545BD8}"/>
              </a:ext>
            </a:extLst>
          </p:cNvPr>
          <p:cNvSpPr txBox="1"/>
          <p:nvPr/>
        </p:nvSpPr>
        <p:spPr>
          <a:xfrm>
            <a:off x="609600" y="419100"/>
            <a:ext cx="12573000" cy="2344231"/>
          </a:xfrm>
          <a:prstGeom prst="rect">
            <a:avLst/>
          </a:prstGeom>
          <a:noFill/>
        </p:spPr>
        <p:txBody>
          <a:bodyPr wrap="square">
            <a:spAutoFit/>
          </a:bodyPr>
          <a:lstStyle/>
          <a:p>
            <a:pPr algn="l">
              <a:spcAft>
                <a:spcPts val="600"/>
              </a:spcAft>
              <a:buNone/>
            </a:pPr>
            <a:r>
              <a:rPr lang="en-IN" sz="3200" b="1" i="0">
                <a:solidFill>
                  <a:srgbClr val="000000"/>
                </a:solidFill>
                <a:effectLst/>
                <a:latin typeface="Times New Roman" panose="02020603050405020304" pitchFamily="18" charset="0"/>
              </a:rPr>
              <a:t>Find the Sum of Product of Roots Taken Two at a Time (Σ₂)</a:t>
            </a:r>
          </a:p>
          <a:p>
            <a:pPr algn="ctr">
              <a:spcAft>
                <a:spcPts val="750"/>
              </a:spcAft>
              <a:buNone/>
            </a:pPr>
            <a:r>
              <a:rPr lang="en-IN" sz="3200" b="0" i="1">
                <a:solidFill>
                  <a:srgbClr val="000000"/>
                </a:solidFill>
                <a:effectLst/>
                <a:latin typeface="Times New Roman" panose="02020603050405020304" pitchFamily="18" charset="0"/>
              </a:rPr>
              <a:t>Σ₂ = αβ + αγ + αδ + βγ + βδ + </a:t>
            </a:r>
            <a:r>
              <a:rPr lang="en-IN" sz="3200" b="0" i="1" err="1">
                <a:solidFill>
                  <a:srgbClr val="000000"/>
                </a:solidFill>
                <a:effectLst/>
                <a:latin typeface="Times New Roman" panose="02020603050405020304" pitchFamily="18" charset="0"/>
              </a:rPr>
              <a:t>γδ</a:t>
            </a:r>
            <a:r>
              <a:rPr lang="en-IN" sz="3200" b="0" i="1">
                <a:solidFill>
                  <a:srgbClr val="000000"/>
                </a:solidFill>
                <a:effectLst/>
                <a:latin typeface="Times New Roman" panose="02020603050405020304" pitchFamily="18" charset="0"/>
              </a:rPr>
              <a:t> = c/a</a:t>
            </a:r>
          </a:p>
          <a:p>
            <a:pPr algn="ctr">
              <a:spcAft>
                <a:spcPts val="750"/>
              </a:spcAft>
            </a:pPr>
            <a:r>
              <a:rPr lang="en-IN" sz="3200" i="1">
                <a:solidFill>
                  <a:srgbClr val="000000"/>
                </a:solidFill>
                <a:latin typeface="Times New Roman" panose="02020603050405020304" pitchFamily="18" charset="0"/>
              </a:rPr>
              <a:t>Σ₂ = 6/2 = 3</a:t>
            </a:r>
            <a:endParaRPr lang="en-IN" sz="3200">
              <a:solidFill>
                <a:srgbClr val="000000"/>
              </a:solidFill>
              <a:latin typeface="Times New Roman" panose="02020603050405020304" pitchFamily="18" charset="0"/>
            </a:endParaRPr>
          </a:p>
          <a:p>
            <a:pPr algn="ctr">
              <a:spcAft>
                <a:spcPts val="750"/>
              </a:spcAft>
              <a:buNone/>
            </a:pPr>
            <a:endParaRPr lang="en-IN" sz="3200" b="0" i="0">
              <a:solidFill>
                <a:srgbClr val="000000"/>
              </a:solidFill>
              <a:effectLst/>
              <a:latin typeface="Times New Roman" panose="02020603050405020304" pitchFamily="18" charset="0"/>
            </a:endParaRPr>
          </a:p>
        </p:txBody>
      </p:sp>
      <p:sp>
        <p:nvSpPr>
          <p:cNvPr id="5" name="TextBox 4">
            <a:extLst>
              <a:ext uri="{FF2B5EF4-FFF2-40B4-BE49-F238E27FC236}">
                <a16:creationId xmlns:a16="http://schemas.microsoft.com/office/drawing/2014/main" id="{130596A9-5BE5-6519-0E9D-5394F20F5DAC}"/>
              </a:ext>
            </a:extLst>
          </p:cNvPr>
          <p:cNvSpPr txBox="1"/>
          <p:nvPr/>
        </p:nvSpPr>
        <p:spPr>
          <a:xfrm>
            <a:off x="187036" y="2628900"/>
            <a:ext cx="18135600" cy="6158096"/>
          </a:xfrm>
          <a:prstGeom prst="rect">
            <a:avLst/>
          </a:prstGeom>
          <a:noFill/>
        </p:spPr>
        <p:txBody>
          <a:bodyPr wrap="square">
            <a:spAutoFit/>
          </a:bodyPr>
          <a:lstStyle/>
          <a:p>
            <a:pPr algn="l">
              <a:spcAft>
                <a:spcPts val="450"/>
              </a:spcAft>
              <a:buNone/>
            </a:pPr>
            <a:r>
              <a:rPr lang="en-IN" sz="3200" b="1" i="0">
                <a:solidFill>
                  <a:srgbClr val="000000"/>
                </a:solidFill>
                <a:effectLst/>
                <a:latin typeface="Times New Roman" panose="02020603050405020304" pitchFamily="18" charset="0"/>
              </a:rPr>
              <a:t>Apply the Algebraic Identity</a:t>
            </a:r>
          </a:p>
          <a:p>
            <a:pPr algn="l">
              <a:spcAft>
                <a:spcPts val="900"/>
              </a:spcAft>
              <a:buNone/>
            </a:pPr>
            <a:r>
              <a:rPr lang="en-IN" sz="3200" b="0" i="0">
                <a:solidFill>
                  <a:srgbClr val="000000"/>
                </a:solidFill>
                <a:effectLst/>
                <a:latin typeface="Times New Roman" panose="02020603050405020304" pitchFamily="18" charset="0"/>
              </a:rPr>
              <a:t>To find the sum of squares of the roots (α² + β² + γ² + δ²), use the identity:</a:t>
            </a:r>
          </a:p>
          <a:p>
            <a:pPr algn="ctr">
              <a:spcAft>
                <a:spcPts val="1050"/>
              </a:spcAft>
              <a:buNone/>
            </a:pPr>
            <a:r>
              <a:rPr lang="en-IN" sz="3200" b="0" i="1">
                <a:solidFill>
                  <a:srgbClr val="000000"/>
                </a:solidFill>
                <a:effectLst/>
                <a:latin typeface="Times New Roman" panose="02020603050405020304" pitchFamily="18" charset="0"/>
              </a:rPr>
              <a:t>(α + β + γ + δ)² = (α² + β² + γ² + δ²) + 2(αβ + αγ + αδ + βγ + βδ + </a:t>
            </a:r>
            <a:r>
              <a:rPr lang="en-IN" sz="3200" b="0" i="1" err="1">
                <a:solidFill>
                  <a:srgbClr val="000000"/>
                </a:solidFill>
                <a:effectLst/>
                <a:latin typeface="Times New Roman" panose="02020603050405020304" pitchFamily="18" charset="0"/>
              </a:rPr>
              <a:t>γδ</a:t>
            </a:r>
            <a:r>
              <a:rPr lang="en-IN" sz="3200" b="0" i="1">
                <a:solidFill>
                  <a:srgbClr val="000000"/>
                </a:solidFill>
                <a:effectLst/>
                <a:latin typeface="Times New Roman" panose="02020603050405020304" pitchFamily="18" charset="0"/>
              </a:rPr>
              <a:t>)</a:t>
            </a:r>
            <a:endParaRPr lang="en-IN" sz="3200" b="0" i="0">
              <a:solidFill>
                <a:srgbClr val="000000"/>
              </a:solidFill>
              <a:effectLst/>
              <a:latin typeface="Times New Roman" panose="02020603050405020304" pitchFamily="18" charset="0"/>
            </a:endParaRPr>
          </a:p>
          <a:p>
            <a:pPr algn="l">
              <a:spcAft>
                <a:spcPts val="900"/>
              </a:spcAft>
              <a:buNone/>
            </a:pPr>
            <a:r>
              <a:rPr lang="en-IN" sz="3200" b="0" i="0">
                <a:solidFill>
                  <a:srgbClr val="000000"/>
                </a:solidFill>
                <a:effectLst/>
                <a:latin typeface="Times New Roman" panose="02020603050405020304" pitchFamily="18" charset="0"/>
              </a:rPr>
              <a:t>This can be simplified as:</a:t>
            </a:r>
          </a:p>
          <a:p>
            <a:pPr algn="ctr">
              <a:spcAft>
                <a:spcPts val="1650"/>
              </a:spcAft>
              <a:buNone/>
            </a:pPr>
            <a:r>
              <a:rPr lang="en-IN" sz="3200" b="0" i="1">
                <a:solidFill>
                  <a:srgbClr val="000000"/>
                </a:solidFill>
                <a:effectLst/>
                <a:latin typeface="Times New Roman" panose="02020603050405020304" pitchFamily="18" charset="0"/>
              </a:rPr>
              <a:t>(Σ₁)² = (α² + β² + γ² + δ²) + 2(Σ₂)</a:t>
            </a:r>
            <a:endParaRPr lang="en-IN" sz="3200" b="0" i="0">
              <a:solidFill>
                <a:srgbClr val="000000"/>
              </a:solidFill>
              <a:effectLst/>
              <a:latin typeface="Times New Roman" panose="02020603050405020304" pitchFamily="18" charset="0"/>
            </a:endParaRPr>
          </a:p>
          <a:p>
            <a:pPr algn="l">
              <a:spcAft>
                <a:spcPts val="1050"/>
              </a:spcAft>
              <a:buNone/>
            </a:pPr>
            <a:r>
              <a:rPr lang="en-IN" sz="3200" b="1" i="0">
                <a:solidFill>
                  <a:srgbClr val="000000"/>
                </a:solidFill>
                <a:effectLst/>
                <a:latin typeface="Times New Roman" panose="02020603050405020304" pitchFamily="18" charset="0"/>
              </a:rPr>
              <a:t>Substitute Values and Solve</a:t>
            </a:r>
          </a:p>
          <a:p>
            <a:pPr algn="ctr">
              <a:spcAft>
                <a:spcPts val="900"/>
              </a:spcAft>
              <a:buNone/>
            </a:pPr>
            <a:r>
              <a:rPr lang="en-IN" sz="3200" b="0" i="1">
                <a:solidFill>
                  <a:srgbClr val="000000"/>
                </a:solidFill>
                <a:effectLst/>
                <a:latin typeface="Times New Roman" panose="02020603050405020304" pitchFamily="18" charset="0"/>
              </a:rPr>
              <a:t>(4)² = (α² + β² + γ² + δ²) + 2(3)</a:t>
            </a:r>
            <a:endParaRPr lang="en-IN" sz="3200" b="0" i="0">
              <a:solidFill>
                <a:srgbClr val="000000"/>
              </a:solidFill>
              <a:effectLst/>
              <a:latin typeface="Times New Roman" panose="02020603050405020304" pitchFamily="18" charset="0"/>
            </a:endParaRPr>
          </a:p>
          <a:p>
            <a:pPr algn="ctr">
              <a:spcAft>
                <a:spcPts val="900"/>
              </a:spcAft>
              <a:buNone/>
            </a:pPr>
            <a:r>
              <a:rPr lang="en-IN" sz="3200" b="0" i="1">
                <a:solidFill>
                  <a:srgbClr val="000000"/>
                </a:solidFill>
                <a:effectLst/>
                <a:latin typeface="Times New Roman" panose="02020603050405020304" pitchFamily="18" charset="0"/>
              </a:rPr>
              <a:t>16 = (α² + β² + γ² + δ²) + 6</a:t>
            </a:r>
            <a:endParaRPr lang="en-IN" sz="3200" b="0" i="0">
              <a:solidFill>
                <a:srgbClr val="000000"/>
              </a:solidFill>
              <a:effectLst/>
              <a:latin typeface="Times New Roman" panose="02020603050405020304" pitchFamily="18" charset="0"/>
            </a:endParaRPr>
          </a:p>
          <a:p>
            <a:pPr algn="ctr">
              <a:spcAft>
                <a:spcPts val="900"/>
              </a:spcAft>
              <a:buNone/>
            </a:pPr>
            <a:r>
              <a:rPr lang="en-IN" sz="3200" b="0" i="1">
                <a:solidFill>
                  <a:srgbClr val="000000"/>
                </a:solidFill>
                <a:effectLst/>
                <a:latin typeface="Times New Roman" panose="02020603050405020304" pitchFamily="18" charset="0"/>
              </a:rPr>
              <a:t>α² + β² + γ² + δ² = 16 − 6</a:t>
            </a:r>
            <a:endParaRPr lang="en-IN" sz="3200" b="0" i="0">
              <a:solidFill>
                <a:srgbClr val="000000"/>
              </a:solidFill>
              <a:effectLst/>
              <a:latin typeface="Times New Roman" panose="02020603050405020304" pitchFamily="18" charset="0"/>
            </a:endParaRPr>
          </a:p>
          <a:p>
            <a:pPr algn="ctr">
              <a:spcAft>
                <a:spcPts val="750"/>
              </a:spcAft>
              <a:buNone/>
            </a:pPr>
            <a:r>
              <a:rPr lang="en-IN" sz="3200" b="1" i="1">
                <a:solidFill>
                  <a:srgbClr val="000000"/>
                </a:solidFill>
                <a:effectLst/>
                <a:latin typeface="Times New Roman" panose="02020603050405020304" pitchFamily="18" charset="0"/>
              </a:rPr>
              <a:t>α² + β² + γ² + δ² = 10</a:t>
            </a:r>
            <a:endParaRPr lang="en-IN" sz="3200" b="0" i="0">
              <a:solidFill>
                <a:srgbClr val="000000"/>
              </a:solidFill>
              <a:effectLst/>
              <a:latin typeface="Times New Roman" panose="02020603050405020304" pitchFamily="18" charset="0"/>
            </a:endParaRPr>
          </a:p>
        </p:txBody>
      </p:sp>
      <p:sp>
        <p:nvSpPr>
          <p:cNvPr id="7" name="TextBox 6">
            <a:extLst>
              <a:ext uri="{FF2B5EF4-FFF2-40B4-BE49-F238E27FC236}">
                <a16:creationId xmlns:a16="http://schemas.microsoft.com/office/drawing/2014/main" id="{B4D58972-AF57-519A-C531-7FAB3EE5DB0D}"/>
              </a:ext>
            </a:extLst>
          </p:cNvPr>
          <p:cNvSpPr txBox="1"/>
          <p:nvPr/>
        </p:nvSpPr>
        <p:spPr>
          <a:xfrm>
            <a:off x="609600" y="8790682"/>
            <a:ext cx="14401800" cy="1077218"/>
          </a:xfrm>
          <a:prstGeom prst="rect">
            <a:avLst/>
          </a:prstGeom>
          <a:noFill/>
        </p:spPr>
        <p:txBody>
          <a:bodyPr wrap="square">
            <a:spAutoFit/>
          </a:bodyPr>
          <a:lstStyle/>
          <a:p>
            <a:pPr>
              <a:buNone/>
            </a:pPr>
            <a:r>
              <a:rPr lang="en-IN" sz="3200" b="1">
                <a:latin typeface="Times New Roman" panose="02020603050405020304" pitchFamily="18" charset="0"/>
                <a:cs typeface="Times New Roman" panose="02020603050405020304" pitchFamily="18" charset="0"/>
              </a:rPr>
              <a:t>Final Answer:</a:t>
            </a:r>
          </a:p>
          <a:p>
            <a:pPr>
              <a:buNone/>
            </a:pPr>
            <a:r>
              <a:rPr lang="en-IN" sz="3200">
                <a:latin typeface="Times New Roman" panose="02020603050405020304" pitchFamily="18" charset="0"/>
                <a:cs typeface="Times New Roman" panose="02020603050405020304" pitchFamily="18" charset="0"/>
              </a:rPr>
              <a:t>                                              The sum of squares of the roots is </a:t>
            </a:r>
            <a:r>
              <a:rPr lang="en-IN" sz="3200" b="1">
                <a:latin typeface="Times New Roman" panose="02020603050405020304" pitchFamily="18" charset="0"/>
                <a:cs typeface="Times New Roman" panose="02020603050405020304" pitchFamily="18" charset="0"/>
              </a:rPr>
              <a:t>10</a:t>
            </a:r>
            <a:r>
              <a:rPr lang="en-IN" sz="32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4195346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637522AF-FFB5-072E-4097-F0359D75BA28}"/>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15324BE-3559-58A6-0145-6D766C4A5138}"/>
              </a:ext>
            </a:extLst>
          </p:cNvPr>
          <p:cNvSpPr txBox="1"/>
          <p:nvPr/>
        </p:nvSpPr>
        <p:spPr>
          <a:xfrm>
            <a:off x="304800" y="495300"/>
            <a:ext cx="18364200" cy="8463855"/>
          </a:xfrm>
          <a:prstGeom prst="rect">
            <a:avLst/>
          </a:prstGeom>
          <a:noFill/>
        </p:spPr>
        <p:txBody>
          <a:bodyPr wrap="square">
            <a:spAutoFit/>
          </a:bodyPr>
          <a:lstStyle/>
          <a:p>
            <a:pPr algn="l">
              <a:buNone/>
            </a:pPr>
            <a:r>
              <a:rPr lang="en-IN" sz="3200" b="0" i="0">
                <a:solidFill>
                  <a:srgbClr val="000000"/>
                </a:solidFill>
                <a:effectLst/>
                <a:latin typeface="Times New Roman" panose="02020603050405020304" pitchFamily="18" charset="0"/>
              </a:rPr>
              <a:t>6.Solve the equation x³ − 9x² + 14x + 24 = 0 if it is given that two of its roots are in the ratio 3 : 2.</a:t>
            </a:r>
          </a:p>
          <a:p>
            <a:pPr algn="l">
              <a:buNone/>
            </a:pPr>
            <a:endParaRPr lang="en-IN" sz="3200" b="0" i="0">
              <a:solidFill>
                <a:srgbClr val="000000"/>
              </a:solidFill>
              <a:effectLst/>
              <a:latin typeface="Times New Roman" panose="02020603050405020304" pitchFamily="18" charset="0"/>
            </a:endParaRPr>
          </a:p>
          <a:p>
            <a:pPr algn="l">
              <a:buNone/>
            </a:pPr>
            <a:r>
              <a:rPr lang="en-IN" sz="3200" b="1" i="0">
                <a:solidFill>
                  <a:srgbClr val="000000"/>
                </a:solidFill>
                <a:effectLst/>
                <a:latin typeface="Times New Roman" panose="02020603050405020304" pitchFamily="18" charset="0"/>
              </a:rPr>
              <a:t>Step 1:</a:t>
            </a:r>
            <a:r>
              <a:rPr lang="en-IN" sz="3200" b="0" i="0">
                <a:solidFill>
                  <a:srgbClr val="000000"/>
                </a:solidFill>
                <a:effectLst/>
                <a:latin typeface="Times New Roman" panose="02020603050405020304" pitchFamily="18" charset="0"/>
              </a:rPr>
              <a:t> Define the roots</a:t>
            </a:r>
          </a:p>
          <a:p>
            <a:pPr algn="l">
              <a:buNone/>
            </a:pPr>
            <a:r>
              <a:rPr lang="en-IN" sz="3200" b="0" i="0">
                <a:solidFill>
                  <a:srgbClr val="111111"/>
                </a:solidFill>
                <a:effectLst/>
                <a:latin typeface="Times New Roman" panose="02020603050405020304" pitchFamily="18" charset="0"/>
              </a:rPr>
              <a:t>Since the equation is cubic, it has three roots. Given two roots are in the ratio 3 : 2, let the three roots be:</a:t>
            </a:r>
          </a:p>
          <a:p>
            <a:pPr algn="ctr">
              <a:buNone/>
            </a:pPr>
            <a:r>
              <a:rPr lang="en-IN" sz="3200" b="0" i="1">
                <a:solidFill>
                  <a:srgbClr val="000000"/>
                </a:solidFill>
                <a:effectLst/>
                <a:latin typeface="Times New Roman" panose="02020603050405020304" pitchFamily="18" charset="0"/>
              </a:rPr>
              <a:t>α = 3k,    β = 2k,    γ</a:t>
            </a:r>
          </a:p>
          <a:p>
            <a:pPr algn="l">
              <a:buNone/>
            </a:pPr>
            <a:r>
              <a:rPr lang="en-IN" sz="3200" b="0" i="0">
                <a:solidFill>
                  <a:srgbClr val="111111"/>
                </a:solidFill>
                <a:effectLst/>
                <a:latin typeface="Times New Roman" panose="02020603050405020304" pitchFamily="18" charset="0"/>
              </a:rPr>
              <a:t>From the equation x³ − 9x² + 14x + 24 = 0:</a:t>
            </a:r>
          </a:p>
          <a:p>
            <a:pPr algn="l">
              <a:buNone/>
            </a:pPr>
            <a:r>
              <a:rPr lang="en-IN" sz="3200" b="0" i="0">
                <a:solidFill>
                  <a:srgbClr val="111111"/>
                </a:solidFill>
                <a:effectLst/>
                <a:latin typeface="Times New Roman" panose="02020603050405020304" pitchFamily="18" charset="0"/>
              </a:rPr>
              <a:t>○   a = 1, b = −9, c = 14, d = 24</a:t>
            </a:r>
          </a:p>
          <a:p>
            <a:pPr algn="l">
              <a:buNone/>
            </a:pPr>
            <a:endParaRPr lang="en-IN" sz="3200" b="0" i="0">
              <a:solidFill>
                <a:srgbClr val="111111"/>
              </a:solidFill>
              <a:effectLst/>
              <a:latin typeface="Times New Roman" panose="02020603050405020304" pitchFamily="18" charset="0"/>
            </a:endParaRPr>
          </a:p>
          <a:p>
            <a:pPr algn="l">
              <a:buNone/>
            </a:pPr>
            <a:r>
              <a:rPr lang="en-IN" sz="3200" b="0" i="0">
                <a:solidFill>
                  <a:srgbClr val="000000"/>
                </a:solidFill>
                <a:effectLst/>
                <a:latin typeface="Times New Roman" panose="02020603050405020304" pitchFamily="18" charset="0"/>
              </a:rPr>
              <a:t>  Apply Sum of Roots Formula (Σ₁)</a:t>
            </a:r>
          </a:p>
          <a:p>
            <a:pPr algn="ctr">
              <a:buNone/>
            </a:pPr>
            <a:r>
              <a:rPr lang="en-IN" sz="3200" b="0" i="1">
                <a:solidFill>
                  <a:srgbClr val="000000"/>
                </a:solidFill>
                <a:effectLst/>
                <a:latin typeface="Times New Roman" panose="02020603050405020304" pitchFamily="18" charset="0"/>
              </a:rPr>
              <a:t>Σ₁ = α + β + γ = −b/a</a:t>
            </a:r>
          </a:p>
          <a:p>
            <a:pPr algn="ctr">
              <a:buNone/>
            </a:pPr>
            <a:r>
              <a:rPr lang="en-IN" sz="3200" b="0" i="0">
                <a:solidFill>
                  <a:srgbClr val="000000"/>
                </a:solidFill>
                <a:effectLst/>
                <a:latin typeface="Times New Roman" panose="02020603050405020304" pitchFamily="18" charset="0"/>
              </a:rPr>
              <a:t>3k + 2k + γ = −(−9)</a:t>
            </a:r>
          </a:p>
          <a:p>
            <a:pPr algn="ctr">
              <a:buNone/>
            </a:pPr>
            <a:r>
              <a:rPr lang="en-IN" sz="3200" b="0" i="0">
                <a:solidFill>
                  <a:srgbClr val="000000"/>
                </a:solidFill>
                <a:effectLst/>
                <a:latin typeface="Times New Roman" panose="02020603050405020304" pitchFamily="18" charset="0"/>
              </a:rPr>
              <a:t>5k + γ = 9  ⟹  γ = 9 − 5k    — (Equation 1)</a:t>
            </a:r>
          </a:p>
          <a:p>
            <a:pPr algn="ctr">
              <a:buNone/>
            </a:pPr>
            <a:endParaRPr lang="en-IN" sz="3200" b="0" i="0">
              <a:solidFill>
                <a:srgbClr val="000000"/>
              </a:solidFill>
              <a:effectLst/>
              <a:latin typeface="Times New Roman" panose="02020603050405020304" pitchFamily="18" charset="0"/>
            </a:endParaRPr>
          </a:p>
          <a:p>
            <a:pPr algn="l">
              <a:buNone/>
            </a:pPr>
            <a:r>
              <a:rPr lang="en-IN" sz="3200" b="0" i="0">
                <a:solidFill>
                  <a:srgbClr val="000000"/>
                </a:solidFill>
                <a:effectLst/>
                <a:latin typeface="Times New Roman" panose="02020603050405020304" pitchFamily="18" charset="0"/>
              </a:rPr>
              <a:t>  Apply Product of Roots Formula (Σ₃)</a:t>
            </a:r>
          </a:p>
          <a:p>
            <a:pPr algn="ctr">
              <a:buNone/>
            </a:pPr>
            <a:r>
              <a:rPr lang="en-IN" sz="3200" b="0" i="1">
                <a:solidFill>
                  <a:srgbClr val="000000"/>
                </a:solidFill>
                <a:effectLst/>
                <a:latin typeface="Times New Roman" panose="02020603050405020304" pitchFamily="18" charset="0"/>
              </a:rPr>
              <a:t>Σ₃ = αβγ = −d/a</a:t>
            </a:r>
          </a:p>
          <a:p>
            <a:pPr algn="ctr">
              <a:buNone/>
            </a:pPr>
            <a:r>
              <a:rPr lang="en-IN" sz="3200" b="0" i="0">
                <a:solidFill>
                  <a:srgbClr val="000000"/>
                </a:solidFill>
                <a:effectLst/>
                <a:latin typeface="Times New Roman" panose="02020603050405020304" pitchFamily="18" charset="0"/>
              </a:rPr>
              <a:t>(3k)(2k)(γ) = −24</a:t>
            </a:r>
          </a:p>
          <a:p>
            <a:pPr algn="ctr">
              <a:buNone/>
            </a:pPr>
            <a:r>
              <a:rPr lang="en-IN" sz="3200" b="0" i="0">
                <a:solidFill>
                  <a:srgbClr val="000000"/>
                </a:solidFill>
                <a:effectLst/>
                <a:latin typeface="Times New Roman" panose="02020603050405020304" pitchFamily="18" charset="0"/>
              </a:rPr>
              <a:t>6k²γ = −24  ⟹  k²γ = −4    — (Equation 2)</a:t>
            </a:r>
          </a:p>
        </p:txBody>
      </p:sp>
    </p:spTree>
    <p:extLst>
      <p:ext uri="{BB962C8B-B14F-4D97-AF65-F5344CB8AC3E}">
        <p14:creationId xmlns:p14="http://schemas.microsoft.com/office/powerpoint/2010/main" val="78771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E4098FA8-4BB0-0DFD-814B-9C223748378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CDF86AD-0DD7-8EE6-0F0C-40A98FCFB010}"/>
              </a:ext>
            </a:extLst>
          </p:cNvPr>
          <p:cNvSpPr txBox="1"/>
          <p:nvPr/>
        </p:nvSpPr>
        <p:spPr>
          <a:xfrm>
            <a:off x="266700" y="342900"/>
            <a:ext cx="17754600" cy="9448740"/>
          </a:xfrm>
          <a:prstGeom prst="rect">
            <a:avLst/>
          </a:prstGeom>
          <a:noFill/>
        </p:spPr>
        <p:txBody>
          <a:bodyPr wrap="square">
            <a:spAutoFit/>
          </a:bodyPr>
          <a:lstStyle/>
          <a:p>
            <a:pPr algn="l">
              <a:buNone/>
            </a:pPr>
            <a:r>
              <a:rPr lang="en-IN" b="0" i="0">
                <a:solidFill>
                  <a:srgbClr val="000000"/>
                </a:solidFill>
                <a:effectLst/>
                <a:latin typeface="Times New Roman" panose="02020603050405020304" pitchFamily="18" charset="0"/>
              </a:rPr>
              <a:t>   </a:t>
            </a:r>
            <a:r>
              <a:rPr lang="en-IN" sz="3200" b="0" i="0">
                <a:solidFill>
                  <a:srgbClr val="000000"/>
                </a:solidFill>
                <a:effectLst/>
                <a:latin typeface="Times New Roman" panose="02020603050405020304" pitchFamily="18" charset="0"/>
              </a:rPr>
              <a:t>Substitute Equation 1 into Equation 2</a:t>
            </a:r>
          </a:p>
          <a:p>
            <a:pPr algn="ctr">
              <a:buNone/>
            </a:pPr>
            <a:r>
              <a:rPr lang="en-IN" sz="3200" b="0" i="1">
                <a:solidFill>
                  <a:srgbClr val="000000"/>
                </a:solidFill>
                <a:effectLst/>
                <a:latin typeface="Times New Roman" panose="02020603050405020304" pitchFamily="18" charset="0"/>
              </a:rPr>
              <a:t>k²(9 − 5k) = −4</a:t>
            </a:r>
          </a:p>
          <a:p>
            <a:pPr algn="ctr">
              <a:buNone/>
            </a:pPr>
            <a:r>
              <a:rPr lang="en-IN" sz="3200" b="0" i="1">
                <a:solidFill>
                  <a:srgbClr val="000000"/>
                </a:solidFill>
                <a:effectLst/>
                <a:latin typeface="Times New Roman" panose="02020603050405020304" pitchFamily="18" charset="0"/>
              </a:rPr>
              <a:t>9k² − 5k³ = −4</a:t>
            </a:r>
          </a:p>
          <a:p>
            <a:pPr algn="ctr">
              <a:buNone/>
            </a:pPr>
            <a:r>
              <a:rPr lang="en-IN" sz="3200" b="0" i="1">
                <a:solidFill>
                  <a:srgbClr val="000000"/>
                </a:solidFill>
                <a:effectLst/>
                <a:latin typeface="Times New Roman" panose="02020603050405020304" pitchFamily="18" charset="0"/>
              </a:rPr>
              <a:t>5k³ − 9k² − 4 = 0</a:t>
            </a:r>
          </a:p>
          <a:p>
            <a:pPr algn="l">
              <a:buNone/>
            </a:pPr>
            <a:r>
              <a:rPr lang="en-IN" sz="3200" b="0" i="0">
                <a:solidFill>
                  <a:srgbClr val="000000"/>
                </a:solidFill>
                <a:effectLst/>
                <a:latin typeface="Times New Roman" panose="02020603050405020304" pitchFamily="18" charset="0"/>
              </a:rPr>
              <a:t>Solve for k using trial and error</a:t>
            </a:r>
          </a:p>
          <a:p>
            <a:pPr algn="l">
              <a:buNone/>
            </a:pPr>
            <a:r>
              <a:rPr lang="en-IN" sz="3200" b="0" i="0">
                <a:solidFill>
                  <a:srgbClr val="000000"/>
                </a:solidFill>
                <a:effectLst/>
                <a:latin typeface="Times New Roman" panose="02020603050405020304" pitchFamily="18" charset="0"/>
              </a:rPr>
              <a:t>If k = 2:</a:t>
            </a:r>
          </a:p>
          <a:p>
            <a:pPr algn="ctr">
              <a:buNone/>
            </a:pPr>
            <a:r>
              <a:rPr lang="en-IN" sz="3200" b="0" i="1">
                <a:solidFill>
                  <a:srgbClr val="000000"/>
                </a:solidFill>
                <a:effectLst/>
                <a:latin typeface="Times New Roman" panose="02020603050405020304" pitchFamily="18" charset="0"/>
              </a:rPr>
              <a:t>5(2)³ − 9(2)² − 4 = 5(8) − 9(4) − 4 = 40 − 36 − 4 = 0</a:t>
            </a:r>
          </a:p>
          <a:p>
            <a:pPr algn="l">
              <a:buNone/>
            </a:pPr>
            <a:r>
              <a:rPr lang="en-IN" sz="3200" b="0" i="0">
                <a:solidFill>
                  <a:srgbClr val="000000"/>
                </a:solidFill>
                <a:effectLst/>
                <a:latin typeface="Times New Roman" panose="02020603050405020304" pitchFamily="18" charset="0"/>
              </a:rPr>
              <a:t>Therefore, k = 2.</a:t>
            </a:r>
          </a:p>
          <a:p>
            <a:pPr algn="l">
              <a:buNone/>
            </a:pPr>
            <a:endParaRPr lang="en-IN" sz="3200" b="0" i="0">
              <a:solidFill>
                <a:srgbClr val="000000"/>
              </a:solidFill>
              <a:effectLst/>
              <a:latin typeface="Times New Roman" panose="02020603050405020304" pitchFamily="18" charset="0"/>
            </a:endParaRPr>
          </a:p>
          <a:p>
            <a:pPr algn="l">
              <a:buNone/>
            </a:pPr>
            <a:r>
              <a:rPr lang="en-IN" sz="3200" b="0" i="0">
                <a:solidFill>
                  <a:srgbClr val="000000"/>
                </a:solidFill>
                <a:effectLst/>
                <a:latin typeface="Times New Roman" panose="02020603050405020304" pitchFamily="18" charset="0"/>
              </a:rPr>
              <a:t> Calculate the three roots</a:t>
            </a:r>
          </a:p>
          <a:p>
            <a:pPr algn="l">
              <a:buNone/>
            </a:pPr>
            <a:r>
              <a:rPr lang="en-IN" sz="3200" b="0" i="0">
                <a:solidFill>
                  <a:srgbClr val="000000"/>
                </a:solidFill>
                <a:effectLst/>
                <a:latin typeface="Times New Roman" panose="02020603050405020304" pitchFamily="18" charset="0"/>
              </a:rPr>
              <a:t>Substitute k = 2 back into our root expressions:</a:t>
            </a:r>
          </a:p>
          <a:p>
            <a:pPr algn="l">
              <a:buNone/>
            </a:pPr>
            <a:r>
              <a:rPr lang="en-IN" sz="3200" b="0" i="1">
                <a:solidFill>
                  <a:srgbClr val="000000"/>
                </a:solidFill>
                <a:effectLst/>
                <a:latin typeface="Times New Roman" panose="02020603050405020304" pitchFamily="18" charset="0"/>
              </a:rPr>
              <a:t>•   α = 3k = 3(2) = 6</a:t>
            </a:r>
          </a:p>
          <a:p>
            <a:pPr algn="l">
              <a:buNone/>
            </a:pPr>
            <a:r>
              <a:rPr lang="en-IN" sz="3200" b="0" i="1">
                <a:solidFill>
                  <a:srgbClr val="000000"/>
                </a:solidFill>
                <a:effectLst/>
                <a:latin typeface="Times New Roman" panose="02020603050405020304" pitchFamily="18" charset="0"/>
              </a:rPr>
              <a:t>•   β = 2k = 2(2) = 4</a:t>
            </a:r>
          </a:p>
          <a:p>
            <a:pPr algn="l">
              <a:buNone/>
            </a:pPr>
            <a:r>
              <a:rPr lang="en-IN" sz="3200" b="0" i="1">
                <a:solidFill>
                  <a:srgbClr val="000000"/>
                </a:solidFill>
                <a:effectLst/>
                <a:latin typeface="Times New Roman" panose="02020603050405020304" pitchFamily="18" charset="0"/>
              </a:rPr>
              <a:t>•   γ = 9 − 5k = 9 − 5(2) = −1</a:t>
            </a:r>
          </a:p>
          <a:p>
            <a:pPr algn="l">
              <a:buNone/>
            </a:pPr>
            <a:endParaRPr lang="en-IN" sz="3200" b="0" i="1">
              <a:solidFill>
                <a:srgbClr val="000000"/>
              </a:solidFill>
              <a:effectLst/>
              <a:latin typeface="Times New Roman" panose="02020603050405020304" pitchFamily="18" charset="0"/>
            </a:endParaRPr>
          </a:p>
          <a:p>
            <a:pPr algn="l">
              <a:buNone/>
            </a:pPr>
            <a:r>
              <a:rPr lang="en-IN" sz="3200" b="0" i="0">
                <a:solidFill>
                  <a:srgbClr val="000000"/>
                </a:solidFill>
                <a:effectLst/>
                <a:latin typeface="Times New Roman" panose="02020603050405020304" pitchFamily="18" charset="0"/>
              </a:rPr>
              <a:t>Verification (Optional Check for Σ₂):</a:t>
            </a:r>
          </a:p>
          <a:p>
            <a:pPr algn="ctr">
              <a:buNone/>
            </a:pPr>
            <a:r>
              <a:rPr lang="en-IN" sz="3200" b="0" i="1">
                <a:solidFill>
                  <a:srgbClr val="000000"/>
                </a:solidFill>
                <a:effectLst/>
                <a:latin typeface="Times New Roman" panose="02020603050405020304" pitchFamily="18" charset="0"/>
              </a:rPr>
              <a:t>Σ₂ = αβ + βγ + γα = (6)(4) + (4)(−1) + (−1)(6) = 24 − 4 − 6 = 14</a:t>
            </a:r>
          </a:p>
          <a:p>
            <a:pPr algn="l">
              <a:buNone/>
            </a:pPr>
            <a:r>
              <a:rPr lang="en-IN" sz="3200" b="0" i="0">
                <a:solidFill>
                  <a:srgbClr val="000000"/>
                </a:solidFill>
                <a:effectLst/>
                <a:latin typeface="Times New Roman" panose="02020603050405020304" pitchFamily="18" charset="0"/>
              </a:rPr>
              <a:t>Answer:</a:t>
            </a:r>
          </a:p>
          <a:p>
            <a:pPr algn="l">
              <a:buNone/>
            </a:pPr>
            <a:r>
              <a:rPr lang="en-IN" sz="3200" b="0" i="0">
                <a:solidFill>
                  <a:srgbClr val="000000"/>
                </a:solidFill>
                <a:effectLst/>
                <a:latin typeface="Times New Roman" panose="02020603050405020304" pitchFamily="18" charset="0"/>
              </a:rPr>
              <a:t>The roots of the equation are: </a:t>
            </a:r>
            <a:r>
              <a:rPr lang="en-IN" sz="3200" b="1" i="0">
                <a:solidFill>
                  <a:srgbClr val="000000"/>
                </a:solidFill>
                <a:effectLst/>
                <a:latin typeface="Times New Roman" panose="02020603050405020304" pitchFamily="18" charset="0"/>
              </a:rPr>
              <a:t>6, 4, −1</a:t>
            </a:r>
            <a:endParaRPr lang="en-IN" sz="3200" b="0" i="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161678788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A40FEE5E-BCAD-7205-36C7-FF471E846F6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B2749AC-AF6F-74A6-8E44-AA97B7F4A483}"/>
              </a:ext>
            </a:extLst>
          </p:cNvPr>
          <p:cNvSpPr txBox="1"/>
          <p:nvPr/>
        </p:nvSpPr>
        <p:spPr>
          <a:xfrm>
            <a:off x="304800" y="571500"/>
            <a:ext cx="17907000" cy="7971413"/>
          </a:xfrm>
          <a:prstGeom prst="rect">
            <a:avLst/>
          </a:prstGeom>
          <a:noFill/>
        </p:spPr>
        <p:txBody>
          <a:bodyPr wrap="square">
            <a:spAutoFit/>
          </a:bodyPr>
          <a:lstStyle/>
          <a:p>
            <a:pPr algn="l">
              <a:buNone/>
            </a:pPr>
            <a:r>
              <a:rPr lang="en-IN" sz="3200" b="0" i="0">
                <a:solidFill>
                  <a:srgbClr val="000000"/>
                </a:solidFill>
                <a:effectLst/>
                <a:latin typeface="Times New Roman" panose="02020603050405020304" pitchFamily="18" charset="0"/>
              </a:rPr>
              <a:t>7.If α, β, and γ are the roots of the polynomial equation ax³ + bx² + cx + d = 0, find the value of Σ α/(βγ) in terms of the coefficients.</a:t>
            </a:r>
          </a:p>
          <a:p>
            <a:pPr algn="l">
              <a:buNone/>
            </a:pPr>
            <a:endParaRPr lang="en-IN" sz="3200" b="0" i="0">
              <a:solidFill>
                <a:srgbClr val="000000"/>
              </a:solidFill>
              <a:effectLst/>
              <a:latin typeface="Times New Roman" panose="02020603050405020304" pitchFamily="18" charset="0"/>
            </a:endParaRPr>
          </a:p>
          <a:p>
            <a:pPr algn="l">
              <a:buNone/>
            </a:pPr>
            <a:r>
              <a:rPr lang="en-IN" sz="3200" b="1" i="0">
                <a:solidFill>
                  <a:srgbClr val="000000"/>
                </a:solidFill>
                <a:effectLst/>
                <a:latin typeface="Times New Roman" panose="02020603050405020304" pitchFamily="18" charset="0"/>
              </a:rPr>
              <a:t>Step 1: </a:t>
            </a:r>
            <a:r>
              <a:rPr lang="en-IN" sz="3200" b="0" i="0">
                <a:solidFill>
                  <a:srgbClr val="000000"/>
                </a:solidFill>
                <a:effectLst/>
                <a:latin typeface="Times New Roman" panose="02020603050405020304" pitchFamily="18" charset="0"/>
              </a:rPr>
              <a:t>Write down Vieta's relations for the given cubic equation</a:t>
            </a:r>
          </a:p>
          <a:p>
            <a:pPr algn="l">
              <a:buNone/>
            </a:pPr>
            <a:r>
              <a:rPr lang="en-IN" sz="3200" b="0" i="0">
                <a:solidFill>
                  <a:srgbClr val="000000"/>
                </a:solidFill>
                <a:effectLst/>
                <a:latin typeface="Times New Roman" panose="02020603050405020304" pitchFamily="18" charset="0"/>
              </a:rPr>
              <a:t>For ax³ + bx² + cx + d = 0:</a:t>
            </a:r>
          </a:p>
          <a:p>
            <a:pPr algn="l">
              <a:buNone/>
            </a:pPr>
            <a:r>
              <a:rPr lang="en-IN" sz="3200" b="0" i="1">
                <a:solidFill>
                  <a:srgbClr val="000000"/>
                </a:solidFill>
                <a:effectLst/>
                <a:latin typeface="Times New Roman" panose="02020603050405020304" pitchFamily="18" charset="0"/>
              </a:rPr>
              <a:t>○   α + β + γ = −b/a</a:t>
            </a:r>
          </a:p>
          <a:p>
            <a:pPr algn="l">
              <a:buNone/>
            </a:pPr>
            <a:r>
              <a:rPr lang="en-IN" sz="3200" b="0" i="1">
                <a:solidFill>
                  <a:srgbClr val="000000"/>
                </a:solidFill>
                <a:effectLst/>
                <a:latin typeface="Times New Roman" panose="02020603050405020304" pitchFamily="18" charset="0"/>
              </a:rPr>
              <a:t>○   αβ + βγ + γα = c/a</a:t>
            </a:r>
          </a:p>
          <a:p>
            <a:pPr algn="l">
              <a:buNone/>
            </a:pPr>
            <a:r>
              <a:rPr lang="en-IN" sz="3200" b="0" i="1">
                <a:solidFill>
                  <a:srgbClr val="000000"/>
                </a:solidFill>
                <a:effectLst/>
                <a:latin typeface="Times New Roman" panose="02020603050405020304" pitchFamily="18" charset="0"/>
              </a:rPr>
              <a:t>○   αβγ = −d/a</a:t>
            </a:r>
          </a:p>
          <a:p>
            <a:pPr algn="l">
              <a:buNone/>
            </a:pPr>
            <a:endParaRPr lang="en-IN" sz="3200" b="0" i="1">
              <a:solidFill>
                <a:srgbClr val="000000"/>
              </a:solidFill>
              <a:effectLst/>
              <a:latin typeface="Times New Roman" panose="02020603050405020304" pitchFamily="18" charset="0"/>
            </a:endParaRPr>
          </a:p>
          <a:p>
            <a:pPr algn="l">
              <a:buNone/>
            </a:pPr>
            <a:r>
              <a:rPr lang="en-IN" sz="3200" b="1" i="0">
                <a:solidFill>
                  <a:srgbClr val="000000"/>
                </a:solidFill>
                <a:effectLst/>
                <a:latin typeface="Times New Roman" panose="02020603050405020304" pitchFamily="18" charset="0"/>
              </a:rPr>
              <a:t>Step 2:</a:t>
            </a:r>
            <a:r>
              <a:rPr lang="en-IN" sz="3200" b="0" i="0">
                <a:solidFill>
                  <a:srgbClr val="000000"/>
                </a:solidFill>
                <a:effectLst/>
                <a:latin typeface="Times New Roman" panose="02020603050405020304" pitchFamily="18" charset="0"/>
              </a:rPr>
              <a:t> Expand the required summation expression</a:t>
            </a:r>
          </a:p>
          <a:p>
            <a:pPr algn="ctr">
              <a:buNone/>
            </a:pPr>
            <a:r>
              <a:rPr lang="en-IN" sz="3200" b="0" i="1">
                <a:solidFill>
                  <a:srgbClr val="000000"/>
                </a:solidFill>
                <a:effectLst/>
                <a:latin typeface="Times New Roman" panose="02020603050405020304" pitchFamily="18" charset="0"/>
              </a:rPr>
              <a:t>Σ α/βγ  =  α/βγ  +  β/γα  +  γ/αβ</a:t>
            </a:r>
          </a:p>
          <a:p>
            <a:pPr algn="ctr">
              <a:buNone/>
            </a:pPr>
            <a:endParaRPr lang="en-IN" sz="3200" b="0" i="1">
              <a:solidFill>
                <a:srgbClr val="000000"/>
              </a:solidFill>
              <a:effectLst/>
              <a:latin typeface="Times New Roman" panose="02020603050405020304" pitchFamily="18" charset="0"/>
            </a:endParaRPr>
          </a:p>
          <a:p>
            <a:pPr algn="l">
              <a:buNone/>
            </a:pPr>
            <a:r>
              <a:rPr lang="en-IN" sz="3200" b="1" i="0">
                <a:solidFill>
                  <a:srgbClr val="000000"/>
                </a:solidFill>
                <a:effectLst/>
                <a:latin typeface="Times New Roman" panose="02020603050405020304" pitchFamily="18" charset="0"/>
              </a:rPr>
              <a:t>Step 3:</a:t>
            </a:r>
            <a:r>
              <a:rPr lang="en-IN" sz="3200" b="0" i="0">
                <a:solidFill>
                  <a:srgbClr val="000000"/>
                </a:solidFill>
                <a:effectLst/>
                <a:latin typeface="Times New Roman" panose="02020603050405020304" pitchFamily="18" charset="0"/>
              </a:rPr>
              <a:t> Take the LCM of the denominators (αβγ)</a:t>
            </a:r>
          </a:p>
          <a:p>
            <a:pPr algn="ctr">
              <a:buNone/>
            </a:pPr>
            <a:r>
              <a:rPr lang="en-IN" sz="3200" b="0" i="1">
                <a:solidFill>
                  <a:srgbClr val="000000"/>
                </a:solidFill>
                <a:effectLst/>
                <a:latin typeface="Times New Roman" panose="02020603050405020304" pitchFamily="18" charset="0"/>
              </a:rPr>
              <a:t>Σ α/βγ  =  (α² + β² + γ²) / αβγ</a:t>
            </a:r>
          </a:p>
          <a:p>
            <a:pPr algn="ctr">
              <a:buNone/>
            </a:pPr>
            <a:endParaRPr lang="en-IN" sz="3200" b="0" i="1">
              <a:solidFill>
                <a:srgbClr val="000000"/>
              </a:solidFill>
              <a:effectLst/>
              <a:latin typeface="Times New Roman" panose="02020603050405020304" pitchFamily="18" charset="0"/>
            </a:endParaRPr>
          </a:p>
          <a:p>
            <a:pPr algn="ctr">
              <a:buNone/>
            </a:pPr>
            <a:endParaRPr lang="en-IN" sz="3200" b="0" i="1">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11703596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AD34D1FC-EE45-03B1-95BE-A8BCDF4E44D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485A009-C6DB-7630-F5BB-A75AF4ECF322}"/>
              </a:ext>
            </a:extLst>
          </p:cNvPr>
          <p:cNvSpPr txBox="1"/>
          <p:nvPr/>
        </p:nvSpPr>
        <p:spPr>
          <a:xfrm>
            <a:off x="609600" y="1080454"/>
            <a:ext cx="15773400" cy="6986528"/>
          </a:xfrm>
          <a:prstGeom prst="rect">
            <a:avLst/>
          </a:prstGeom>
          <a:noFill/>
        </p:spPr>
        <p:txBody>
          <a:bodyPr wrap="square">
            <a:spAutoFit/>
          </a:bodyPr>
          <a:lstStyle/>
          <a:p>
            <a:r>
              <a:rPr lang="en-IN" sz="3200" b="1">
                <a:solidFill>
                  <a:srgbClr val="000000"/>
                </a:solidFill>
                <a:latin typeface="Times New Roman" panose="02020603050405020304" pitchFamily="18" charset="0"/>
              </a:rPr>
              <a:t>Step 4: </a:t>
            </a:r>
            <a:r>
              <a:rPr lang="en-IN" sz="3200">
                <a:solidFill>
                  <a:srgbClr val="000000"/>
                </a:solidFill>
                <a:latin typeface="Times New Roman" panose="02020603050405020304" pitchFamily="18" charset="0"/>
              </a:rPr>
              <a:t>Use the algebraic identity for the numerator</a:t>
            </a:r>
          </a:p>
          <a:p>
            <a:pPr algn="ctr">
              <a:buNone/>
            </a:pPr>
            <a:r>
              <a:rPr lang="en-IN" sz="3200" i="1">
                <a:solidFill>
                  <a:srgbClr val="000000"/>
                </a:solidFill>
                <a:latin typeface="Times New Roman" panose="02020603050405020304" pitchFamily="18" charset="0"/>
              </a:rPr>
              <a:t>α² + β² + γ² = (α + β + γ)² − 2(αβ + βγ + γα)</a:t>
            </a:r>
          </a:p>
          <a:p>
            <a:r>
              <a:rPr lang="en-IN" sz="3200">
                <a:solidFill>
                  <a:srgbClr val="000000"/>
                </a:solidFill>
                <a:latin typeface="Times New Roman" panose="02020603050405020304" pitchFamily="18" charset="0"/>
              </a:rPr>
              <a:t>Substitute the Vieta values into the identity:</a:t>
            </a:r>
          </a:p>
          <a:p>
            <a:pPr algn="ctr">
              <a:buNone/>
            </a:pPr>
            <a:r>
              <a:rPr lang="en-IN" sz="3200" i="1">
                <a:solidFill>
                  <a:srgbClr val="000000"/>
                </a:solidFill>
                <a:latin typeface="Times New Roman" panose="02020603050405020304" pitchFamily="18" charset="0"/>
              </a:rPr>
              <a:t>α² + β² + γ² = (−b/a)² − 2(c/a)</a:t>
            </a:r>
          </a:p>
          <a:p>
            <a:pPr algn="ctr">
              <a:buNone/>
            </a:pPr>
            <a:r>
              <a:rPr lang="en-IN" sz="3200" i="1">
                <a:solidFill>
                  <a:srgbClr val="000000"/>
                </a:solidFill>
                <a:latin typeface="Times New Roman" panose="02020603050405020304" pitchFamily="18" charset="0"/>
              </a:rPr>
              <a:t>            = b²/a² − 2c/a</a:t>
            </a:r>
          </a:p>
          <a:p>
            <a:pPr algn="ctr">
              <a:buNone/>
            </a:pPr>
            <a:r>
              <a:rPr lang="en-IN" sz="3200" i="1">
                <a:solidFill>
                  <a:srgbClr val="000000"/>
                </a:solidFill>
                <a:latin typeface="Times New Roman" panose="02020603050405020304" pitchFamily="18" charset="0"/>
              </a:rPr>
              <a:t>                = (b² − 2ac) / a²</a:t>
            </a:r>
          </a:p>
          <a:p>
            <a:pPr algn="l">
              <a:buNone/>
            </a:pPr>
            <a:endParaRPr lang="en-IN" sz="3200" b="1" i="0">
              <a:solidFill>
                <a:srgbClr val="000000"/>
              </a:solidFill>
              <a:effectLst/>
              <a:latin typeface="Times New Roman" panose="02020603050405020304" pitchFamily="18" charset="0"/>
            </a:endParaRPr>
          </a:p>
          <a:p>
            <a:pPr algn="l">
              <a:buNone/>
            </a:pPr>
            <a:r>
              <a:rPr lang="en-IN" sz="3200" b="1" i="0">
                <a:solidFill>
                  <a:srgbClr val="000000"/>
                </a:solidFill>
                <a:effectLst/>
                <a:latin typeface="Times New Roman" panose="02020603050405020304" pitchFamily="18" charset="0"/>
              </a:rPr>
              <a:t>Step 5:</a:t>
            </a:r>
            <a:r>
              <a:rPr lang="en-IN" sz="3200" b="0" i="0">
                <a:solidFill>
                  <a:srgbClr val="000000"/>
                </a:solidFill>
                <a:effectLst/>
                <a:latin typeface="Times New Roman" panose="02020603050405020304" pitchFamily="18" charset="0"/>
              </a:rPr>
              <a:t> Substitute the numerator and denominator back into the main expression</a:t>
            </a:r>
          </a:p>
          <a:p>
            <a:pPr algn="ctr">
              <a:buNone/>
            </a:pPr>
            <a:r>
              <a:rPr lang="en-IN" sz="3200" b="0" i="1">
                <a:solidFill>
                  <a:srgbClr val="000000"/>
                </a:solidFill>
                <a:effectLst/>
                <a:latin typeface="Times New Roman" panose="02020603050405020304" pitchFamily="18" charset="0"/>
              </a:rPr>
              <a:t>Σ α/βγ  =  [(b² − 2ac)/a²] / [−d/a]</a:t>
            </a:r>
          </a:p>
          <a:p>
            <a:pPr algn="ctr">
              <a:buNone/>
            </a:pPr>
            <a:r>
              <a:rPr lang="en-IN" sz="3200" b="0" i="1">
                <a:solidFill>
                  <a:srgbClr val="000000"/>
                </a:solidFill>
                <a:effectLst/>
                <a:latin typeface="Times New Roman" panose="02020603050405020304" pitchFamily="18" charset="0"/>
              </a:rPr>
              <a:t>= (b² − 2ac)/a²  ×  (−a/d)</a:t>
            </a:r>
          </a:p>
          <a:p>
            <a:pPr algn="ctr">
              <a:buNone/>
            </a:pPr>
            <a:r>
              <a:rPr lang="en-IN" sz="3200" b="0" i="1">
                <a:solidFill>
                  <a:srgbClr val="000000"/>
                </a:solidFill>
                <a:effectLst/>
                <a:latin typeface="Times New Roman" panose="02020603050405020304" pitchFamily="18" charset="0"/>
              </a:rPr>
              <a:t>= (b² − 2ac) / (−ad)</a:t>
            </a:r>
          </a:p>
          <a:p>
            <a:pPr algn="ctr">
              <a:buNone/>
            </a:pPr>
            <a:r>
              <a:rPr lang="en-IN" sz="3200" b="0" i="1">
                <a:solidFill>
                  <a:srgbClr val="000000"/>
                </a:solidFill>
                <a:effectLst/>
                <a:latin typeface="Times New Roman" panose="02020603050405020304" pitchFamily="18" charset="0"/>
              </a:rPr>
              <a:t>= (2ac − b²) / ad</a:t>
            </a:r>
          </a:p>
          <a:p>
            <a:pPr algn="l">
              <a:buNone/>
            </a:pPr>
            <a:r>
              <a:rPr lang="en-IN" sz="3200" b="1" i="0">
                <a:solidFill>
                  <a:srgbClr val="000000"/>
                </a:solidFill>
                <a:effectLst/>
                <a:latin typeface="Times New Roman" panose="02020603050405020304" pitchFamily="18" charset="0"/>
              </a:rPr>
              <a:t>Answer:</a:t>
            </a:r>
          </a:p>
          <a:p>
            <a:pPr algn="ctr">
              <a:buNone/>
            </a:pPr>
            <a:r>
              <a:rPr lang="en-IN" sz="3200" b="0" i="1">
                <a:solidFill>
                  <a:srgbClr val="000000"/>
                </a:solidFill>
                <a:effectLst/>
                <a:latin typeface="Times New Roman" panose="02020603050405020304" pitchFamily="18" charset="0"/>
              </a:rPr>
              <a:t>Σ α/βγ  =  (2ac − b²) / ad</a:t>
            </a:r>
          </a:p>
        </p:txBody>
      </p:sp>
    </p:spTree>
    <p:extLst>
      <p:ext uri="{BB962C8B-B14F-4D97-AF65-F5344CB8AC3E}">
        <p14:creationId xmlns:p14="http://schemas.microsoft.com/office/powerpoint/2010/main" val="40551212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667D7640-FECA-4955-DE83-E47327CC11C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FE87EAF-D571-18AB-7DA8-9C801B3E6D28}"/>
              </a:ext>
            </a:extLst>
          </p:cNvPr>
          <p:cNvSpPr txBox="1"/>
          <p:nvPr/>
        </p:nvSpPr>
        <p:spPr>
          <a:xfrm>
            <a:off x="498764" y="495300"/>
            <a:ext cx="17754600" cy="8463855"/>
          </a:xfrm>
          <a:prstGeom prst="rect">
            <a:avLst/>
          </a:prstGeom>
          <a:noFill/>
        </p:spPr>
        <p:txBody>
          <a:bodyPr wrap="square">
            <a:spAutoFit/>
          </a:bodyPr>
          <a:lstStyle/>
          <a:p>
            <a:pPr algn="l">
              <a:buNone/>
            </a:pPr>
            <a:r>
              <a:rPr lang="en-IN" sz="3200">
                <a:solidFill>
                  <a:srgbClr val="000000"/>
                </a:solidFill>
                <a:latin typeface="Times New Roman" panose="02020603050405020304" pitchFamily="18" charset="0"/>
              </a:rPr>
              <a:t>8.</a:t>
            </a:r>
            <a:r>
              <a:rPr lang="en-IN" sz="3200" b="0" i="0">
                <a:solidFill>
                  <a:srgbClr val="000000"/>
                </a:solidFill>
                <a:effectLst/>
                <a:latin typeface="Times New Roman" panose="02020603050405020304" pitchFamily="18" charset="0"/>
              </a:rPr>
              <a:t>If α, β, γ, and δ are the roots of the polynomial equation 2x⁴ + 5x³ − 7x² + 8 = 0, find a quadratic equation with integer coefficients whose roots are α + β + γ + δ and αβ</a:t>
            </a:r>
            <a:r>
              <a:rPr lang="en-IN" sz="3200" b="0" i="0" err="1">
                <a:solidFill>
                  <a:srgbClr val="000000"/>
                </a:solidFill>
                <a:effectLst/>
                <a:latin typeface="Times New Roman" panose="02020603050405020304" pitchFamily="18" charset="0"/>
              </a:rPr>
              <a:t>γδ</a:t>
            </a:r>
            <a:r>
              <a:rPr lang="en-IN" sz="3200" b="0" i="0">
                <a:solidFill>
                  <a:srgbClr val="000000"/>
                </a:solidFill>
                <a:effectLst/>
                <a:latin typeface="Times New Roman" panose="02020603050405020304" pitchFamily="18" charset="0"/>
              </a:rPr>
              <a:t>.</a:t>
            </a:r>
          </a:p>
          <a:p>
            <a:pPr algn="l">
              <a:buNone/>
            </a:pPr>
            <a:endParaRPr lang="en-IN" sz="3200" b="0" i="0">
              <a:solidFill>
                <a:srgbClr val="000000"/>
              </a:solidFill>
              <a:effectLst/>
              <a:latin typeface="Times New Roman" panose="02020603050405020304" pitchFamily="18" charset="0"/>
            </a:endParaRPr>
          </a:p>
          <a:p>
            <a:pPr algn="l">
              <a:buNone/>
            </a:pPr>
            <a:r>
              <a:rPr lang="en-IN" sz="3200" b="1" i="0">
                <a:solidFill>
                  <a:srgbClr val="000000"/>
                </a:solidFill>
                <a:effectLst/>
                <a:latin typeface="Times New Roman" panose="02020603050405020304" pitchFamily="18" charset="0"/>
              </a:rPr>
              <a:t>Step 1:</a:t>
            </a:r>
            <a:r>
              <a:rPr lang="en-IN" sz="3200" b="0" i="0">
                <a:solidFill>
                  <a:srgbClr val="000000"/>
                </a:solidFill>
                <a:effectLst/>
                <a:latin typeface="Times New Roman" panose="02020603050405020304" pitchFamily="18" charset="0"/>
              </a:rPr>
              <a:t> Identify coefficients from the given equation</a:t>
            </a:r>
          </a:p>
          <a:p>
            <a:pPr algn="l">
              <a:buNone/>
            </a:pPr>
            <a:r>
              <a:rPr lang="en-IN" sz="3200" b="0" i="0">
                <a:solidFill>
                  <a:srgbClr val="000000"/>
                </a:solidFill>
                <a:effectLst/>
                <a:latin typeface="Times New Roman" panose="02020603050405020304" pitchFamily="18" charset="0"/>
              </a:rPr>
              <a:t>Rewrite the equation to include all powers of x:</a:t>
            </a:r>
          </a:p>
          <a:p>
            <a:pPr algn="ctr">
              <a:buNone/>
            </a:pPr>
            <a:r>
              <a:rPr lang="en-IN" sz="3200" b="0" i="1">
                <a:solidFill>
                  <a:srgbClr val="000000"/>
                </a:solidFill>
                <a:effectLst/>
                <a:latin typeface="Times New Roman" panose="02020603050405020304" pitchFamily="18" charset="0"/>
              </a:rPr>
              <a:t>2x⁴ + 5x³ − 7x² + 0x + 8 = 0</a:t>
            </a:r>
          </a:p>
          <a:p>
            <a:pPr algn="l">
              <a:buNone/>
            </a:pPr>
            <a:r>
              <a:rPr lang="en-IN" sz="3200" b="0" i="0">
                <a:solidFill>
                  <a:srgbClr val="000000"/>
                </a:solidFill>
                <a:effectLst/>
                <a:latin typeface="Times New Roman" panose="02020603050405020304" pitchFamily="18" charset="0"/>
              </a:rPr>
              <a:t>Here:</a:t>
            </a:r>
          </a:p>
          <a:p>
            <a:pPr algn="l">
              <a:buNone/>
            </a:pPr>
            <a:r>
              <a:rPr lang="en-IN" sz="3200" b="0" i="1">
                <a:solidFill>
                  <a:srgbClr val="000000"/>
                </a:solidFill>
                <a:effectLst/>
                <a:latin typeface="Times New Roman" panose="02020603050405020304" pitchFamily="18" charset="0"/>
              </a:rPr>
              <a:t>○   a = 2, b = 5, c = −7, d = 0, e = 8</a:t>
            </a:r>
          </a:p>
          <a:p>
            <a:pPr algn="l">
              <a:buNone/>
            </a:pPr>
            <a:endParaRPr lang="en-IN" sz="3200" b="0" i="1">
              <a:solidFill>
                <a:srgbClr val="000000"/>
              </a:solidFill>
              <a:effectLst/>
              <a:latin typeface="Times New Roman" panose="02020603050405020304" pitchFamily="18" charset="0"/>
            </a:endParaRPr>
          </a:p>
          <a:p>
            <a:pPr algn="l">
              <a:buNone/>
            </a:pPr>
            <a:r>
              <a:rPr lang="en-IN" sz="3200" b="1" i="0">
                <a:solidFill>
                  <a:srgbClr val="000000"/>
                </a:solidFill>
                <a:effectLst/>
                <a:latin typeface="Times New Roman" panose="02020603050405020304" pitchFamily="18" charset="0"/>
              </a:rPr>
              <a:t>Step 2:</a:t>
            </a:r>
            <a:r>
              <a:rPr lang="en-IN" sz="3200" b="0" i="0">
                <a:solidFill>
                  <a:srgbClr val="000000"/>
                </a:solidFill>
                <a:effectLst/>
                <a:latin typeface="Times New Roman" panose="02020603050405020304" pitchFamily="18" charset="0"/>
              </a:rPr>
              <a:t> Find the values of the new roots using Vieta's formulas</a:t>
            </a:r>
          </a:p>
          <a:p>
            <a:pPr algn="l">
              <a:buNone/>
            </a:pPr>
            <a:r>
              <a:rPr lang="en-IN" sz="3200" b="0" i="0">
                <a:solidFill>
                  <a:srgbClr val="000000"/>
                </a:solidFill>
                <a:effectLst/>
                <a:latin typeface="Times New Roman" panose="02020603050405020304" pitchFamily="18" charset="0"/>
              </a:rPr>
              <a:t>Let the roots of the required quadratic equation be R₁ and R₂.</a:t>
            </a:r>
          </a:p>
          <a:p>
            <a:pPr algn="l">
              <a:buNone/>
            </a:pPr>
            <a:r>
              <a:rPr lang="en-IN" sz="3200" b="0" i="1">
                <a:solidFill>
                  <a:srgbClr val="000000"/>
                </a:solidFill>
                <a:effectLst/>
                <a:latin typeface="Times New Roman" panose="02020603050405020304" pitchFamily="18" charset="0"/>
              </a:rPr>
              <a:t>○   R₁ = α + β + γ + δ = −b/a = −5/2</a:t>
            </a:r>
          </a:p>
          <a:p>
            <a:pPr algn="l">
              <a:buNone/>
            </a:pPr>
            <a:r>
              <a:rPr lang="en-IN" sz="3200" b="0" i="1">
                <a:solidFill>
                  <a:srgbClr val="000000"/>
                </a:solidFill>
                <a:effectLst/>
                <a:latin typeface="Times New Roman" panose="02020603050405020304" pitchFamily="18" charset="0"/>
              </a:rPr>
              <a:t>○   R₂ = αβ</a:t>
            </a:r>
            <a:r>
              <a:rPr lang="en-IN" sz="3200" b="0" i="1" err="1">
                <a:solidFill>
                  <a:srgbClr val="000000"/>
                </a:solidFill>
                <a:effectLst/>
                <a:latin typeface="Times New Roman" panose="02020603050405020304" pitchFamily="18" charset="0"/>
              </a:rPr>
              <a:t>γδ</a:t>
            </a:r>
            <a:r>
              <a:rPr lang="en-IN" sz="3200" b="0" i="1">
                <a:solidFill>
                  <a:srgbClr val="000000"/>
                </a:solidFill>
                <a:effectLst/>
                <a:latin typeface="Times New Roman" panose="02020603050405020304" pitchFamily="18" charset="0"/>
              </a:rPr>
              <a:t> = e/a = 8/2 = 4</a:t>
            </a:r>
          </a:p>
          <a:p>
            <a:pPr algn="l">
              <a:buNone/>
            </a:pPr>
            <a:endParaRPr lang="en-IN" sz="3200" b="0" i="1">
              <a:solidFill>
                <a:srgbClr val="000000"/>
              </a:solidFill>
              <a:effectLst/>
              <a:latin typeface="Times New Roman" panose="02020603050405020304" pitchFamily="18" charset="0"/>
            </a:endParaRPr>
          </a:p>
          <a:p>
            <a:pPr algn="l">
              <a:buNone/>
            </a:pPr>
            <a:r>
              <a:rPr lang="en-IN" sz="3200" b="1" i="0">
                <a:solidFill>
                  <a:srgbClr val="000000"/>
                </a:solidFill>
                <a:effectLst/>
                <a:latin typeface="Times New Roman" panose="02020603050405020304" pitchFamily="18" charset="0"/>
              </a:rPr>
              <a:t>Step 3: </a:t>
            </a:r>
            <a:r>
              <a:rPr lang="en-IN" sz="3200" b="0" i="0">
                <a:solidFill>
                  <a:srgbClr val="000000"/>
                </a:solidFill>
                <a:effectLst/>
                <a:latin typeface="Times New Roman" panose="02020603050405020304" pitchFamily="18" charset="0"/>
              </a:rPr>
              <a:t>Find the sum (S) and product (P) of the new roots</a:t>
            </a:r>
          </a:p>
          <a:p>
            <a:pPr algn="l">
              <a:buNone/>
            </a:pPr>
            <a:r>
              <a:rPr lang="en-IN" sz="3200" b="0" i="1">
                <a:solidFill>
                  <a:srgbClr val="000000"/>
                </a:solidFill>
                <a:effectLst/>
                <a:latin typeface="Times New Roman" panose="02020603050405020304" pitchFamily="18" charset="0"/>
              </a:rPr>
              <a:t>○   Sum (S) = R₁ + R₂ = −5/2 + 4 = (−5+8)/2 = 3/2</a:t>
            </a:r>
          </a:p>
          <a:p>
            <a:pPr algn="l">
              <a:buNone/>
            </a:pPr>
            <a:r>
              <a:rPr lang="en-IN" sz="3200" b="0" i="1">
                <a:solidFill>
                  <a:srgbClr val="000000"/>
                </a:solidFill>
                <a:effectLst/>
                <a:latin typeface="Times New Roman" panose="02020603050405020304" pitchFamily="18" charset="0"/>
              </a:rPr>
              <a:t>○   Product (P) = R₁ × R₂ = (−5/2) × 4 = −10</a:t>
            </a:r>
          </a:p>
        </p:txBody>
      </p:sp>
    </p:spTree>
    <p:extLst>
      <p:ext uri="{BB962C8B-B14F-4D97-AF65-F5344CB8AC3E}">
        <p14:creationId xmlns:p14="http://schemas.microsoft.com/office/powerpoint/2010/main" val="5446332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D561F9DF-C632-B11E-08EB-F061036172E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14E6D2D-2042-C59D-0213-2FFF6EC31DCA}"/>
              </a:ext>
            </a:extLst>
          </p:cNvPr>
          <p:cNvSpPr txBox="1"/>
          <p:nvPr/>
        </p:nvSpPr>
        <p:spPr>
          <a:xfrm>
            <a:off x="304800" y="723900"/>
            <a:ext cx="16535400" cy="4308872"/>
          </a:xfrm>
          <a:prstGeom prst="rect">
            <a:avLst/>
          </a:prstGeom>
          <a:noFill/>
        </p:spPr>
        <p:txBody>
          <a:bodyPr wrap="square">
            <a:spAutoFit/>
          </a:bodyPr>
          <a:lstStyle/>
          <a:p>
            <a:pPr algn="l">
              <a:buNone/>
            </a:pPr>
            <a:endParaRPr lang="en-IN" b="0" i="1">
              <a:solidFill>
                <a:srgbClr val="000000"/>
              </a:solidFill>
              <a:effectLst/>
              <a:latin typeface="Times New Roman" panose="02020603050405020304" pitchFamily="18" charset="0"/>
            </a:endParaRPr>
          </a:p>
          <a:p>
            <a:pPr algn="l">
              <a:buNone/>
            </a:pPr>
            <a:r>
              <a:rPr lang="en-IN" sz="3200" b="1" i="0">
                <a:solidFill>
                  <a:srgbClr val="000000"/>
                </a:solidFill>
                <a:effectLst/>
                <a:latin typeface="Times New Roman" panose="02020603050405020304" pitchFamily="18" charset="0"/>
              </a:rPr>
              <a:t>Step 4:</a:t>
            </a:r>
            <a:r>
              <a:rPr lang="en-IN" sz="3200" b="0" i="0">
                <a:solidFill>
                  <a:srgbClr val="000000"/>
                </a:solidFill>
                <a:effectLst/>
                <a:latin typeface="Times New Roman" panose="02020603050405020304" pitchFamily="18" charset="0"/>
              </a:rPr>
              <a:t> Form the quadratic equation</a:t>
            </a:r>
          </a:p>
          <a:p>
            <a:pPr algn="ctr">
              <a:buNone/>
            </a:pPr>
            <a:r>
              <a:rPr lang="en-IN" sz="3200" b="0" i="1">
                <a:solidFill>
                  <a:srgbClr val="000000"/>
                </a:solidFill>
                <a:effectLst/>
                <a:latin typeface="Times New Roman" panose="02020603050405020304" pitchFamily="18" charset="0"/>
              </a:rPr>
              <a:t>Formula: x² − </a:t>
            </a:r>
            <a:r>
              <a:rPr lang="en-IN" sz="3200" b="0" i="1" err="1">
                <a:solidFill>
                  <a:srgbClr val="000000"/>
                </a:solidFill>
                <a:effectLst/>
                <a:latin typeface="Times New Roman" panose="02020603050405020304" pitchFamily="18" charset="0"/>
              </a:rPr>
              <a:t>Sx</a:t>
            </a:r>
            <a:r>
              <a:rPr lang="en-IN" sz="3200" b="0" i="1">
                <a:solidFill>
                  <a:srgbClr val="000000"/>
                </a:solidFill>
                <a:effectLst/>
                <a:latin typeface="Times New Roman" panose="02020603050405020304" pitchFamily="18" charset="0"/>
              </a:rPr>
              <a:t> + P = 0</a:t>
            </a:r>
          </a:p>
          <a:p>
            <a:pPr algn="ctr">
              <a:buNone/>
            </a:pPr>
            <a:r>
              <a:rPr lang="en-IN" sz="3200" b="0" i="1">
                <a:solidFill>
                  <a:srgbClr val="000000"/>
                </a:solidFill>
                <a:effectLst/>
                <a:latin typeface="Times New Roman" panose="02020603050405020304" pitchFamily="18" charset="0"/>
              </a:rPr>
              <a:t>x² − (3/2)x + (−10) = 0</a:t>
            </a:r>
          </a:p>
          <a:p>
            <a:pPr algn="ctr">
              <a:buNone/>
            </a:pPr>
            <a:r>
              <a:rPr lang="en-IN" sz="3200" b="0" i="1">
                <a:solidFill>
                  <a:srgbClr val="000000"/>
                </a:solidFill>
                <a:effectLst/>
                <a:latin typeface="Times New Roman" panose="02020603050405020304" pitchFamily="18" charset="0"/>
              </a:rPr>
              <a:t>x² − (3/2)x − 10 = 0</a:t>
            </a:r>
          </a:p>
          <a:p>
            <a:pPr algn="l">
              <a:buNone/>
            </a:pPr>
            <a:r>
              <a:rPr lang="en-IN" sz="3200" b="0" i="0">
                <a:solidFill>
                  <a:srgbClr val="000000"/>
                </a:solidFill>
                <a:effectLst/>
                <a:latin typeface="Times New Roman" panose="02020603050405020304" pitchFamily="18" charset="0"/>
              </a:rPr>
              <a:t>Multiply the entire equation by 2 to clear the fractional coefficient:</a:t>
            </a:r>
          </a:p>
          <a:p>
            <a:pPr algn="ctr">
              <a:buNone/>
            </a:pPr>
            <a:r>
              <a:rPr lang="en-IN" sz="3200" b="0" i="1">
                <a:solidFill>
                  <a:srgbClr val="000000"/>
                </a:solidFill>
                <a:effectLst/>
                <a:latin typeface="Times New Roman" panose="02020603050405020304" pitchFamily="18" charset="0"/>
              </a:rPr>
              <a:t>2x² − 3x − 20 = 0</a:t>
            </a:r>
          </a:p>
          <a:p>
            <a:pPr algn="l">
              <a:buNone/>
            </a:pPr>
            <a:r>
              <a:rPr lang="en-IN" sz="3200" b="1" i="0">
                <a:solidFill>
                  <a:srgbClr val="000000"/>
                </a:solidFill>
                <a:effectLst/>
                <a:latin typeface="Times New Roman" panose="02020603050405020304" pitchFamily="18" charset="0"/>
              </a:rPr>
              <a:t>Answer:</a:t>
            </a:r>
          </a:p>
          <a:p>
            <a:pPr algn="ctr">
              <a:buNone/>
            </a:pPr>
            <a:r>
              <a:rPr lang="en-IN" sz="3200" b="0" i="1">
                <a:solidFill>
                  <a:srgbClr val="000000"/>
                </a:solidFill>
                <a:effectLst/>
                <a:latin typeface="Times New Roman" panose="02020603050405020304" pitchFamily="18" charset="0"/>
              </a:rPr>
              <a:t>2x² − 3x − 20 = 0</a:t>
            </a:r>
          </a:p>
        </p:txBody>
      </p:sp>
    </p:spTree>
    <p:extLst>
      <p:ext uri="{BB962C8B-B14F-4D97-AF65-F5344CB8AC3E}">
        <p14:creationId xmlns:p14="http://schemas.microsoft.com/office/powerpoint/2010/main" val="22348694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8B838BDA-3290-487E-F88D-8202F9FE00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A3D8305F-3ACC-020A-9177-C223BCA6CB06}"/>
              </a:ext>
            </a:extLst>
          </p:cNvPr>
          <p:cNvSpPr txBox="1"/>
          <p:nvPr/>
        </p:nvSpPr>
        <p:spPr>
          <a:xfrm>
            <a:off x="152400" y="419100"/>
            <a:ext cx="17602200" cy="9261510"/>
          </a:xfrm>
          <a:prstGeom prst="rect">
            <a:avLst/>
          </a:prstGeom>
          <a:noFill/>
        </p:spPr>
        <p:txBody>
          <a:bodyPr wrap="square">
            <a:spAutoFit/>
          </a:bodyPr>
          <a:lstStyle/>
          <a:p>
            <a:pPr algn="l">
              <a:spcAft>
                <a:spcPts val="1500"/>
              </a:spcAft>
              <a:buNone/>
            </a:pPr>
            <a:r>
              <a:rPr lang="en-IN" sz="3200" b="0" i="0">
                <a:solidFill>
                  <a:srgbClr val="000000"/>
                </a:solidFill>
                <a:effectLst/>
                <a:latin typeface="Times New Roman" panose="02020603050405020304" pitchFamily="18" charset="0"/>
              </a:rPr>
              <a:t> 9</a:t>
            </a:r>
            <a:r>
              <a:rPr lang="en-IN" sz="3200">
                <a:solidFill>
                  <a:srgbClr val="000000"/>
                </a:solidFill>
                <a:latin typeface="Times New Roman" panose="02020603050405020304" pitchFamily="18" charset="0"/>
              </a:rPr>
              <a:t>.</a:t>
            </a:r>
            <a:r>
              <a:rPr lang="en-IN" sz="3200" b="0" i="0">
                <a:solidFill>
                  <a:srgbClr val="000000"/>
                </a:solidFill>
                <a:effectLst/>
                <a:latin typeface="Times New Roman" panose="02020603050405020304" pitchFamily="18" charset="0"/>
              </a:rPr>
              <a:t>If the equations </a:t>
            </a:r>
            <a:r>
              <a:rPr lang="en-IN" sz="3200" b="0" i="1">
                <a:solidFill>
                  <a:srgbClr val="000000"/>
                </a:solidFill>
                <a:effectLst/>
                <a:latin typeface="Times New Roman" panose="02020603050405020304" pitchFamily="18" charset="0"/>
              </a:rPr>
              <a:t>x</a:t>
            </a:r>
            <a:r>
              <a:rPr lang="en-IN" sz="3200" b="0" i="0">
                <a:solidFill>
                  <a:srgbClr val="000000"/>
                </a:solidFill>
                <a:effectLst/>
                <a:latin typeface="Times New Roman" panose="02020603050405020304" pitchFamily="18" charset="0"/>
              </a:rPr>
              <a:t>² + </a:t>
            </a:r>
            <a:r>
              <a:rPr lang="en-IN" sz="3200" b="0" i="1" err="1">
                <a:solidFill>
                  <a:srgbClr val="000000"/>
                </a:solidFill>
                <a:effectLst/>
                <a:latin typeface="Times New Roman" panose="02020603050405020304" pitchFamily="18" charset="0"/>
              </a:rPr>
              <a:t>px</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0 and </a:t>
            </a:r>
            <a:r>
              <a:rPr lang="en-IN" sz="3200" b="0" i="1">
                <a:solidFill>
                  <a:srgbClr val="000000"/>
                </a:solidFill>
                <a:effectLst/>
                <a:latin typeface="Times New Roman" panose="02020603050405020304" pitchFamily="18" charset="0"/>
              </a:rPr>
              <a:t>x</a:t>
            </a:r>
            <a:r>
              <a:rPr lang="en-IN" sz="3200" b="0" i="0">
                <a:solidFill>
                  <a:srgbClr val="000000"/>
                </a:solidFill>
                <a:effectLst/>
                <a:latin typeface="Times New Roman" panose="02020603050405020304" pitchFamily="18" charset="0"/>
              </a:rPr>
              <a:t>² + </a:t>
            </a:r>
            <a:r>
              <a:rPr lang="en-IN" sz="3200" b="0" i="1" err="1">
                <a:solidFill>
                  <a:srgbClr val="000000"/>
                </a:solidFill>
                <a:effectLst/>
                <a:latin typeface="Times New Roman" panose="02020603050405020304" pitchFamily="18" charset="0"/>
              </a:rPr>
              <a:t>p</a:t>
            </a:r>
            <a:r>
              <a:rPr lang="en-IN" sz="3200" b="0" i="0" err="1">
                <a:solidFill>
                  <a:srgbClr val="000000"/>
                </a:solidFill>
                <a:effectLst/>
                <a:latin typeface="Times New Roman" panose="02020603050405020304" pitchFamily="18" charset="0"/>
              </a:rPr>
              <a:t>′</a:t>
            </a:r>
            <a:r>
              <a:rPr lang="en-IN" sz="3200" b="0" i="1" err="1">
                <a:solidFill>
                  <a:srgbClr val="000000"/>
                </a:solidFill>
                <a:effectLst/>
                <a:latin typeface="Times New Roman" panose="02020603050405020304" pitchFamily="18" charset="0"/>
              </a:rPr>
              <a:t>x</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0 have a common root, show that it must be equal to </a:t>
            </a:r>
            <a:r>
              <a:rPr lang="en-IN" sz="3200" b="0" i="1" err="1">
                <a:solidFill>
                  <a:srgbClr val="000000"/>
                </a:solidFill>
                <a:effectLst/>
                <a:latin typeface="Times New Roman" panose="02020603050405020304" pitchFamily="18" charset="0"/>
              </a:rPr>
              <a:t>pq</a:t>
            </a:r>
            <a:r>
              <a:rPr lang="en-IN" sz="3200" b="0" i="0">
                <a:solidFill>
                  <a:srgbClr val="000000"/>
                </a:solidFill>
                <a:effectLst/>
                <a:latin typeface="Times New Roman" panose="02020603050405020304" pitchFamily="18" charset="0"/>
              </a:rPr>
              <a:t>′ − </a:t>
            </a:r>
            <a:r>
              <a:rPr lang="en-IN" sz="3200" b="0" i="1" err="1">
                <a:solidFill>
                  <a:srgbClr val="000000"/>
                </a:solidFill>
                <a:effectLst/>
                <a:latin typeface="Times New Roman" panose="02020603050405020304" pitchFamily="18" charset="0"/>
              </a:rPr>
              <a:t>p</a:t>
            </a:r>
            <a:r>
              <a:rPr lang="en-IN" sz="3200" b="0" i="0" err="1">
                <a:solidFill>
                  <a:srgbClr val="000000"/>
                </a:solidFill>
                <a:effectLst/>
                <a:latin typeface="Times New Roman" panose="02020603050405020304" pitchFamily="18" charset="0"/>
              </a:rPr>
              <a:t>′</a:t>
            </a:r>
            <a:r>
              <a:rPr lang="en-IN" sz="3200" b="0" i="1" err="1">
                <a:solidFill>
                  <a:srgbClr val="000000"/>
                </a:solidFill>
                <a:effectLst/>
                <a:latin typeface="Times New Roman" panose="02020603050405020304" pitchFamily="18" charset="0"/>
              </a:rPr>
              <a:t>qq</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or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a:t>
            </a:r>
            <a:r>
              <a:rPr lang="en-IN" sz="3200" b="0" i="1" err="1">
                <a:solidFill>
                  <a:srgbClr val="000000"/>
                </a:solidFill>
                <a:effectLst/>
                <a:latin typeface="Times New Roman" panose="02020603050405020304" pitchFamily="18" charset="0"/>
              </a:rPr>
              <a:t>q</a:t>
            </a:r>
            <a:r>
              <a:rPr lang="en-IN" sz="3200" b="0" i="0" err="1">
                <a:solidFill>
                  <a:srgbClr val="000000"/>
                </a:solidFill>
                <a:effectLst/>
                <a:latin typeface="Times New Roman" panose="02020603050405020304" pitchFamily="18" charset="0"/>
              </a:rPr>
              <a:t>′</a:t>
            </a:r>
            <a:r>
              <a:rPr lang="en-IN" sz="3200" b="0" i="1" err="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p</a:t>
            </a:r>
          </a:p>
          <a:p>
            <a:pPr algn="l">
              <a:spcAft>
                <a:spcPts val="1500"/>
              </a:spcAft>
              <a:buNone/>
            </a:pPr>
            <a:endParaRPr lang="en-IN" sz="3200" b="0" i="0">
              <a:solidFill>
                <a:srgbClr val="000000"/>
              </a:solidFill>
              <a:effectLst/>
              <a:latin typeface="Times New Roman" panose="02020603050405020304" pitchFamily="18" charset="0"/>
            </a:endParaRPr>
          </a:p>
          <a:p>
            <a:pPr algn="l">
              <a:spcAft>
                <a:spcPts val="450"/>
              </a:spcAft>
              <a:buNone/>
            </a:pPr>
            <a:r>
              <a:rPr lang="en-IN" sz="3200" b="1" i="0">
                <a:solidFill>
                  <a:srgbClr val="000000"/>
                </a:solidFill>
                <a:effectLst/>
                <a:latin typeface="Times New Roman" panose="02020603050405020304" pitchFamily="18" charset="0"/>
              </a:rPr>
              <a:t>Step 1: Assume a common root</a:t>
            </a:r>
          </a:p>
          <a:p>
            <a:pPr algn="l">
              <a:spcAft>
                <a:spcPts val="300"/>
              </a:spcAft>
              <a:buNone/>
            </a:pPr>
            <a:r>
              <a:rPr lang="en-IN" sz="3200" b="0" i="0">
                <a:solidFill>
                  <a:srgbClr val="000000"/>
                </a:solidFill>
                <a:effectLst/>
                <a:latin typeface="Times New Roman" panose="02020603050405020304" pitchFamily="18" charset="0"/>
              </a:rPr>
              <a:t>Let the common root of both quadratic equations be α.</a:t>
            </a:r>
          </a:p>
          <a:p>
            <a:pPr algn="l">
              <a:spcAft>
                <a:spcPts val="900"/>
              </a:spcAft>
              <a:buNone/>
            </a:pPr>
            <a:r>
              <a:rPr lang="en-IN" sz="3200" b="0" i="0">
                <a:solidFill>
                  <a:srgbClr val="000000"/>
                </a:solidFill>
                <a:effectLst/>
                <a:latin typeface="Times New Roman" panose="02020603050405020304" pitchFamily="18" charset="0"/>
              </a:rPr>
              <a:t>Since α is a root, it must satisfy both equations:</a:t>
            </a:r>
          </a:p>
          <a:p>
            <a:pPr algn="l">
              <a:spcAft>
                <a:spcPts val="300"/>
              </a:spcAft>
              <a:buNone/>
            </a:pPr>
            <a:r>
              <a:rPr lang="en-IN" sz="3200" b="0" i="0">
                <a:solidFill>
                  <a:srgbClr val="000000"/>
                </a:solidFill>
                <a:effectLst/>
                <a:latin typeface="Times New Roman" panose="02020603050405020304" pitchFamily="18" charset="0"/>
              </a:rPr>
              <a:t>  1   α² + </a:t>
            </a:r>
            <a:r>
              <a:rPr lang="en-IN" sz="3200" b="0" i="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α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0   — (Equation 1)</a:t>
            </a:r>
          </a:p>
          <a:p>
            <a:pPr algn="l">
              <a:spcAft>
                <a:spcPts val="1500"/>
              </a:spcAft>
              <a:buNone/>
            </a:pPr>
            <a:r>
              <a:rPr lang="en-IN" sz="3200" b="0" i="0">
                <a:solidFill>
                  <a:srgbClr val="000000"/>
                </a:solidFill>
                <a:effectLst/>
                <a:latin typeface="Times New Roman" panose="02020603050405020304" pitchFamily="18" charset="0"/>
              </a:rPr>
              <a:t>  2   α² + </a:t>
            </a:r>
            <a:r>
              <a:rPr lang="en-IN" sz="3200" b="0" i="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′α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0   — (Equation 2)</a:t>
            </a:r>
          </a:p>
          <a:p>
            <a:pPr algn="l">
              <a:spcAft>
                <a:spcPts val="1500"/>
              </a:spcAft>
              <a:buNone/>
            </a:pPr>
            <a:endParaRPr lang="en-IN" sz="3200" b="0" i="0">
              <a:solidFill>
                <a:srgbClr val="000000"/>
              </a:solidFill>
              <a:effectLst/>
              <a:latin typeface="Times New Roman" panose="02020603050405020304" pitchFamily="18" charset="0"/>
            </a:endParaRPr>
          </a:p>
          <a:p>
            <a:pPr algn="l">
              <a:spcAft>
                <a:spcPts val="450"/>
              </a:spcAft>
              <a:buNone/>
            </a:pPr>
            <a:r>
              <a:rPr lang="en-IN" sz="3200" b="1" i="0">
                <a:solidFill>
                  <a:srgbClr val="000000"/>
                </a:solidFill>
                <a:effectLst/>
                <a:latin typeface="Times New Roman" panose="02020603050405020304" pitchFamily="18" charset="0"/>
              </a:rPr>
              <a:t>Step 2: Derive the first expression for α</a:t>
            </a:r>
          </a:p>
          <a:p>
            <a:pPr algn="l">
              <a:spcAft>
                <a:spcPts val="1200"/>
              </a:spcAft>
              <a:buNone/>
            </a:pPr>
            <a:r>
              <a:rPr lang="en-IN" sz="3200" b="0" i="0">
                <a:solidFill>
                  <a:srgbClr val="000000"/>
                </a:solidFill>
                <a:effectLst/>
                <a:latin typeface="Times New Roman" panose="02020603050405020304" pitchFamily="18" charset="0"/>
              </a:rPr>
              <a:t>Subtract Equation 2 from Equation 1 to eliminate the α² term:</a:t>
            </a:r>
          </a:p>
          <a:p>
            <a:pPr algn="ctr">
              <a:spcAft>
                <a:spcPts val="1350"/>
              </a:spcAft>
              <a:buNone/>
            </a:pPr>
            <a:r>
              <a:rPr lang="en-IN" sz="3200" b="0" i="0">
                <a:solidFill>
                  <a:srgbClr val="000000"/>
                </a:solidFill>
                <a:effectLst/>
                <a:latin typeface="Times New Roman" panose="02020603050405020304" pitchFamily="18" charset="0"/>
              </a:rPr>
              <a:t>(α² − α²) + (</a:t>
            </a:r>
            <a:r>
              <a:rPr lang="en-IN" sz="3200" b="0" i="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α − </a:t>
            </a:r>
            <a:r>
              <a:rPr lang="en-IN" sz="3200" b="0" i="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′α)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0</a:t>
            </a:r>
          </a:p>
          <a:p>
            <a:pPr algn="ctr">
              <a:spcAft>
                <a:spcPts val="1350"/>
              </a:spcAft>
              <a:buNone/>
            </a:pPr>
            <a:r>
              <a:rPr lang="en-IN" sz="3200" b="0" i="0">
                <a:solidFill>
                  <a:srgbClr val="000000"/>
                </a:solidFill>
                <a:effectLst/>
                <a:latin typeface="Times New Roman" panose="02020603050405020304" pitchFamily="18" charset="0"/>
              </a:rPr>
              <a:t>α(</a:t>
            </a:r>
            <a:r>
              <a:rPr lang="en-IN" sz="3200" b="0" i="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0</a:t>
            </a:r>
          </a:p>
          <a:p>
            <a:pPr algn="ctr">
              <a:spcAft>
                <a:spcPts val="1350"/>
              </a:spcAft>
              <a:buNone/>
            </a:pPr>
            <a:r>
              <a:rPr lang="en-IN" sz="3200" b="0" i="0">
                <a:solidFill>
                  <a:srgbClr val="000000"/>
                </a:solidFill>
                <a:effectLst/>
                <a:latin typeface="Times New Roman" panose="02020603050405020304" pitchFamily="18" charset="0"/>
              </a:rPr>
              <a:t>α(</a:t>
            </a:r>
            <a:r>
              <a:rPr lang="en-IN" sz="3200" b="0" i="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a:t>
            </a:r>
          </a:p>
          <a:p>
            <a:pPr algn="ctr">
              <a:spcAft>
                <a:spcPts val="1500"/>
              </a:spcAft>
              <a:buNone/>
            </a:pPr>
            <a:r>
              <a:rPr lang="en-IN" sz="3200" b="0" i="0">
                <a:solidFill>
                  <a:srgbClr val="000000"/>
                </a:solidFill>
                <a:effectLst/>
                <a:latin typeface="Times New Roman" panose="02020603050405020304" pitchFamily="18" charset="0"/>
              </a:rPr>
              <a:t>α(</a:t>
            </a:r>
            <a:r>
              <a:rPr lang="en-IN" sz="3200" b="0" i="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q</a:t>
            </a:r>
            <a:endParaRPr lang="en-IN" sz="3200" b="0" i="0">
              <a:solidFill>
                <a:srgbClr val="000000"/>
              </a:solidFill>
              <a:effectLst/>
              <a:latin typeface="Times New Roman" panose="02020603050405020304" pitchFamily="18" charset="0"/>
            </a:endParaRPr>
          </a:p>
        </p:txBody>
      </p:sp>
    </p:spTree>
    <p:extLst>
      <p:ext uri="{BB962C8B-B14F-4D97-AF65-F5344CB8AC3E}">
        <p14:creationId xmlns:p14="http://schemas.microsoft.com/office/powerpoint/2010/main" val="632738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25029A17-C236-0B64-1D5C-79E2000FE61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56CC23A-B877-36B8-E4E8-16EC8CD6061E}"/>
              </a:ext>
            </a:extLst>
          </p:cNvPr>
          <p:cNvSpPr txBox="1"/>
          <p:nvPr/>
        </p:nvSpPr>
        <p:spPr>
          <a:xfrm>
            <a:off x="838200" y="342900"/>
            <a:ext cx="17449800" cy="2562240"/>
          </a:xfrm>
          <a:prstGeom prst="rect">
            <a:avLst/>
          </a:prstGeom>
          <a:noFill/>
        </p:spPr>
        <p:txBody>
          <a:bodyPr wrap="square">
            <a:spAutoFit/>
          </a:bodyPr>
          <a:lstStyle/>
          <a:p>
            <a:pPr algn="l">
              <a:spcAft>
                <a:spcPts val="1200"/>
              </a:spcAft>
              <a:buNone/>
            </a:pPr>
            <a:r>
              <a:rPr lang="en-IN" sz="3200" b="0" i="0">
                <a:solidFill>
                  <a:srgbClr val="000000"/>
                </a:solidFill>
                <a:effectLst/>
                <a:latin typeface="Times New Roman" panose="02020603050405020304" pitchFamily="18" charset="0"/>
              </a:rPr>
              <a:t>Divide by (</a:t>
            </a:r>
            <a:r>
              <a:rPr lang="en-IN" sz="3200" b="0" i="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 to solve for α:</a:t>
            </a:r>
          </a:p>
          <a:p>
            <a:pPr algn="ctr">
              <a:spcAft>
                <a:spcPts val="1500"/>
              </a:spcAft>
              <a:buNone/>
            </a:pPr>
            <a:r>
              <a:rPr lang="en-IN" sz="3200" b="0" i="0">
                <a:solidFill>
                  <a:srgbClr val="000000"/>
                </a:solidFill>
                <a:effectLst/>
                <a:latin typeface="Times New Roman" panose="02020603050405020304" pitchFamily="18" charset="0"/>
              </a:rPr>
              <a:t>α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a:t>
            </a:r>
            <a:r>
              <a:rPr lang="en-IN" sz="3200" b="0" i="1" err="1">
                <a:solidFill>
                  <a:srgbClr val="000000"/>
                </a:solidFill>
                <a:effectLst/>
                <a:latin typeface="Times New Roman" panose="02020603050405020304" pitchFamily="18" charset="0"/>
              </a:rPr>
              <a:t>qp</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a:t>
            </a:r>
          </a:p>
          <a:p>
            <a:pPr algn="l">
              <a:spcAft>
                <a:spcPts val="1200"/>
              </a:spcAft>
              <a:buNone/>
            </a:pPr>
            <a:r>
              <a:rPr lang="en-IN" sz="3200" b="0" i="0">
                <a:solidFill>
                  <a:srgbClr val="000000"/>
                </a:solidFill>
                <a:effectLst/>
                <a:latin typeface="Times New Roman" panose="02020603050405020304" pitchFamily="18" charset="0"/>
              </a:rPr>
              <a:t>Multiply both the numerator and the denominator by −1 to match the required format:</a:t>
            </a:r>
          </a:p>
          <a:p>
            <a:pPr algn="ctr">
              <a:spcAft>
                <a:spcPts val="450"/>
              </a:spcAft>
              <a:buNone/>
            </a:pPr>
            <a:r>
              <a:rPr lang="en-IN" sz="3200" b="0" i="0">
                <a:solidFill>
                  <a:srgbClr val="000000"/>
                </a:solidFill>
                <a:effectLst/>
                <a:latin typeface="Times New Roman" panose="02020603050405020304" pitchFamily="18" charset="0"/>
              </a:rPr>
              <a:t>α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a:t>
            </a:r>
            <a:r>
              <a:rPr lang="en-IN" sz="3200" b="0" i="1" err="1">
                <a:solidFill>
                  <a:srgbClr val="000000"/>
                </a:solidFill>
                <a:effectLst/>
                <a:latin typeface="Times New Roman" panose="02020603050405020304" pitchFamily="18" charset="0"/>
              </a:rPr>
              <a:t>q</a:t>
            </a:r>
            <a:r>
              <a:rPr lang="en-IN" sz="3200" b="0" i="0" err="1">
                <a:solidFill>
                  <a:srgbClr val="000000"/>
                </a:solidFill>
                <a:effectLst/>
                <a:latin typeface="Times New Roman" panose="02020603050405020304" pitchFamily="18" charset="0"/>
              </a:rPr>
              <a:t>′</a:t>
            </a:r>
            <a:r>
              <a:rPr lang="en-IN" sz="3200" b="0" i="1" err="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  — (Proved First Part)</a:t>
            </a:r>
          </a:p>
        </p:txBody>
      </p:sp>
      <p:sp>
        <p:nvSpPr>
          <p:cNvPr id="5" name="TextBox 4">
            <a:extLst>
              <a:ext uri="{FF2B5EF4-FFF2-40B4-BE49-F238E27FC236}">
                <a16:creationId xmlns:a16="http://schemas.microsoft.com/office/drawing/2014/main" id="{4D778D9D-58BE-2931-E95C-50B2540A776B}"/>
              </a:ext>
            </a:extLst>
          </p:cNvPr>
          <p:cNvSpPr txBox="1"/>
          <p:nvPr/>
        </p:nvSpPr>
        <p:spPr>
          <a:xfrm>
            <a:off x="762000" y="3086100"/>
            <a:ext cx="17449800" cy="7537961"/>
          </a:xfrm>
          <a:prstGeom prst="rect">
            <a:avLst/>
          </a:prstGeom>
          <a:noFill/>
        </p:spPr>
        <p:txBody>
          <a:bodyPr wrap="square">
            <a:spAutoFit/>
          </a:bodyPr>
          <a:lstStyle/>
          <a:p>
            <a:pPr algn="l">
              <a:spcAft>
                <a:spcPts val="450"/>
              </a:spcAft>
              <a:buNone/>
            </a:pPr>
            <a:r>
              <a:rPr lang="en-IN" sz="3200" b="1" i="0">
                <a:solidFill>
                  <a:srgbClr val="000000"/>
                </a:solidFill>
                <a:effectLst/>
                <a:latin typeface="Times New Roman" panose="02020603050405020304" pitchFamily="18" charset="0"/>
              </a:rPr>
              <a:t>Step 3: Derive the second expression for α</a:t>
            </a:r>
          </a:p>
          <a:p>
            <a:pPr algn="l">
              <a:spcAft>
                <a:spcPts val="750"/>
              </a:spcAft>
              <a:buNone/>
            </a:pPr>
            <a:r>
              <a:rPr lang="en-IN" sz="3200" b="0" i="0">
                <a:solidFill>
                  <a:srgbClr val="000000"/>
                </a:solidFill>
                <a:effectLst/>
                <a:latin typeface="Times New Roman" panose="02020603050405020304" pitchFamily="18" charset="0"/>
              </a:rPr>
              <a:t>To eliminate the constant terms, multiply Equation 1 by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and Equation 2 by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a:t>
            </a:r>
          </a:p>
          <a:p>
            <a:pPr algn="l">
              <a:spcAft>
                <a:spcPts val="300"/>
              </a:spcAft>
              <a:buNone/>
            </a:pP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′(α² + </a:t>
            </a:r>
            <a:r>
              <a:rPr lang="en-IN" sz="3200" b="0" i="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α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0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′α² + </a:t>
            </a:r>
            <a:r>
              <a:rPr lang="en-IN" sz="3200" b="0" i="1" err="1">
                <a:solidFill>
                  <a:srgbClr val="000000"/>
                </a:solidFill>
                <a:effectLst/>
                <a:latin typeface="Times New Roman" panose="02020603050405020304" pitchFamily="18" charset="0"/>
              </a:rPr>
              <a:t>pq</a:t>
            </a:r>
            <a:r>
              <a:rPr lang="en-IN" sz="3200" b="0" i="0">
                <a:solidFill>
                  <a:srgbClr val="000000"/>
                </a:solidFill>
                <a:effectLst/>
                <a:latin typeface="Times New Roman" panose="02020603050405020304" pitchFamily="18" charset="0"/>
              </a:rPr>
              <a:t>′α + </a:t>
            </a:r>
            <a:r>
              <a:rPr lang="en-IN" sz="3200" b="0" i="1" err="1">
                <a:solidFill>
                  <a:srgbClr val="000000"/>
                </a:solidFill>
                <a:effectLst/>
                <a:latin typeface="Times New Roman" panose="02020603050405020304" pitchFamily="18" charset="0"/>
              </a:rPr>
              <a:t>qq</a:t>
            </a:r>
            <a:r>
              <a:rPr lang="en-IN" sz="3200" b="0" i="0">
                <a:solidFill>
                  <a:srgbClr val="000000"/>
                </a:solidFill>
                <a:effectLst/>
                <a:latin typeface="Times New Roman" panose="02020603050405020304" pitchFamily="18" charset="0"/>
              </a:rPr>
              <a:t>′ = 0   — (Equation 3)</a:t>
            </a:r>
          </a:p>
          <a:p>
            <a:pPr algn="l">
              <a:spcAft>
                <a:spcPts val="1200"/>
              </a:spcAft>
              <a:buNone/>
            </a:pP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(α² + </a:t>
            </a:r>
            <a:r>
              <a:rPr lang="en-IN" sz="3200" b="0" i="1">
                <a:solidFill>
                  <a:srgbClr val="000000"/>
                </a:solidFill>
                <a:effectLst/>
                <a:latin typeface="Times New Roman" panose="02020603050405020304" pitchFamily="18" charset="0"/>
              </a:rPr>
              <a:t>p</a:t>
            </a:r>
            <a:r>
              <a:rPr lang="en-IN" sz="3200" b="0" i="0">
                <a:solidFill>
                  <a:srgbClr val="000000"/>
                </a:solidFill>
                <a:effectLst/>
                <a:latin typeface="Times New Roman" panose="02020603050405020304" pitchFamily="18" charset="0"/>
              </a:rPr>
              <a:t>′α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0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α² + </a:t>
            </a:r>
            <a:r>
              <a:rPr lang="en-IN" sz="3200" b="0" i="1" err="1">
                <a:solidFill>
                  <a:srgbClr val="000000"/>
                </a:solidFill>
                <a:effectLst/>
                <a:latin typeface="Times New Roman" panose="02020603050405020304" pitchFamily="18" charset="0"/>
              </a:rPr>
              <a:t>p</a:t>
            </a:r>
            <a:r>
              <a:rPr lang="en-IN" sz="3200" b="0" i="0" err="1">
                <a:solidFill>
                  <a:srgbClr val="000000"/>
                </a:solidFill>
                <a:effectLst/>
                <a:latin typeface="Times New Roman" panose="02020603050405020304" pitchFamily="18" charset="0"/>
              </a:rPr>
              <a:t>′</a:t>
            </a:r>
            <a:r>
              <a:rPr lang="en-IN" sz="3200" b="0" i="1" err="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α + </a:t>
            </a:r>
            <a:r>
              <a:rPr lang="en-IN" sz="3200" b="0" i="1">
                <a:solidFill>
                  <a:srgbClr val="000000"/>
                </a:solidFill>
                <a:effectLst/>
                <a:latin typeface="Times New Roman" panose="02020603050405020304" pitchFamily="18" charset="0"/>
              </a:rPr>
              <a:t>qq</a:t>
            </a:r>
            <a:r>
              <a:rPr lang="en-IN" sz="3200" b="0" i="0">
                <a:solidFill>
                  <a:srgbClr val="000000"/>
                </a:solidFill>
                <a:effectLst/>
                <a:latin typeface="Times New Roman" panose="02020603050405020304" pitchFamily="18" charset="0"/>
              </a:rPr>
              <a:t>′ = 0   — (Equation 4)</a:t>
            </a:r>
          </a:p>
          <a:p>
            <a:pPr algn="l">
              <a:spcAft>
                <a:spcPts val="1200"/>
              </a:spcAft>
              <a:buNone/>
            </a:pPr>
            <a:r>
              <a:rPr lang="en-IN" sz="3200" b="0" i="0">
                <a:solidFill>
                  <a:srgbClr val="000000"/>
                </a:solidFill>
                <a:effectLst/>
                <a:latin typeface="Times New Roman" panose="02020603050405020304" pitchFamily="18" charset="0"/>
              </a:rPr>
              <a:t>Subtract Equation 4 from Equation 3:</a:t>
            </a:r>
          </a:p>
          <a:p>
            <a:pPr algn="ctr">
              <a:spcAft>
                <a:spcPts val="1200"/>
              </a:spcAft>
              <a:buNone/>
            </a:pPr>
            <a:r>
              <a:rPr lang="en-IN" sz="3200" b="0" i="0">
                <a:solidFill>
                  <a:srgbClr val="000000"/>
                </a:solidFill>
                <a:effectLst/>
                <a:latin typeface="Times New Roman" panose="02020603050405020304" pitchFamily="18" charset="0"/>
              </a:rPr>
              <a:t>(</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′α²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α²) + (</a:t>
            </a:r>
            <a:r>
              <a:rPr lang="en-IN" sz="3200" b="0" i="1" err="1">
                <a:solidFill>
                  <a:srgbClr val="000000"/>
                </a:solidFill>
                <a:effectLst/>
                <a:latin typeface="Times New Roman" panose="02020603050405020304" pitchFamily="18" charset="0"/>
              </a:rPr>
              <a:t>pq</a:t>
            </a:r>
            <a:r>
              <a:rPr lang="en-IN" sz="3200" b="0" i="0">
                <a:solidFill>
                  <a:srgbClr val="000000"/>
                </a:solidFill>
                <a:effectLst/>
                <a:latin typeface="Times New Roman" panose="02020603050405020304" pitchFamily="18" charset="0"/>
              </a:rPr>
              <a:t>′α − </a:t>
            </a:r>
            <a:r>
              <a:rPr lang="en-IN" sz="3200" b="0" i="1" err="1">
                <a:solidFill>
                  <a:srgbClr val="000000"/>
                </a:solidFill>
                <a:effectLst/>
                <a:latin typeface="Times New Roman" panose="02020603050405020304" pitchFamily="18" charset="0"/>
              </a:rPr>
              <a:t>p</a:t>
            </a:r>
            <a:r>
              <a:rPr lang="en-IN" sz="3200" b="0" i="0" err="1">
                <a:solidFill>
                  <a:srgbClr val="000000"/>
                </a:solidFill>
                <a:effectLst/>
                <a:latin typeface="Times New Roman" panose="02020603050405020304" pitchFamily="18" charset="0"/>
              </a:rPr>
              <a:t>′</a:t>
            </a:r>
            <a:r>
              <a:rPr lang="en-IN" sz="3200" b="0" i="1" err="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α) + (</a:t>
            </a:r>
            <a:r>
              <a:rPr lang="en-IN" sz="3200" b="0" i="1">
                <a:solidFill>
                  <a:srgbClr val="000000"/>
                </a:solidFill>
                <a:effectLst/>
                <a:latin typeface="Times New Roman" panose="02020603050405020304" pitchFamily="18" charset="0"/>
              </a:rPr>
              <a:t>qq</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qq</a:t>
            </a:r>
            <a:r>
              <a:rPr lang="en-IN" sz="3200" b="0" i="0">
                <a:solidFill>
                  <a:srgbClr val="000000"/>
                </a:solidFill>
                <a:effectLst/>
                <a:latin typeface="Times New Roman" panose="02020603050405020304" pitchFamily="18" charset="0"/>
              </a:rPr>
              <a:t>′) = 0</a:t>
            </a:r>
          </a:p>
          <a:p>
            <a:pPr algn="ctr">
              <a:spcAft>
                <a:spcPts val="1200"/>
              </a:spcAft>
              <a:buNone/>
            </a:pPr>
            <a:r>
              <a:rPr lang="en-IN" sz="3200" b="0" i="0">
                <a:solidFill>
                  <a:srgbClr val="000000"/>
                </a:solidFill>
                <a:effectLst/>
                <a:latin typeface="Times New Roman" panose="02020603050405020304" pitchFamily="18" charset="0"/>
              </a:rPr>
              <a:t>α²(</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α(</a:t>
            </a:r>
            <a:r>
              <a:rPr lang="en-IN" sz="3200" b="0" i="1" err="1">
                <a:solidFill>
                  <a:srgbClr val="000000"/>
                </a:solidFill>
                <a:effectLst/>
                <a:latin typeface="Times New Roman" panose="02020603050405020304" pitchFamily="18" charset="0"/>
              </a:rPr>
              <a:t>pq</a:t>
            </a:r>
            <a:r>
              <a:rPr lang="en-IN" sz="3200" b="0" i="0">
                <a:solidFill>
                  <a:srgbClr val="000000"/>
                </a:solidFill>
                <a:effectLst/>
                <a:latin typeface="Times New Roman" panose="02020603050405020304" pitchFamily="18" charset="0"/>
              </a:rPr>
              <a:t>′ − </a:t>
            </a:r>
            <a:r>
              <a:rPr lang="en-IN" sz="3200" b="0" i="1" err="1">
                <a:solidFill>
                  <a:srgbClr val="000000"/>
                </a:solidFill>
                <a:effectLst/>
                <a:latin typeface="Times New Roman" panose="02020603050405020304" pitchFamily="18" charset="0"/>
              </a:rPr>
              <a:t>p</a:t>
            </a:r>
            <a:r>
              <a:rPr lang="en-IN" sz="3200" b="0" i="0" err="1">
                <a:solidFill>
                  <a:srgbClr val="000000"/>
                </a:solidFill>
                <a:effectLst/>
                <a:latin typeface="Times New Roman" panose="02020603050405020304" pitchFamily="18" charset="0"/>
              </a:rPr>
              <a:t>′</a:t>
            </a:r>
            <a:r>
              <a:rPr lang="en-IN" sz="3200" b="0" i="1" err="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0</a:t>
            </a:r>
          </a:p>
          <a:p>
            <a:pPr algn="l">
              <a:spcAft>
                <a:spcPts val="1200"/>
              </a:spcAft>
              <a:buNone/>
            </a:pPr>
            <a:r>
              <a:rPr lang="en-IN" sz="3200" b="0" i="0">
                <a:solidFill>
                  <a:srgbClr val="000000"/>
                </a:solidFill>
                <a:effectLst/>
                <a:latin typeface="Times New Roman" panose="02020603050405020304" pitchFamily="18" charset="0"/>
              </a:rPr>
              <a:t>Since α is a common root (α ≠ 0), divide the entire equation by α:</a:t>
            </a:r>
          </a:p>
          <a:p>
            <a:pPr algn="ctr">
              <a:spcAft>
                <a:spcPts val="1200"/>
              </a:spcAft>
              <a:buNone/>
            </a:pPr>
            <a:r>
              <a:rPr lang="en-IN" sz="3200" b="0" i="0">
                <a:solidFill>
                  <a:srgbClr val="000000"/>
                </a:solidFill>
                <a:effectLst/>
                <a:latin typeface="Times New Roman" panose="02020603050405020304" pitchFamily="18" charset="0"/>
              </a:rPr>
              <a:t>α(</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a:t>
            </a:r>
            <a:r>
              <a:rPr lang="en-IN" sz="3200" b="0" i="1" err="1">
                <a:solidFill>
                  <a:srgbClr val="000000"/>
                </a:solidFill>
                <a:effectLst/>
                <a:latin typeface="Times New Roman" panose="02020603050405020304" pitchFamily="18" charset="0"/>
              </a:rPr>
              <a:t>pq</a:t>
            </a:r>
            <a:r>
              <a:rPr lang="en-IN" sz="3200" b="0" i="0">
                <a:solidFill>
                  <a:srgbClr val="000000"/>
                </a:solidFill>
                <a:effectLst/>
                <a:latin typeface="Times New Roman" panose="02020603050405020304" pitchFamily="18" charset="0"/>
              </a:rPr>
              <a:t>′ − </a:t>
            </a:r>
            <a:r>
              <a:rPr lang="en-IN" sz="3200" b="0" i="1" err="1">
                <a:solidFill>
                  <a:srgbClr val="000000"/>
                </a:solidFill>
                <a:effectLst/>
                <a:latin typeface="Times New Roman" panose="02020603050405020304" pitchFamily="18" charset="0"/>
              </a:rPr>
              <a:t>p</a:t>
            </a:r>
            <a:r>
              <a:rPr lang="en-IN" sz="3200" b="0" i="0" err="1">
                <a:solidFill>
                  <a:srgbClr val="000000"/>
                </a:solidFill>
                <a:effectLst/>
                <a:latin typeface="Times New Roman" panose="02020603050405020304" pitchFamily="18" charset="0"/>
              </a:rPr>
              <a:t>′</a:t>
            </a:r>
            <a:r>
              <a:rPr lang="en-IN" sz="3200" b="0" i="1" err="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0</a:t>
            </a:r>
          </a:p>
          <a:p>
            <a:pPr algn="ctr">
              <a:spcAft>
                <a:spcPts val="1200"/>
              </a:spcAft>
              <a:buNone/>
            </a:pPr>
            <a:r>
              <a:rPr lang="en-IN" sz="3200" b="0" i="0">
                <a:solidFill>
                  <a:srgbClr val="000000"/>
                </a:solidFill>
                <a:effectLst/>
                <a:latin typeface="Times New Roman" panose="02020603050405020304" pitchFamily="18" charset="0"/>
              </a:rPr>
              <a:t>α(</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a:t>
            </a:r>
            <a:r>
              <a:rPr lang="en-IN" sz="3200" b="0" i="1" err="1">
                <a:solidFill>
                  <a:srgbClr val="000000"/>
                </a:solidFill>
                <a:effectLst/>
                <a:latin typeface="Times New Roman" panose="02020603050405020304" pitchFamily="18" charset="0"/>
              </a:rPr>
              <a:t>pq</a:t>
            </a:r>
            <a:r>
              <a:rPr lang="en-IN" sz="3200" b="0" i="0">
                <a:solidFill>
                  <a:srgbClr val="000000"/>
                </a:solidFill>
                <a:effectLst/>
                <a:latin typeface="Times New Roman" panose="02020603050405020304" pitchFamily="18" charset="0"/>
              </a:rPr>
              <a:t>′ − </a:t>
            </a:r>
            <a:r>
              <a:rPr lang="en-IN" sz="3200" b="0" i="1" err="1">
                <a:solidFill>
                  <a:srgbClr val="000000"/>
                </a:solidFill>
                <a:effectLst/>
                <a:latin typeface="Times New Roman" panose="02020603050405020304" pitchFamily="18" charset="0"/>
              </a:rPr>
              <a:t>p</a:t>
            </a:r>
            <a:r>
              <a:rPr lang="en-IN" sz="3200" b="0" i="0" err="1">
                <a:solidFill>
                  <a:srgbClr val="000000"/>
                </a:solidFill>
                <a:effectLst/>
                <a:latin typeface="Times New Roman" panose="02020603050405020304" pitchFamily="18" charset="0"/>
              </a:rPr>
              <a:t>′</a:t>
            </a:r>
            <a:r>
              <a:rPr lang="en-IN" sz="3200" b="0" i="1" err="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a:t>
            </a:r>
          </a:p>
          <a:p>
            <a:pPr algn="ctr">
              <a:spcAft>
                <a:spcPts val="1500"/>
              </a:spcAft>
              <a:buNone/>
            </a:pPr>
            <a:r>
              <a:rPr lang="en-IN" sz="3200" b="0" i="0">
                <a:solidFill>
                  <a:srgbClr val="000000"/>
                </a:solidFill>
                <a:effectLst/>
                <a:latin typeface="Times New Roman" panose="02020603050405020304" pitchFamily="18" charset="0"/>
              </a:rPr>
              <a:t>α(</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a:t>
            </a:r>
            <a:r>
              <a:rPr lang="en-IN" sz="3200" b="0" i="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a:t>
            </a:r>
            <a:r>
              <a:rPr lang="en-IN" sz="3200" b="0" i="1" err="1">
                <a:solidFill>
                  <a:srgbClr val="000000"/>
                </a:solidFill>
                <a:effectLst/>
                <a:latin typeface="Times New Roman" panose="02020603050405020304" pitchFamily="18" charset="0"/>
              </a:rPr>
              <a:t>p</a:t>
            </a:r>
            <a:r>
              <a:rPr lang="en-IN" sz="3200" b="0" i="0" err="1">
                <a:solidFill>
                  <a:srgbClr val="000000"/>
                </a:solidFill>
                <a:effectLst/>
                <a:latin typeface="Times New Roman" panose="02020603050405020304" pitchFamily="18" charset="0"/>
              </a:rPr>
              <a:t>′</a:t>
            </a:r>
            <a:r>
              <a:rPr lang="en-IN" sz="3200" b="0" i="1" err="1">
                <a:solidFill>
                  <a:srgbClr val="000000"/>
                </a:solidFill>
                <a:effectLst/>
                <a:latin typeface="Times New Roman" panose="02020603050405020304" pitchFamily="18" charset="0"/>
              </a:rPr>
              <a:t>q</a:t>
            </a:r>
            <a:r>
              <a:rPr lang="en-IN" sz="3200" b="0" i="0">
                <a:solidFill>
                  <a:srgbClr val="000000"/>
                </a:solidFill>
                <a:effectLst/>
                <a:latin typeface="Times New Roman" panose="02020603050405020304" pitchFamily="18" charset="0"/>
              </a:rPr>
              <a:t> − </a:t>
            </a:r>
            <a:r>
              <a:rPr lang="en-IN" sz="3200" b="0" i="1" err="1">
                <a:solidFill>
                  <a:srgbClr val="000000"/>
                </a:solidFill>
                <a:effectLst/>
                <a:latin typeface="Times New Roman" panose="02020603050405020304" pitchFamily="18" charset="0"/>
              </a:rPr>
              <a:t>pq</a:t>
            </a:r>
            <a:r>
              <a:rPr lang="en-IN" sz="3200" b="0" i="0">
                <a:solidFill>
                  <a:srgbClr val="000000"/>
                </a:solidFill>
                <a:effectLst/>
                <a:latin typeface="Times New Roman" panose="02020603050405020304" pitchFamily="18" charset="0"/>
              </a:rPr>
              <a:t>′</a:t>
            </a:r>
          </a:p>
          <a:p>
            <a:pPr>
              <a:buNone/>
            </a:pPr>
            <a:br>
              <a:rPr lang="en-IN"/>
            </a:br>
            <a:endParaRPr lang="en-IN"/>
          </a:p>
        </p:txBody>
      </p:sp>
    </p:spTree>
    <p:extLst>
      <p:ext uri="{BB962C8B-B14F-4D97-AF65-F5344CB8AC3E}">
        <p14:creationId xmlns:p14="http://schemas.microsoft.com/office/powerpoint/2010/main" val="26076100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146BEADD-C00B-E506-0676-5F1A3BD8460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C55B2AD-F23A-19FF-82C6-4EECBA766886}"/>
              </a:ext>
            </a:extLst>
          </p:cNvPr>
          <p:cNvSpPr txBox="1"/>
          <p:nvPr/>
        </p:nvSpPr>
        <p:spPr>
          <a:xfrm>
            <a:off x="609600" y="800100"/>
            <a:ext cx="17068800" cy="6804427"/>
          </a:xfrm>
          <a:prstGeom prst="rect">
            <a:avLst/>
          </a:prstGeom>
          <a:noFill/>
        </p:spPr>
        <p:txBody>
          <a:bodyPr wrap="square">
            <a:spAutoFit/>
          </a:bodyPr>
          <a:lstStyle/>
          <a:p>
            <a:pPr algn="l">
              <a:spcAft>
                <a:spcPts val="1200"/>
              </a:spcAft>
              <a:buNone/>
            </a:pPr>
            <a:r>
              <a:rPr lang="en-IN" sz="3200" b="0" i="0">
                <a:solidFill>
                  <a:srgbClr val="000000"/>
                </a:solidFill>
                <a:effectLst/>
                <a:latin typeface="Times New Roman" panose="02020603050405020304" pitchFamily="18" charset="0"/>
                <a:cs typeface="Times New Roman" panose="02020603050405020304" pitchFamily="18" charset="0"/>
              </a:rPr>
              <a:t>Divide by (</a:t>
            </a:r>
            <a:r>
              <a:rPr lang="en-IN" sz="3200" b="0" i="1">
                <a:solidFill>
                  <a:srgbClr val="000000"/>
                </a:solidFill>
                <a:effectLst/>
                <a:latin typeface="Times New Roman" panose="02020603050405020304" pitchFamily="18" charset="0"/>
                <a:cs typeface="Times New Roman" panose="02020603050405020304" pitchFamily="18" charset="0"/>
              </a:rPr>
              <a:t>q</a:t>
            </a:r>
            <a:r>
              <a:rPr lang="en-IN" sz="3200" b="0" i="0">
                <a:solidFill>
                  <a:srgbClr val="000000"/>
                </a:solidFill>
                <a:effectLst/>
                <a:latin typeface="Times New Roman" panose="02020603050405020304" pitchFamily="18" charset="0"/>
                <a:cs typeface="Times New Roman" panose="02020603050405020304" pitchFamily="18" charset="0"/>
              </a:rPr>
              <a:t>′ − </a:t>
            </a:r>
            <a:r>
              <a:rPr lang="en-IN" sz="3200" b="0" i="1">
                <a:solidFill>
                  <a:srgbClr val="000000"/>
                </a:solidFill>
                <a:effectLst/>
                <a:latin typeface="Times New Roman" panose="02020603050405020304" pitchFamily="18" charset="0"/>
                <a:cs typeface="Times New Roman" panose="02020603050405020304" pitchFamily="18" charset="0"/>
              </a:rPr>
              <a:t>q</a:t>
            </a:r>
            <a:r>
              <a:rPr lang="en-IN" sz="3200" b="0" i="0">
                <a:solidFill>
                  <a:srgbClr val="000000"/>
                </a:solidFill>
                <a:effectLst/>
                <a:latin typeface="Times New Roman" panose="02020603050405020304" pitchFamily="18" charset="0"/>
                <a:cs typeface="Times New Roman" panose="02020603050405020304" pitchFamily="18" charset="0"/>
              </a:rPr>
              <a:t>) to solve for α:</a:t>
            </a:r>
          </a:p>
          <a:p>
            <a:pPr algn="ctr">
              <a:spcAft>
                <a:spcPts val="1500"/>
              </a:spcAft>
              <a:buNone/>
            </a:pPr>
            <a:r>
              <a:rPr lang="en-IN" sz="3200" b="0" i="0">
                <a:solidFill>
                  <a:srgbClr val="000000"/>
                </a:solidFill>
                <a:effectLst/>
                <a:latin typeface="Times New Roman" panose="02020603050405020304" pitchFamily="18" charset="0"/>
                <a:cs typeface="Times New Roman" panose="02020603050405020304" pitchFamily="18" charset="0"/>
              </a:rPr>
              <a:t>α = </a:t>
            </a:r>
            <a:r>
              <a:rPr lang="en-IN" sz="3200" b="0" i="1" err="1">
                <a:solidFill>
                  <a:srgbClr val="000000"/>
                </a:solidFill>
                <a:effectLst/>
                <a:latin typeface="Times New Roman" panose="02020603050405020304" pitchFamily="18" charset="0"/>
                <a:cs typeface="Times New Roman" panose="02020603050405020304" pitchFamily="18" charset="0"/>
              </a:rPr>
              <a:t>p</a:t>
            </a:r>
            <a:r>
              <a:rPr lang="en-IN" sz="3200" b="0" i="0" err="1">
                <a:solidFill>
                  <a:srgbClr val="000000"/>
                </a:solidFill>
                <a:effectLst/>
                <a:latin typeface="Times New Roman" panose="02020603050405020304" pitchFamily="18" charset="0"/>
                <a:cs typeface="Times New Roman" panose="02020603050405020304" pitchFamily="18" charset="0"/>
              </a:rPr>
              <a:t>′</a:t>
            </a:r>
            <a:r>
              <a:rPr lang="en-IN" sz="3200" b="0" i="1" err="1">
                <a:solidFill>
                  <a:srgbClr val="000000"/>
                </a:solidFill>
                <a:effectLst/>
                <a:latin typeface="Times New Roman" panose="02020603050405020304" pitchFamily="18" charset="0"/>
                <a:cs typeface="Times New Roman" panose="02020603050405020304" pitchFamily="18" charset="0"/>
              </a:rPr>
              <a:t>q</a:t>
            </a:r>
            <a:r>
              <a:rPr lang="en-IN" sz="3200" b="0" i="0">
                <a:solidFill>
                  <a:srgbClr val="000000"/>
                </a:solidFill>
                <a:effectLst/>
                <a:latin typeface="Times New Roman" panose="02020603050405020304" pitchFamily="18" charset="0"/>
                <a:cs typeface="Times New Roman" panose="02020603050405020304" pitchFamily="18" charset="0"/>
              </a:rPr>
              <a:t> − </a:t>
            </a:r>
            <a:r>
              <a:rPr lang="en-IN" sz="3200" b="0" i="1" err="1">
                <a:solidFill>
                  <a:srgbClr val="000000"/>
                </a:solidFill>
                <a:effectLst/>
                <a:latin typeface="Times New Roman" panose="02020603050405020304" pitchFamily="18" charset="0"/>
                <a:cs typeface="Times New Roman" panose="02020603050405020304" pitchFamily="18" charset="0"/>
              </a:rPr>
              <a:t>pq</a:t>
            </a:r>
            <a:r>
              <a:rPr lang="en-IN" sz="3200" b="0" i="0" err="1">
                <a:solidFill>
                  <a:srgbClr val="000000"/>
                </a:solidFill>
                <a:effectLst/>
                <a:latin typeface="Times New Roman" panose="02020603050405020304" pitchFamily="18" charset="0"/>
                <a:cs typeface="Times New Roman" panose="02020603050405020304" pitchFamily="18" charset="0"/>
              </a:rPr>
              <a:t>′</a:t>
            </a:r>
            <a:r>
              <a:rPr lang="en-IN" sz="3200" b="0" i="1" err="1">
                <a:solidFill>
                  <a:srgbClr val="000000"/>
                </a:solidFill>
                <a:effectLst/>
                <a:latin typeface="Times New Roman" panose="02020603050405020304" pitchFamily="18" charset="0"/>
                <a:cs typeface="Times New Roman" panose="02020603050405020304" pitchFamily="18" charset="0"/>
              </a:rPr>
              <a:t>q</a:t>
            </a:r>
            <a:r>
              <a:rPr lang="en-IN" sz="3200" b="0" i="0">
                <a:solidFill>
                  <a:srgbClr val="000000"/>
                </a:solidFill>
                <a:effectLst/>
                <a:latin typeface="Times New Roman" panose="02020603050405020304" pitchFamily="18" charset="0"/>
                <a:cs typeface="Times New Roman" panose="02020603050405020304" pitchFamily="18" charset="0"/>
              </a:rPr>
              <a:t>′ − </a:t>
            </a:r>
            <a:r>
              <a:rPr lang="en-IN" sz="3200" b="0" i="1">
                <a:solidFill>
                  <a:srgbClr val="000000"/>
                </a:solidFill>
                <a:effectLst/>
                <a:latin typeface="Times New Roman" panose="02020603050405020304" pitchFamily="18" charset="0"/>
                <a:cs typeface="Times New Roman" panose="02020603050405020304" pitchFamily="18" charset="0"/>
              </a:rPr>
              <a:t>q</a:t>
            </a:r>
            <a:endParaRPr lang="en-IN" sz="3200" b="0" i="0">
              <a:solidFill>
                <a:srgbClr val="000000"/>
              </a:solidFill>
              <a:effectLst/>
              <a:latin typeface="Times New Roman" panose="02020603050405020304" pitchFamily="18" charset="0"/>
              <a:cs typeface="Times New Roman" panose="02020603050405020304" pitchFamily="18" charset="0"/>
            </a:endParaRPr>
          </a:p>
          <a:p>
            <a:pPr algn="l">
              <a:spcAft>
                <a:spcPts val="1200"/>
              </a:spcAft>
              <a:buNone/>
            </a:pPr>
            <a:r>
              <a:rPr lang="en-IN" sz="3200" b="0" i="0">
                <a:solidFill>
                  <a:srgbClr val="000000"/>
                </a:solidFill>
                <a:effectLst/>
                <a:latin typeface="Times New Roman" panose="02020603050405020304" pitchFamily="18" charset="0"/>
                <a:cs typeface="Times New Roman" panose="02020603050405020304" pitchFamily="18" charset="0"/>
              </a:rPr>
              <a:t>Multiply both the numerator and the denominator by −1:</a:t>
            </a:r>
          </a:p>
          <a:p>
            <a:pPr algn="ctr">
              <a:spcAft>
                <a:spcPts val="450"/>
              </a:spcAft>
              <a:buNone/>
            </a:pPr>
            <a:r>
              <a:rPr lang="en-IN" sz="3200" b="0" i="0">
                <a:solidFill>
                  <a:srgbClr val="000000"/>
                </a:solidFill>
                <a:effectLst/>
                <a:latin typeface="Times New Roman" panose="02020603050405020304" pitchFamily="18" charset="0"/>
                <a:cs typeface="Times New Roman" panose="02020603050405020304" pitchFamily="18" charset="0"/>
              </a:rPr>
              <a:t>α = </a:t>
            </a:r>
            <a:r>
              <a:rPr lang="en-IN" sz="3200" b="0" i="1" err="1">
                <a:solidFill>
                  <a:srgbClr val="000000"/>
                </a:solidFill>
                <a:effectLst/>
                <a:latin typeface="Times New Roman" panose="02020603050405020304" pitchFamily="18" charset="0"/>
                <a:cs typeface="Times New Roman" panose="02020603050405020304" pitchFamily="18" charset="0"/>
              </a:rPr>
              <a:t>pq</a:t>
            </a:r>
            <a:r>
              <a:rPr lang="en-IN" sz="3200" b="0" i="0">
                <a:solidFill>
                  <a:srgbClr val="000000"/>
                </a:solidFill>
                <a:effectLst/>
                <a:latin typeface="Times New Roman" panose="02020603050405020304" pitchFamily="18" charset="0"/>
                <a:cs typeface="Times New Roman" panose="02020603050405020304" pitchFamily="18" charset="0"/>
              </a:rPr>
              <a:t>′ − </a:t>
            </a:r>
            <a:r>
              <a:rPr lang="en-IN" sz="3200" b="0" i="1" err="1">
                <a:solidFill>
                  <a:srgbClr val="000000"/>
                </a:solidFill>
                <a:effectLst/>
                <a:latin typeface="Times New Roman" panose="02020603050405020304" pitchFamily="18" charset="0"/>
                <a:cs typeface="Times New Roman" panose="02020603050405020304" pitchFamily="18" charset="0"/>
              </a:rPr>
              <a:t>p</a:t>
            </a:r>
            <a:r>
              <a:rPr lang="en-IN" sz="3200" b="0" i="0" err="1">
                <a:solidFill>
                  <a:srgbClr val="000000"/>
                </a:solidFill>
                <a:effectLst/>
                <a:latin typeface="Times New Roman" panose="02020603050405020304" pitchFamily="18" charset="0"/>
                <a:cs typeface="Times New Roman" panose="02020603050405020304" pitchFamily="18" charset="0"/>
              </a:rPr>
              <a:t>′</a:t>
            </a:r>
            <a:r>
              <a:rPr lang="en-IN" sz="3200" b="0" i="1" err="1">
                <a:solidFill>
                  <a:srgbClr val="000000"/>
                </a:solidFill>
                <a:effectLst/>
                <a:latin typeface="Times New Roman" panose="02020603050405020304" pitchFamily="18" charset="0"/>
                <a:cs typeface="Times New Roman" panose="02020603050405020304" pitchFamily="18" charset="0"/>
              </a:rPr>
              <a:t>qq</a:t>
            </a:r>
            <a:r>
              <a:rPr lang="en-IN" sz="3200" b="0" i="0">
                <a:solidFill>
                  <a:srgbClr val="000000"/>
                </a:solidFill>
                <a:effectLst/>
                <a:latin typeface="Times New Roman" panose="02020603050405020304" pitchFamily="18" charset="0"/>
                <a:cs typeface="Times New Roman" panose="02020603050405020304" pitchFamily="18" charset="0"/>
              </a:rPr>
              <a:t> − </a:t>
            </a:r>
            <a:r>
              <a:rPr lang="en-IN" sz="3200" b="0" i="1">
                <a:solidFill>
                  <a:srgbClr val="000000"/>
                </a:solidFill>
                <a:effectLst/>
                <a:latin typeface="Times New Roman" panose="02020603050405020304" pitchFamily="18" charset="0"/>
                <a:cs typeface="Times New Roman" panose="02020603050405020304" pitchFamily="18" charset="0"/>
              </a:rPr>
              <a:t>q</a:t>
            </a:r>
            <a:r>
              <a:rPr lang="en-IN" sz="3200" b="0" i="0">
                <a:solidFill>
                  <a:srgbClr val="000000"/>
                </a:solidFill>
                <a:effectLst/>
                <a:latin typeface="Times New Roman" panose="02020603050405020304" pitchFamily="18" charset="0"/>
                <a:cs typeface="Times New Roman" panose="02020603050405020304" pitchFamily="18" charset="0"/>
              </a:rPr>
              <a:t>′  — (Proved Second Part)</a:t>
            </a:r>
          </a:p>
          <a:p>
            <a:pPr>
              <a:buNone/>
            </a:pPr>
            <a:br>
              <a:rPr lang="en-IN" sz="3200">
                <a:latin typeface="Times New Roman" panose="02020603050405020304" pitchFamily="18" charset="0"/>
                <a:cs typeface="Times New Roman" panose="02020603050405020304" pitchFamily="18" charset="0"/>
              </a:rPr>
            </a:br>
            <a:endParaRPr lang="en-IN" sz="3200">
              <a:latin typeface="Times New Roman" panose="02020603050405020304" pitchFamily="18" charset="0"/>
              <a:cs typeface="Times New Roman" panose="02020603050405020304" pitchFamily="18" charset="0"/>
            </a:endParaRPr>
          </a:p>
          <a:p>
            <a:pPr algn="l">
              <a:spcAft>
                <a:spcPts val="600"/>
              </a:spcAft>
              <a:buNone/>
            </a:pPr>
            <a:r>
              <a:rPr lang="en-IN" sz="3200" b="1" i="0">
                <a:solidFill>
                  <a:srgbClr val="000000"/>
                </a:solidFill>
                <a:effectLst/>
                <a:latin typeface="Times New Roman" panose="02020603050405020304" pitchFamily="18" charset="0"/>
                <a:cs typeface="Times New Roman" panose="02020603050405020304" pitchFamily="18" charset="0"/>
              </a:rPr>
              <a:t>Conclusion</a:t>
            </a:r>
          </a:p>
          <a:p>
            <a:pPr algn="l">
              <a:spcAft>
                <a:spcPts val="1500"/>
              </a:spcAft>
              <a:buNone/>
            </a:pPr>
            <a:r>
              <a:rPr lang="en-IN" sz="3200" b="0" i="0">
                <a:solidFill>
                  <a:srgbClr val="000000"/>
                </a:solidFill>
                <a:effectLst/>
                <a:latin typeface="Times New Roman" panose="02020603050405020304" pitchFamily="18" charset="0"/>
                <a:cs typeface="Times New Roman" panose="02020603050405020304" pitchFamily="18" charset="0"/>
              </a:rPr>
              <a:t>Therefore, the common root α is equal to either:</a:t>
            </a:r>
          </a:p>
          <a:p>
            <a:pPr algn="ctr">
              <a:spcAft>
                <a:spcPts val="1800"/>
              </a:spcAft>
              <a:buNone/>
            </a:pPr>
            <a:r>
              <a:rPr lang="en-IN" sz="3200" b="0" i="1" err="1">
                <a:solidFill>
                  <a:srgbClr val="000000"/>
                </a:solidFill>
                <a:effectLst/>
                <a:latin typeface="Times New Roman" panose="02020603050405020304" pitchFamily="18" charset="0"/>
                <a:cs typeface="Times New Roman" panose="02020603050405020304" pitchFamily="18" charset="0"/>
              </a:rPr>
              <a:t>pq</a:t>
            </a:r>
            <a:r>
              <a:rPr lang="en-IN" sz="3200" b="0" i="0">
                <a:solidFill>
                  <a:srgbClr val="000000"/>
                </a:solidFill>
                <a:effectLst/>
                <a:latin typeface="Times New Roman" panose="02020603050405020304" pitchFamily="18" charset="0"/>
                <a:cs typeface="Times New Roman" panose="02020603050405020304" pitchFamily="18" charset="0"/>
              </a:rPr>
              <a:t>′ − </a:t>
            </a:r>
            <a:r>
              <a:rPr lang="en-IN" sz="3200" b="0" i="1" err="1">
                <a:solidFill>
                  <a:srgbClr val="000000"/>
                </a:solidFill>
                <a:effectLst/>
                <a:latin typeface="Times New Roman" panose="02020603050405020304" pitchFamily="18" charset="0"/>
                <a:cs typeface="Times New Roman" panose="02020603050405020304" pitchFamily="18" charset="0"/>
              </a:rPr>
              <a:t>p</a:t>
            </a:r>
            <a:r>
              <a:rPr lang="en-IN" sz="3200" b="0" i="0" err="1">
                <a:solidFill>
                  <a:srgbClr val="000000"/>
                </a:solidFill>
                <a:effectLst/>
                <a:latin typeface="Times New Roman" panose="02020603050405020304" pitchFamily="18" charset="0"/>
                <a:cs typeface="Times New Roman" panose="02020603050405020304" pitchFamily="18" charset="0"/>
              </a:rPr>
              <a:t>′</a:t>
            </a:r>
            <a:r>
              <a:rPr lang="en-IN" sz="3200" b="0" i="1" err="1">
                <a:solidFill>
                  <a:srgbClr val="000000"/>
                </a:solidFill>
                <a:effectLst/>
                <a:latin typeface="Times New Roman" panose="02020603050405020304" pitchFamily="18" charset="0"/>
                <a:cs typeface="Times New Roman" panose="02020603050405020304" pitchFamily="18" charset="0"/>
              </a:rPr>
              <a:t>qq</a:t>
            </a:r>
            <a:r>
              <a:rPr lang="en-IN" sz="3200" b="0" i="0">
                <a:solidFill>
                  <a:srgbClr val="000000"/>
                </a:solidFill>
                <a:effectLst/>
                <a:latin typeface="Times New Roman" panose="02020603050405020304" pitchFamily="18" charset="0"/>
                <a:cs typeface="Times New Roman" panose="02020603050405020304" pitchFamily="18" charset="0"/>
              </a:rPr>
              <a:t> − </a:t>
            </a:r>
            <a:r>
              <a:rPr lang="en-IN" sz="3200" b="0" i="1">
                <a:solidFill>
                  <a:srgbClr val="000000"/>
                </a:solidFill>
                <a:effectLst/>
                <a:latin typeface="Times New Roman" panose="02020603050405020304" pitchFamily="18" charset="0"/>
                <a:cs typeface="Times New Roman" panose="02020603050405020304" pitchFamily="18" charset="0"/>
              </a:rPr>
              <a:t>q</a:t>
            </a:r>
            <a:r>
              <a:rPr lang="en-IN" sz="3200" b="0" i="0">
                <a:solidFill>
                  <a:srgbClr val="000000"/>
                </a:solidFill>
                <a:effectLst/>
                <a:latin typeface="Times New Roman" panose="02020603050405020304" pitchFamily="18" charset="0"/>
                <a:cs typeface="Times New Roman" panose="02020603050405020304" pitchFamily="18" charset="0"/>
              </a:rPr>
              <a:t>′   or   </a:t>
            </a:r>
            <a:r>
              <a:rPr lang="en-IN" sz="3200" b="0" i="1">
                <a:solidFill>
                  <a:srgbClr val="000000"/>
                </a:solidFill>
                <a:effectLst/>
                <a:latin typeface="Times New Roman" panose="02020603050405020304" pitchFamily="18" charset="0"/>
                <a:cs typeface="Times New Roman" panose="02020603050405020304" pitchFamily="18" charset="0"/>
              </a:rPr>
              <a:t>q</a:t>
            </a:r>
            <a:r>
              <a:rPr lang="en-IN" sz="3200" b="0" i="0">
                <a:solidFill>
                  <a:srgbClr val="000000"/>
                </a:solidFill>
                <a:effectLst/>
                <a:latin typeface="Times New Roman" panose="02020603050405020304" pitchFamily="18" charset="0"/>
                <a:cs typeface="Times New Roman" panose="02020603050405020304" pitchFamily="18" charset="0"/>
              </a:rPr>
              <a:t> − </a:t>
            </a:r>
            <a:r>
              <a:rPr lang="en-IN" sz="3200" b="0" i="1" err="1">
                <a:solidFill>
                  <a:srgbClr val="000000"/>
                </a:solidFill>
                <a:effectLst/>
                <a:latin typeface="Times New Roman" panose="02020603050405020304" pitchFamily="18" charset="0"/>
                <a:cs typeface="Times New Roman" panose="02020603050405020304" pitchFamily="18" charset="0"/>
              </a:rPr>
              <a:t>q</a:t>
            </a:r>
            <a:r>
              <a:rPr lang="en-IN" sz="3200" b="0" i="0" err="1">
                <a:solidFill>
                  <a:srgbClr val="000000"/>
                </a:solidFill>
                <a:effectLst/>
                <a:latin typeface="Times New Roman" panose="02020603050405020304" pitchFamily="18" charset="0"/>
                <a:cs typeface="Times New Roman" panose="02020603050405020304" pitchFamily="18" charset="0"/>
              </a:rPr>
              <a:t>′</a:t>
            </a:r>
            <a:r>
              <a:rPr lang="en-IN" sz="3200" b="0" i="1" err="1">
                <a:solidFill>
                  <a:srgbClr val="000000"/>
                </a:solidFill>
                <a:effectLst/>
                <a:latin typeface="Times New Roman" panose="02020603050405020304" pitchFamily="18" charset="0"/>
                <a:cs typeface="Times New Roman" panose="02020603050405020304" pitchFamily="18" charset="0"/>
              </a:rPr>
              <a:t>p</a:t>
            </a:r>
            <a:r>
              <a:rPr lang="en-IN" sz="3200" b="0" i="0">
                <a:solidFill>
                  <a:srgbClr val="000000"/>
                </a:solidFill>
                <a:effectLst/>
                <a:latin typeface="Times New Roman" panose="02020603050405020304" pitchFamily="18" charset="0"/>
                <a:cs typeface="Times New Roman" panose="02020603050405020304" pitchFamily="18" charset="0"/>
              </a:rPr>
              <a:t>′ − </a:t>
            </a:r>
            <a:r>
              <a:rPr lang="en-IN" sz="3200" b="0" i="1">
                <a:solidFill>
                  <a:srgbClr val="000000"/>
                </a:solidFill>
                <a:effectLst/>
                <a:latin typeface="Times New Roman" panose="02020603050405020304" pitchFamily="18" charset="0"/>
                <a:cs typeface="Times New Roman" panose="02020603050405020304" pitchFamily="18" charset="0"/>
              </a:rPr>
              <a:t>p</a:t>
            </a:r>
          </a:p>
          <a:p>
            <a:pPr algn="ctr">
              <a:spcAft>
                <a:spcPts val="1800"/>
              </a:spcAft>
              <a:buNone/>
            </a:pPr>
            <a:endParaRPr lang="en-IN" sz="3200" b="0" i="0">
              <a:solidFill>
                <a:srgbClr val="000000"/>
              </a:solidFill>
              <a:effectLst/>
              <a:latin typeface="Times New Roman" panose="02020603050405020304" pitchFamily="18" charset="0"/>
              <a:cs typeface="Times New Roman" panose="02020603050405020304" pitchFamily="18" charset="0"/>
            </a:endParaRPr>
          </a:p>
          <a:p>
            <a:pPr algn="l">
              <a:buNone/>
            </a:pPr>
            <a:r>
              <a:rPr lang="en-IN" sz="3200" b="1" i="1">
                <a:solidFill>
                  <a:srgbClr val="000000"/>
                </a:solidFill>
                <a:effectLst/>
                <a:latin typeface="Times New Roman" panose="02020603050405020304" pitchFamily="18" charset="0"/>
                <a:cs typeface="Times New Roman" panose="02020603050405020304" pitchFamily="18" charset="0"/>
              </a:rPr>
              <a:t>                                                               Hence Proved</a:t>
            </a:r>
          </a:p>
        </p:txBody>
      </p:sp>
    </p:spTree>
    <p:extLst>
      <p:ext uri="{BB962C8B-B14F-4D97-AF65-F5344CB8AC3E}">
        <p14:creationId xmlns:p14="http://schemas.microsoft.com/office/powerpoint/2010/main" val="30198717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285368CD-C033-211E-0493-7B23BC8C929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9231BF1-546E-F672-2486-4FE156474106}"/>
              </a:ext>
            </a:extLst>
          </p:cNvPr>
          <p:cNvSpPr txBox="1"/>
          <p:nvPr/>
        </p:nvSpPr>
        <p:spPr>
          <a:xfrm>
            <a:off x="304800" y="190500"/>
            <a:ext cx="17983200" cy="7971413"/>
          </a:xfrm>
          <a:prstGeom prst="rect">
            <a:avLst/>
          </a:prstGeom>
          <a:noFill/>
        </p:spPr>
        <p:txBody>
          <a:bodyPr wrap="square">
            <a:spAutoFit/>
          </a:bodyPr>
          <a:lstStyle/>
          <a:p>
            <a:pPr algn="l">
              <a:buNone/>
            </a:pPr>
            <a:r>
              <a:rPr lang="en-IN" sz="3200">
                <a:solidFill>
                  <a:srgbClr val="000000"/>
                </a:solidFill>
                <a:latin typeface="Times New Roman" panose="02020603050405020304" pitchFamily="18" charset="0"/>
              </a:rPr>
              <a:t>10.</a:t>
            </a:r>
            <a:r>
              <a:rPr lang="en-IN" sz="3200" b="0" i="0">
                <a:solidFill>
                  <a:srgbClr val="000000"/>
                </a:solidFill>
                <a:effectLst/>
                <a:latin typeface="Times New Roman" panose="02020603050405020304" pitchFamily="18" charset="0"/>
              </a:rPr>
              <a:t>A 12 m tall tree was broken into two parts. It was found that the height of the part which was left standing was the cube root of the length of the part that was cut away. Formulate this into a mathematical problem to find the height of the part which was left standing.</a:t>
            </a:r>
          </a:p>
          <a:p>
            <a:pPr algn="l">
              <a:buNone/>
            </a:pPr>
            <a:endParaRPr lang="en-IN" sz="3200" b="0" i="0">
              <a:solidFill>
                <a:srgbClr val="000000"/>
              </a:solidFill>
              <a:effectLst/>
              <a:latin typeface="Times New Roman" panose="02020603050405020304" pitchFamily="18" charset="0"/>
            </a:endParaRPr>
          </a:p>
          <a:p>
            <a:pPr algn="l">
              <a:buNone/>
            </a:pPr>
            <a:r>
              <a:rPr lang="en-IN" sz="3200" b="1" i="0">
                <a:solidFill>
                  <a:srgbClr val="000000"/>
                </a:solidFill>
                <a:effectLst/>
                <a:latin typeface="Times New Roman" panose="02020603050405020304" pitchFamily="18" charset="0"/>
              </a:rPr>
              <a:t>Step 1: </a:t>
            </a:r>
            <a:r>
              <a:rPr lang="en-IN" sz="3200" b="0" i="0">
                <a:solidFill>
                  <a:srgbClr val="000000"/>
                </a:solidFill>
                <a:effectLst/>
                <a:latin typeface="Times New Roman" panose="02020603050405020304" pitchFamily="18" charset="0"/>
              </a:rPr>
              <a:t>Define the variables</a:t>
            </a:r>
          </a:p>
          <a:p>
            <a:pPr algn="l">
              <a:buNone/>
            </a:pPr>
            <a:r>
              <a:rPr lang="en-IN" sz="3200" b="0" i="1">
                <a:solidFill>
                  <a:srgbClr val="000000"/>
                </a:solidFill>
                <a:effectLst/>
                <a:latin typeface="Times New Roman" panose="02020603050405020304" pitchFamily="18" charset="0"/>
              </a:rPr>
              <a:t>○   Total height of the tree = 12 m</a:t>
            </a:r>
          </a:p>
          <a:p>
            <a:pPr algn="l">
              <a:buNone/>
            </a:pPr>
            <a:r>
              <a:rPr lang="en-IN" sz="3200" b="0" i="1">
                <a:solidFill>
                  <a:srgbClr val="000000"/>
                </a:solidFill>
                <a:effectLst/>
                <a:latin typeface="Times New Roman" panose="02020603050405020304" pitchFamily="18" charset="0"/>
              </a:rPr>
              <a:t>○   Let the height of the part left standing = x</a:t>
            </a:r>
          </a:p>
          <a:p>
            <a:pPr algn="l">
              <a:buNone/>
            </a:pPr>
            <a:r>
              <a:rPr lang="en-IN" sz="3200" b="0" i="1">
                <a:solidFill>
                  <a:srgbClr val="000000"/>
                </a:solidFill>
                <a:effectLst/>
                <a:latin typeface="Times New Roman" panose="02020603050405020304" pitchFamily="18" charset="0"/>
              </a:rPr>
              <a:t>○   Then, the length of the part cut away = 12 − x</a:t>
            </a:r>
          </a:p>
          <a:p>
            <a:pPr algn="l">
              <a:buNone/>
            </a:pPr>
            <a:endParaRPr lang="en-IN" sz="3200" b="0" i="1">
              <a:solidFill>
                <a:srgbClr val="000000"/>
              </a:solidFill>
              <a:effectLst/>
              <a:latin typeface="Times New Roman" panose="02020603050405020304" pitchFamily="18" charset="0"/>
            </a:endParaRPr>
          </a:p>
          <a:p>
            <a:pPr algn="l">
              <a:buNone/>
            </a:pPr>
            <a:r>
              <a:rPr lang="en-IN" sz="3200" b="1" i="0">
                <a:solidFill>
                  <a:srgbClr val="000000"/>
                </a:solidFill>
                <a:effectLst/>
                <a:latin typeface="Times New Roman" panose="02020603050405020304" pitchFamily="18" charset="0"/>
              </a:rPr>
              <a:t>Step 2: </a:t>
            </a:r>
            <a:r>
              <a:rPr lang="en-IN" sz="3200" b="0" i="0">
                <a:solidFill>
                  <a:srgbClr val="000000"/>
                </a:solidFill>
                <a:effectLst/>
                <a:latin typeface="Times New Roman" panose="02020603050405020304" pitchFamily="18" charset="0"/>
              </a:rPr>
              <a:t>Set up the equation based on the given condition</a:t>
            </a:r>
          </a:p>
          <a:p>
            <a:pPr algn="l">
              <a:buNone/>
            </a:pPr>
            <a:r>
              <a:rPr lang="en-IN" sz="3200" b="0" i="0">
                <a:solidFill>
                  <a:srgbClr val="000000"/>
                </a:solidFill>
                <a:effectLst/>
                <a:latin typeface="Times New Roman" panose="02020603050405020304" pitchFamily="18" charset="0"/>
              </a:rPr>
              <a:t>The height of the standing part (x) is equal to the cube root of the cut-away part (12 − x):</a:t>
            </a:r>
          </a:p>
          <a:p>
            <a:pPr algn="ctr">
              <a:buNone/>
            </a:pPr>
            <a:r>
              <a:rPr lang="en-IN" sz="3200" b="0" i="1">
                <a:solidFill>
                  <a:srgbClr val="000000"/>
                </a:solidFill>
                <a:effectLst/>
                <a:latin typeface="Times New Roman" panose="02020603050405020304" pitchFamily="18" charset="0"/>
              </a:rPr>
              <a:t>x = ∛(12 − x)</a:t>
            </a:r>
          </a:p>
          <a:p>
            <a:pPr algn="ctr">
              <a:buNone/>
            </a:pPr>
            <a:endParaRPr lang="en-IN" sz="3200" b="0" i="1">
              <a:solidFill>
                <a:srgbClr val="000000"/>
              </a:solidFill>
              <a:effectLst/>
              <a:latin typeface="Times New Roman" panose="02020603050405020304" pitchFamily="18" charset="0"/>
            </a:endParaRPr>
          </a:p>
          <a:p>
            <a:pPr algn="l">
              <a:buNone/>
            </a:pPr>
            <a:r>
              <a:rPr lang="en-IN" sz="3200" b="1" i="0">
                <a:solidFill>
                  <a:srgbClr val="000000"/>
                </a:solidFill>
                <a:effectLst/>
                <a:latin typeface="Times New Roman" panose="02020603050405020304" pitchFamily="18" charset="0"/>
              </a:rPr>
              <a:t>Step 3:</a:t>
            </a:r>
            <a:r>
              <a:rPr lang="en-IN" sz="3200" b="0" i="0">
                <a:solidFill>
                  <a:srgbClr val="000000"/>
                </a:solidFill>
                <a:effectLst/>
                <a:latin typeface="Times New Roman" panose="02020603050405020304" pitchFamily="18" charset="0"/>
              </a:rPr>
              <a:t> Eliminate the radical by cubing both sides</a:t>
            </a:r>
          </a:p>
          <a:p>
            <a:pPr algn="ctr">
              <a:buNone/>
            </a:pPr>
            <a:r>
              <a:rPr lang="en-IN" sz="3200" b="0" i="1">
                <a:solidFill>
                  <a:srgbClr val="000000"/>
                </a:solidFill>
                <a:effectLst/>
                <a:latin typeface="Times New Roman" panose="02020603050405020304" pitchFamily="18" charset="0"/>
              </a:rPr>
              <a:t>x³ = (∛(12 − x))³</a:t>
            </a:r>
          </a:p>
          <a:p>
            <a:pPr algn="ctr">
              <a:buNone/>
            </a:pPr>
            <a:r>
              <a:rPr lang="en-IN" sz="3200" b="0" i="1">
                <a:solidFill>
                  <a:srgbClr val="000000"/>
                </a:solidFill>
                <a:effectLst/>
                <a:latin typeface="Times New Roman" panose="02020603050405020304" pitchFamily="18" charset="0"/>
              </a:rPr>
              <a:t>x³ = 12 − x</a:t>
            </a:r>
          </a:p>
        </p:txBody>
      </p:sp>
    </p:spTree>
    <p:extLst>
      <p:ext uri="{BB962C8B-B14F-4D97-AF65-F5344CB8AC3E}">
        <p14:creationId xmlns:p14="http://schemas.microsoft.com/office/powerpoint/2010/main" val="220058005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6E7658"/>
        </a:solidFill>
        <a:effectLst/>
      </p:bgPr>
    </p:bg>
    <p:spTree>
      <p:nvGrpSpPr>
        <p:cNvPr id="1" name="">
          <a:extLst>
            <a:ext uri="{FF2B5EF4-FFF2-40B4-BE49-F238E27FC236}">
              <a16:creationId xmlns:a16="http://schemas.microsoft.com/office/drawing/2014/main" id="{BF776DCD-26F6-952A-8296-ACE589E11C8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95CD14-DC4D-F255-A35D-DED62ABF962C}"/>
              </a:ext>
            </a:extLst>
          </p:cNvPr>
          <p:cNvSpPr txBox="1"/>
          <p:nvPr/>
        </p:nvSpPr>
        <p:spPr>
          <a:xfrm>
            <a:off x="838200" y="952500"/>
            <a:ext cx="16992600" cy="3539430"/>
          </a:xfrm>
          <a:prstGeom prst="rect">
            <a:avLst/>
          </a:prstGeom>
          <a:noFill/>
        </p:spPr>
        <p:txBody>
          <a:bodyPr wrap="square">
            <a:spAutoFit/>
          </a:bodyPr>
          <a:lstStyle/>
          <a:p>
            <a:pPr algn="l">
              <a:buNone/>
            </a:pPr>
            <a:r>
              <a:rPr lang="en-IN" sz="3200" b="1" i="0">
                <a:solidFill>
                  <a:srgbClr val="000000"/>
                </a:solidFill>
                <a:effectLst/>
                <a:latin typeface="Times New Roman" panose="02020603050405020304" pitchFamily="18" charset="0"/>
              </a:rPr>
              <a:t>Step 4: </a:t>
            </a:r>
            <a:r>
              <a:rPr lang="en-IN" sz="3200" b="0" i="0">
                <a:solidFill>
                  <a:srgbClr val="000000"/>
                </a:solidFill>
                <a:effectLst/>
                <a:latin typeface="Times New Roman" panose="02020603050405020304" pitchFamily="18" charset="0"/>
              </a:rPr>
              <a:t>Rearrange into standard polynomial form</a:t>
            </a:r>
          </a:p>
          <a:p>
            <a:pPr algn="l">
              <a:buNone/>
            </a:pPr>
            <a:r>
              <a:rPr lang="en-IN" sz="3200" b="0" i="0">
                <a:solidFill>
                  <a:srgbClr val="000000"/>
                </a:solidFill>
                <a:effectLst/>
                <a:latin typeface="Times New Roman" panose="02020603050405020304" pitchFamily="18" charset="0"/>
              </a:rPr>
              <a:t>Bring all terms to the left-hand side:</a:t>
            </a:r>
          </a:p>
          <a:p>
            <a:pPr algn="ctr">
              <a:buNone/>
            </a:pPr>
            <a:r>
              <a:rPr lang="en-IN" sz="3200" b="0" i="1">
                <a:solidFill>
                  <a:srgbClr val="000000"/>
                </a:solidFill>
                <a:effectLst/>
                <a:latin typeface="Times New Roman" panose="02020603050405020304" pitchFamily="18" charset="0"/>
              </a:rPr>
              <a:t>x³ + x − 12 = 0</a:t>
            </a:r>
          </a:p>
          <a:p>
            <a:pPr algn="l">
              <a:buNone/>
            </a:pPr>
            <a:r>
              <a:rPr lang="en-IN" sz="3200" b="1" i="0">
                <a:solidFill>
                  <a:srgbClr val="000000"/>
                </a:solidFill>
                <a:effectLst/>
                <a:latin typeface="Times New Roman" panose="02020603050405020304" pitchFamily="18" charset="0"/>
              </a:rPr>
              <a:t>Answer:</a:t>
            </a:r>
          </a:p>
          <a:p>
            <a:pPr algn="l">
              <a:buNone/>
            </a:pPr>
            <a:r>
              <a:rPr lang="en-IN" sz="3200" b="0" i="0">
                <a:solidFill>
                  <a:srgbClr val="000000"/>
                </a:solidFill>
                <a:effectLst/>
                <a:latin typeface="Times New Roman" panose="02020603050405020304" pitchFamily="18" charset="0"/>
              </a:rPr>
              <a:t>The required mathematical formulation is the cubic equation:</a:t>
            </a:r>
          </a:p>
          <a:p>
            <a:pPr algn="ctr">
              <a:buNone/>
            </a:pPr>
            <a:r>
              <a:rPr lang="en-IN" sz="3200" b="0" i="1">
                <a:solidFill>
                  <a:srgbClr val="000000"/>
                </a:solidFill>
                <a:effectLst/>
                <a:latin typeface="Times New Roman" panose="02020603050405020304" pitchFamily="18" charset="0"/>
              </a:rPr>
              <a:t>x³ + x − 12 = 0</a:t>
            </a:r>
          </a:p>
          <a:p>
            <a:pPr algn="l">
              <a:buNone/>
            </a:pPr>
            <a:r>
              <a:rPr lang="en-IN" sz="3200" b="0" i="1">
                <a:solidFill>
                  <a:srgbClr val="111111"/>
                </a:solidFill>
                <a:effectLst/>
                <a:latin typeface="Times New Roman" panose="02020603050405020304" pitchFamily="18" charset="0"/>
              </a:rPr>
              <a:t>(where x represents the height of the part left standing in meters)</a:t>
            </a:r>
          </a:p>
        </p:txBody>
      </p:sp>
    </p:spTree>
    <p:extLst>
      <p:ext uri="{BB962C8B-B14F-4D97-AF65-F5344CB8AC3E}">
        <p14:creationId xmlns:p14="http://schemas.microsoft.com/office/powerpoint/2010/main" val="23292319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24</Slides>
  <Notes>0</Notes>
  <HiddenSlides>0</HiddenSlides>
  <ScaleCrop>false</ScaleCrop>
  <HeadingPairs>
    <vt:vector size="4" baseType="variant">
      <vt:variant>
        <vt:lpstr>Theme</vt:lpstr>
      </vt:variant>
      <vt:variant>
        <vt:i4>1</vt:i4>
      </vt:variant>
      <vt:variant>
        <vt:lpstr>Slide Titles</vt:lpstr>
      </vt:variant>
      <vt:variant>
        <vt:i4>24</vt:i4>
      </vt:variant>
    </vt:vector>
  </HeadingPairs>
  <TitlesOfParts>
    <vt:vector size="25"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Simultaneous Equations Presentation</dc:title>
  <dc:creator>DIVYA V</dc:creator>
  <cp:lastModifiedBy>Nava shree</cp:lastModifiedBy>
  <cp:revision>1</cp:revision>
  <dcterms:created xsi:type="dcterms:W3CDTF">2006-08-16T00:00:00Z</dcterms:created>
  <dcterms:modified xsi:type="dcterms:W3CDTF">2026-06-14T06:14:03Z</dcterms:modified>
  <dc:identifier>DAHGig2iV78</dc:identifier>
</cp:coreProperties>
</file>